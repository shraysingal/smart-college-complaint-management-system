
<file path=[Content_Types].xml><?xml version="1.0" encoding="utf-8"?>
<Types xmlns="http://schemas.openxmlformats.org/package/2006/content-types">
  <Default Extension="xml" ContentType="application/vnd.openxmlformats-officedocument.presentationml.presentation.main+xml"/>
  <Default Extension="fntdata" ContentType="application/x-fontdata"/>
  <Default Extension="png" ContentType="image/png"/>
  <Default Extension="svg" ContentType="image/svg+xml"/>
  <Default Extension="rels" ContentType="application/vnd.openxmlformats-package.relationships+xml"/>
  <Override PartName="/ppt/notesMasters/notesMaster1.xml" ContentType="application/vnd.openxmlformats-officedocument.presentationml.notesMaster+xml"/>
  <Override PartName="/ppt/notesMasters/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&#65279;<?xml version="1.0" encoding="utf-8"?><Relationships xmlns="http://schemas.openxmlformats.org/package/2006/relationships"><Relationship Type="http://schemas.openxmlformats.org/officeDocument/2006/relationships/officeDocument" Target="/ppt/presentation.xml" Id="R0f6ee1e641984771" /><Relationship Type="http://schemas.openxmlformats.org/package/2006/relationships/metadata/core-properties" Target="/docProps/core.xml" Id="Rb169bbf108554e2c" /><Relationship Type="http://schemas.openxmlformats.org/officeDocument/2006/relationships/extended-properties" Target="/docProps/app.xml" Id="R1cdfa841a6ae41c7"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388aeecd3c7a495b"/>
  </p:sldMasterIdLst>
  <p:notesMasterIdLst>
    <p:notesMasterId r:id="R4aa1179cd67544f6"/>
  </p:notesMasterIdLst>
  <p:sldIdLst>
    <p:sldId id="256" r:id="R6dca2f570db24584"/>
    <p:sldId id="257" r:id="R3eeb6edfaf3e4b09"/>
    <p:sldId id="258" r:id="R5035f237eba44763"/>
    <p:sldId id="259" r:id="Rf1addbaae90a4210"/>
    <p:sldId id="260" r:id="R6d4ac9ac1d2e4ffb"/>
    <p:sldId id="261" r:id="Re3896a497ad049ce"/>
    <p:sldId id="262" r:id="R4c29e6e8221c4c30"/>
    <p:sldId id="263" r:id="Rcf665b1028784f59"/>
    <p:sldId id="264" r:id="Rfddf394405154ef8"/>
    <p:sldId id="265" r:id="R12eb9295e4ed4f4a"/>
    <p:sldId id="266" r:id="R33b16c51af444771"/>
    <p:sldId id="267" r:id="Rb31b764e69eb41f6"/>
    <p:sldId id="268" r:id="R744fbf78298a474d"/>
    <p:sldId id="269" r:id="Re80ff43195bb4d2b"/>
    <p:sldId id="270" r:id="R75a67339cb734925"/>
    <p:sldId id="271" r:id="Rbc0b6dfefa934243"/>
    <p:sldId id="272" r:id="R9345938da9bd494d"/>
    <p:sldId id="273" r:id="Rb8e8f3a8b4894095"/>
    <p:sldId id="274" r:id="Rd54fe85dcad543b3"/>
    <p:sldId id="275" r:id="R88a26a657afd46b7"/>
  </p:sldIdLst>
  <p:sldSz cx="14630400" cy="8229600"/>
  <p:notesSz cx="8229600" cy="14630400"/>
  <p:embeddedFontLst>
    <p:embeddedFont>
      <p:font typeface="Syne"/>
      <p:regular r:id="rcId7089647a096b41f7"/>
    </p:embeddedFont>
    <p:embeddedFont>
      <p:font typeface="Syne"/>
      <p:regular r:id="rcIdeb6955d05afd4df7"/>
    </p:embeddedFont>
    <p:embeddedFont>
      <p:font typeface="Overpass Light"/>
      <p:regular r:id="rcId9b2c9fc7f07d4e9c"/>
    </p:embeddedFont>
    <p:embeddedFont>
      <p:font typeface="Overpass Light"/>
      <p:regular r:id="rcIdebda70ee6e0347dd"/>
    </p:embeddedFont>
    <p:embeddedFont>
      <p:font typeface="Overpass Light"/>
      <p:regular r:id="rcIdab80e8d97dcc409b"/>
    </p:embeddedFont>
    <p:embeddedFont>
      <p:font typeface="Overpass Light"/>
      <p:regular r:id="rcId4166c1d26af94676"/>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font" Target="/ppt/fonts/font.fntdata" Id="rcId7089647a096b41f7" /><Relationship Type="http://schemas.openxmlformats.org/officeDocument/2006/relationships/font" Target="/ppt/fonts/font2.fntdata" Id="rcIdeb6955d05afd4df7" /><Relationship Type="http://schemas.openxmlformats.org/officeDocument/2006/relationships/font" Target="/ppt/fonts/font3.fntdata" Id="rcId9b2c9fc7f07d4e9c" /><Relationship Type="http://schemas.openxmlformats.org/officeDocument/2006/relationships/font" Target="/ppt/fonts/font4.fntdata" Id="rcIdebda70ee6e0347dd" /><Relationship Type="http://schemas.openxmlformats.org/officeDocument/2006/relationships/font" Target="/ppt/fonts/font5.fntdata" Id="rcIdab80e8d97dcc409b" /><Relationship Type="http://schemas.openxmlformats.org/officeDocument/2006/relationships/font" Target="/ppt/fonts/font6.fntdata" Id="rcId4166c1d26af94676" /><Relationship Type="http://schemas.openxmlformats.org/officeDocument/2006/relationships/notesMaster" Target="/ppt/notesMasters/notesMaster1.xml" Id="R4aa1179cd67544f6" /><Relationship Type="http://schemas.openxmlformats.org/officeDocument/2006/relationships/presProps" Target="/ppt/presProps.xml" Id="R17e5553e3c0b4f9e" /><Relationship Type="http://schemas.openxmlformats.org/officeDocument/2006/relationships/viewProps" Target="/ppt/viewProps.xml" Id="R18c460d00c364a0c" /><Relationship Type="http://schemas.openxmlformats.org/officeDocument/2006/relationships/slideMaster" Target="/ppt/slideMasters/slideMaster1.xml" Id="R388aeecd3c7a495b" /><Relationship Type="http://schemas.openxmlformats.org/officeDocument/2006/relationships/theme" Target="/ppt/slideMasters/theme/theme2.xml" Id="R2f299ca0133b49e9" /><Relationship Type="http://schemas.openxmlformats.org/officeDocument/2006/relationships/slide" Target="/ppt/slides/slide1.xml" Id="R6dca2f570db24584" /><Relationship Type="http://schemas.openxmlformats.org/officeDocument/2006/relationships/slide" Target="/ppt/slides/slide2.xml" Id="R3eeb6edfaf3e4b09" /><Relationship Type="http://schemas.openxmlformats.org/officeDocument/2006/relationships/slide" Target="/ppt/slides/slide3.xml" Id="R5035f237eba44763" /><Relationship Type="http://schemas.openxmlformats.org/officeDocument/2006/relationships/slide" Target="/ppt/slides/slide4.xml" Id="Rf1addbaae90a4210" /><Relationship Type="http://schemas.openxmlformats.org/officeDocument/2006/relationships/slide" Target="/ppt/slides/slide5.xml" Id="R6d4ac9ac1d2e4ffb" /><Relationship Type="http://schemas.openxmlformats.org/officeDocument/2006/relationships/slide" Target="/ppt/slides/slide6.xml" Id="Re3896a497ad049ce" /><Relationship Type="http://schemas.openxmlformats.org/officeDocument/2006/relationships/slide" Target="/ppt/slides/slide7.xml" Id="R4c29e6e8221c4c30" /><Relationship Type="http://schemas.openxmlformats.org/officeDocument/2006/relationships/slide" Target="/ppt/slides/slide8.xml" Id="Rcf665b1028784f59" /><Relationship Type="http://schemas.openxmlformats.org/officeDocument/2006/relationships/slide" Target="/ppt/slides/slide9.xml" Id="Rfddf394405154ef8" /><Relationship Type="http://schemas.openxmlformats.org/officeDocument/2006/relationships/slide" Target="/ppt/slides/slide10.xml" Id="R12eb9295e4ed4f4a" /><Relationship Type="http://schemas.openxmlformats.org/officeDocument/2006/relationships/slide" Target="/ppt/slides/slide11.xml" Id="R33b16c51af444771" /><Relationship Type="http://schemas.openxmlformats.org/officeDocument/2006/relationships/slide" Target="/ppt/slides/slide12.xml" Id="Rb31b764e69eb41f6" /><Relationship Type="http://schemas.openxmlformats.org/officeDocument/2006/relationships/slide" Target="/ppt/slides/slide13.xml" Id="R744fbf78298a474d" /><Relationship Type="http://schemas.openxmlformats.org/officeDocument/2006/relationships/slide" Target="/ppt/slides/slide14.xml" Id="Re80ff43195bb4d2b" /><Relationship Type="http://schemas.openxmlformats.org/officeDocument/2006/relationships/slide" Target="/ppt/slides/slide15.xml" Id="R75a67339cb734925" /><Relationship Type="http://schemas.openxmlformats.org/officeDocument/2006/relationships/slide" Target="/ppt/slides/slide16.xml" Id="Rbc0b6dfefa934243" /><Relationship Type="http://schemas.openxmlformats.org/officeDocument/2006/relationships/slide" Target="/ppt/slides/slide17.xml" Id="R9345938da9bd494d" /><Relationship Type="http://schemas.openxmlformats.org/officeDocument/2006/relationships/slide" Target="/ppt/slides/slide18.xml" Id="Rb8e8f3a8b4894095" /><Relationship Type="http://schemas.openxmlformats.org/officeDocument/2006/relationships/slide" Target="/ppt/slides/slide19.xml" Id="Rd54fe85dcad543b3" /><Relationship Type="http://schemas.openxmlformats.org/officeDocument/2006/relationships/slide" Target="/ppt/slides/slide20.xml" Id="R88a26a657afd46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1.xml" Id="R3400f7df64ea4286"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notesSlides/_rels/notesSlide1.xml.rels>&#65279;<?xml version="1.0" encoding="utf-8"?><Relationships xmlns="http://schemas.openxmlformats.org/package/2006/relationships"><Relationship Type="http://schemas.openxmlformats.org/officeDocument/2006/relationships/slide" Target="/ppt/slides/slide1.xml" Id="R60f34b0e295b4d6a" /><Relationship Type="http://schemas.openxmlformats.org/officeDocument/2006/relationships/notesMaster" Target="/ppt/notesMasters/notesMaster1.xml" Id="R4f59a8a74b894f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b45ffc48b443dd" /><Relationship Type="http://schemas.openxmlformats.org/officeDocument/2006/relationships/notesMaster" Target="/ppt/notesMasters/notesMaster1.xml" Id="R23d5ce6701714dab" /></Relationships>
</file>

<file path=ppt/notesSlides/_rels/notesSlide3.xml.rels>&#65279;<?xml version="1.0" encoding="utf-8"?><Relationships xmlns="http://schemas.openxmlformats.org/package/2006/relationships"><Relationship Type="http://schemas.openxmlformats.org/officeDocument/2006/relationships/slide" Target="/ppt/slides/slide3.xml" Id="R1e1cbbae38ce4628" /><Relationship Type="http://schemas.openxmlformats.org/officeDocument/2006/relationships/notesMaster" Target="/ppt/notesMasters/notesMaster1.xml" Id="Rd9058f8f240a49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9ce47a4ee194c77" /><Relationship Type="http://schemas.openxmlformats.org/officeDocument/2006/relationships/notesMaster" Target="/ppt/notesMasters/notesMaster1.xml" Id="R01ccac56642745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9f068df30d44bf8" /><Relationship Type="http://schemas.openxmlformats.org/officeDocument/2006/relationships/notesMaster" Target="/ppt/notesMasters/notesMaster1.xml" Id="R63a3a255897341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465cc76cffd4a25" /><Relationship Type="http://schemas.openxmlformats.org/officeDocument/2006/relationships/notesMaster" Target="/ppt/notesMasters/notesMaster1.xml" Id="R1a289da13181435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b4fdad512e24f92" /><Relationship Type="http://schemas.openxmlformats.org/officeDocument/2006/relationships/notesMaster" Target="/ppt/notesMasters/notesMaster1.xml" Id="Rac577103ba344861" /></Relationships>
</file>

<file path=ppt/notesSlides/_rels/notesSlide8.xml.rels>&#65279;<?xml version="1.0" encoding="utf-8"?><Relationships xmlns="http://schemas.openxmlformats.org/package/2006/relationships"><Relationship Type="http://schemas.openxmlformats.org/officeDocument/2006/relationships/slide" Target="/ppt/slides/slide8.xml" Id="Ra8efb69e11624021" /><Relationship Type="http://schemas.openxmlformats.org/officeDocument/2006/relationships/notesMaster" Target="/ppt/notesMasters/notesMaster1.xml" Id="Rf481381fb0024a48" /></Relationships>
</file>

<file path=ppt/notesSlides/_rels/notesSlide9.xml.rels>&#65279;<?xml version="1.0" encoding="utf-8"?><Relationships xmlns="http://schemas.openxmlformats.org/package/2006/relationships"><Relationship Type="http://schemas.openxmlformats.org/officeDocument/2006/relationships/slide" Target="/ppt/slides/slide9.xml" Id="R7473c62e1b6f4ab4" /><Relationship Type="http://schemas.openxmlformats.org/officeDocument/2006/relationships/notesMaster" Target="/ppt/notesMasters/notesMaster1.xml" Id="Rd3c24efa848b459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475c10e0d7e4913" /><Relationship Type="http://schemas.openxmlformats.org/officeDocument/2006/relationships/notesMaster" Target="/ppt/notesMasters/notesMaster1.xml" Id="R66fc9e931469483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cc45ad88b054114" /><Relationship Type="http://schemas.openxmlformats.org/officeDocument/2006/relationships/notesMaster" Target="/ppt/notesMasters/notesMaster1.xml" Id="R1202e36da46d4fe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a1a15bf6cfa4e71" /><Relationship Type="http://schemas.openxmlformats.org/officeDocument/2006/relationships/notesMaster" Target="/ppt/notesMasters/notesMaster1.xml" Id="R06f8389fbb2e43f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7a0d435ff1043b4" /><Relationship Type="http://schemas.openxmlformats.org/officeDocument/2006/relationships/notesMaster" Target="/ppt/notesMasters/notesMaster1.xml" Id="R72dc622e6e344a8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616c37af29a4d23" /><Relationship Type="http://schemas.openxmlformats.org/officeDocument/2006/relationships/notesMaster" Target="/ppt/notesMasters/notesMaster1.xml" Id="R98d396816c4343f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bcd6ee79bc14f5b" /><Relationship Type="http://schemas.openxmlformats.org/officeDocument/2006/relationships/notesMaster" Target="/ppt/notesMasters/notesMaster1.xml" Id="R5c386015a1bd430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cb2d90e67c2425d" /><Relationship Type="http://schemas.openxmlformats.org/officeDocument/2006/relationships/notesMaster" Target="/ppt/notesMasters/notesMaster1.xml" Id="Rc5594c579870449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9f94180214349d0" /><Relationship Type="http://schemas.openxmlformats.org/officeDocument/2006/relationships/notesMaster" Target="/ppt/notesMasters/notesMaster1.xml" Id="R2bf473c3df0145f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0e51274a3504f08" /><Relationship Type="http://schemas.openxmlformats.org/officeDocument/2006/relationships/notesMaster" Target="/ppt/notesMasters/notesMaster1.xml" Id="Rdfe3e87ad6f940f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41d2fcde7484b3f" /><Relationship Type="http://schemas.openxmlformats.org/officeDocument/2006/relationships/notesMaster" Target="/ppt/notesMasters/notesMaster1.xml" Id="R25540b28477b466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2ad4b1bb30d4028" /><Relationship Type="http://schemas.openxmlformats.org/officeDocument/2006/relationships/notesMaster" Target="/ppt/notesMasters/notesMaster1.xml" Id="Ra2a72bf9eb2242e2"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54c02393a84429f" /><Relationship Type="http://schemas.openxmlformats.org/officeDocument/2006/relationships/image" Target="/ppt/media/image.png" Id="Rb889efdda4b04395" /><Relationship Type="http://schemas.openxmlformats.org/officeDocument/2006/relationships/hyperlink" Target="https://gamma.app/?utm_source=made-with-gamma" TargetMode="External" Id="rcId2014e52eab8f45f4" /></Relationships>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cId2014e52eab8f45f4" tooltip=""/>
          </p:cNvPr>
          <p:cNvPicPr>
            <a:picLocks noChangeAspect="1"/>
          </p:cNvPicPr>
          <p:nvPr/>
        </p:nvPicPr>
        <p:blipFill>
          <a:blip r:embed="Rb889efdda4b04395"/>
          <a:stretch>
            <a:fillRect/>
          </a:stretch>
        </p:blipFill>
        <p:spPr>
          <a:xfrm>
            <a:off x="12839215" y="7749540"/>
            <a:ext cx="1722605" cy="411480"/>
          </a:xfrm>
          <a:prstGeom prst="rect">
            <a:avLst/>
          </a:prstGeom>
        </p:spPr>
      </p:pic>
    </p:spTree>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56e714673464546" /><Relationship Type="http://schemas.openxmlformats.org/officeDocument/2006/relationships/slideLayout" Target="/ppt/slideLayouts/slideLayout2.xml" Id="Ree583bf742a542de"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ee583bf742a542de"/>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slides/_rels/slide1.xml.rels>&#65279;<?xml version="1.0" encoding="utf-8"?><Relationships xmlns="http://schemas.openxmlformats.org/package/2006/relationships"><Relationship Type="http://schemas.openxmlformats.org/officeDocument/2006/relationships/image" Target="/ppt/media/image2.png" Id="R5186f3d26ce74f0a" /><Relationship Type="http://schemas.openxmlformats.org/officeDocument/2006/relationships/notesSlide" Target="/ppt/notesSlides/notesSlide1.xml" Id="R761b73b895fd4f03" /><Relationship Type="http://schemas.openxmlformats.org/officeDocument/2006/relationships/slideLayout" Target="/ppt/slideLayouts/slideLayout2.xml" Id="Rced6833eb1b44953" /></Relationships>
</file>

<file path=ppt/slides/_rels/slide2.xml.rels>&#65279;<?xml version="1.0" encoding="utf-8"?><Relationships xmlns="http://schemas.openxmlformats.org/package/2006/relationships"><Relationship Type="http://schemas.openxmlformats.org/officeDocument/2006/relationships/image" Target="/ppt/media/image3.png" Id="R6f78cec6957a4b71" /><Relationship Type="http://schemas.openxmlformats.org/officeDocument/2006/relationships/notesSlide" Target="/ppt/notesSlides/notesSlide2.xml" Id="R54c7545468b94abb" /><Relationship Type="http://schemas.openxmlformats.org/officeDocument/2006/relationships/slideLayout" Target="/ppt/slideLayouts/slideLayout2.xml" Id="R19d55a2eed9845e0" /></Relationships>
</file>

<file path=ppt/slides/_rels/slide3.xml.rels>&#65279;<?xml version="1.0" encoding="utf-8"?><Relationships xmlns="http://schemas.openxmlformats.org/package/2006/relationships"><Relationship Type="http://schemas.openxmlformats.org/officeDocument/2006/relationships/image" Target="/ppt/media/image4.png" Id="Rd769c47ece0d42b4" /><Relationship Type="http://schemas.openxmlformats.org/officeDocument/2006/relationships/image" Target="/ppt/media/image.svg" Id="R6e3de16e8e584643" /><Relationship Type="http://schemas.openxmlformats.org/officeDocument/2006/relationships/image" Target="/ppt/media/image2.svg" Id="R2184ddf1d7df4fb8" /><Relationship Type="http://schemas.openxmlformats.org/officeDocument/2006/relationships/image" Target="/ppt/media/image3.svg" Id="R795efd0e736f4183" /><Relationship Type="http://schemas.openxmlformats.org/officeDocument/2006/relationships/image" Target="/ppt/media/image4.svg" Id="R1c7cb7c025b64690" /><Relationship Type="http://schemas.openxmlformats.org/officeDocument/2006/relationships/notesSlide" Target="/ppt/notesSlides/notesSlide3.xml" Id="R6cbd0f7b86994f5e" /><Relationship Type="http://schemas.openxmlformats.org/officeDocument/2006/relationships/slideLayout" Target="/ppt/slideLayouts/slideLayout2.xml" Id="R76cb50a479d0408e" /></Relationships>
</file>

<file path=ppt/slides/_rels/slide4.xml.rels>&#65279;<?xml version="1.0" encoding="utf-8"?><Relationships xmlns="http://schemas.openxmlformats.org/package/2006/relationships"><Relationship Type="http://schemas.openxmlformats.org/officeDocument/2006/relationships/notesSlide" Target="/ppt/notesSlides/notesSlide4.xml" Id="R1093e4eb7d8741de" /><Relationship Type="http://schemas.openxmlformats.org/officeDocument/2006/relationships/slideLayout" Target="/ppt/slideLayouts/slideLayout2.xml" Id="R7f7e7fdb443e430e" /></Relationships>
</file>

<file path=ppt/slides/_rels/slide5.xml.rels>&#65279;<?xml version="1.0" encoding="utf-8"?><Relationships xmlns="http://schemas.openxmlformats.org/package/2006/relationships"><Relationship Type="http://schemas.openxmlformats.org/officeDocument/2006/relationships/notesSlide" Target="/ppt/notesSlides/notesSlide5.xml" Id="R138c8b716d284aa8" /><Relationship Type="http://schemas.openxmlformats.org/officeDocument/2006/relationships/slideLayout" Target="/ppt/slideLayouts/slideLayout2.xml" Id="R554f78ba83514c01" /></Relationships>
</file>

<file path=ppt/slides/_rels/slide6.xml.rels>&#65279;<?xml version="1.0" encoding="utf-8"?><Relationships xmlns="http://schemas.openxmlformats.org/package/2006/relationships"><Relationship Type="http://schemas.openxmlformats.org/officeDocument/2006/relationships/image" Target="/ppt/media/image5.png" Id="Rfce659d28f034dce" /><Relationship Type="http://schemas.openxmlformats.org/officeDocument/2006/relationships/notesSlide" Target="/ppt/notesSlides/notesSlide6.xml" Id="R4346b17034934d52" /><Relationship Type="http://schemas.openxmlformats.org/officeDocument/2006/relationships/slideLayout" Target="/ppt/slideLayouts/slideLayout2.xml" Id="Rb48a76fc3d294b42" /></Relationships>
</file>

<file path=ppt/slides/_rels/slide7.xml.rels>&#65279;<?xml version="1.0" encoding="utf-8"?><Relationships xmlns="http://schemas.openxmlformats.org/package/2006/relationships"><Relationship Type="http://schemas.openxmlformats.org/officeDocument/2006/relationships/image" Target="/ppt/media/image4.png" Id="R8b55c880e2f94127" /><Relationship Type="http://schemas.openxmlformats.org/officeDocument/2006/relationships/image" Target="/ppt/media/image5.svg" Id="R0854116e8f9d4e4c" /><Relationship Type="http://schemas.openxmlformats.org/officeDocument/2006/relationships/image" Target="/ppt/media/image6.svg" Id="R239ebf5b936e4314" /><Relationship Type="http://schemas.openxmlformats.org/officeDocument/2006/relationships/image" Target="/ppt/media/image7.svg" Id="Re76f9ef37e054715" /><Relationship Type="http://schemas.openxmlformats.org/officeDocument/2006/relationships/image" Target="/ppt/media/image8.svg" Id="R9f1ba55ddb174e33" /><Relationship Type="http://schemas.openxmlformats.org/officeDocument/2006/relationships/notesSlide" Target="/ppt/notesSlides/notesSlide7.xml" Id="R8edef476d1b049bb" /><Relationship Type="http://schemas.openxmlformats.org/officeDocument/2006/relationships/slideLayout" Target="/ppt/slideLayouts/slideLayout2.xml" Id="R109717dbc99b479c" /></Relationships>
</file>

<file path=ppt/slides/_rels/slide8.xml.rels>&#65279;<?xml version="1.0" encoding="utf-8"?><Relationships xmlns="http://schemas.openxmlformats.org/package/2006/relationships"><Relationship Type="http://schemas.openxmlformats.org/officeDocument/2006/relationships/notesSlide" Target="/ppt/notesSlides/notesSlide8.xml" Id="R56e649332812472c" /><Relationship Type="http://schemas.openxmlformats.org/officeDocument/2006/relationships/slideLayout" Target="/ppt/slideLayouts/slideLayout2.xml" Id="R59677afc32fa4cd9" /></Relationships>
</file>

<file path=ppt/slides/_rels/slide9.xml.rels>&#65279;<?xml version="1.0" encoding="utf-8"?><Relationships xmlns="http://schemas.openxmlformats.org/package/2006/relationships"><Relationship Type="http://schemas.openxmlformats.org/officeDocument/2006/relationships/image" Target="/ppt/media/image6.png" Id="R3f2fe52af7e44f47" /><Relationship Type="http://schemas.openxmlformats.org/officeDocument/2006/relationships/notesSlide" Target="/ppt/notesSlides/notesSlide9.xml" Id="R924ead9f3eea43bc" /><Relationship Type="http://schemas.openxmlformats.org/officeDocument/2006/relationships/slideLayout" Target="/ppt/slideLayouts/slideLayout2.xml" Id="R7d4cc6098b384e34" /></Relationships>
</file>

<file path=ppt/slides/_rels/slide10.xml.rels>&#65279;<?xml version="1.0" encoding="utf-8"?><Relationships xmlns="http://schemas.openxmlformats.org/package/2006/relationships"><Relationship Type="http://schemas.openxmlformats.org/officeDocument/2006/relationships/image" Target="/ppt/media/image7.png" Id="R1a491fc18c43421a" /><Relationship Type="http://schemas.openxmlformats.org/officeDocument/2006/relationships/image" Target="/ppt/media/image8.png" Id="Rfbbe808f644344ac" /><Relationship Type="http://schemas.openxmlformats.org/officeDocument/2006/relationships/image" Target="/ppt/media/image9.png" Id="R00fe6cf15a044d8e" /><Relationship Type="http://schemas.openxmlformats.org/officeDocument/2006/relationships/image" Target="/ppt/media/image10.png" Id="R3f656d4f01824632" /><Relationship Type="http://schemas.openxmlformats.org/officeDocument/2006/relationships/notesSlide" Target="/ppt/notesSlides/notesSlide10.xml" Id="Ra46e60e39c2b4fea" /><Relationship Type="http://schemas.openxmlformats.org/officeDocument/2006/relationships/slideLayout" Target="/ppt/slideLayouts/slideLayout2.xml" Id="R97aa9e47af4a4336" /></Relationships>
</file>

<file path=ppt/slides/_rels/slide11.xml.rels>&#65279;<?xml version="1.0" encoding="utf-8"?><Relationships xmlns="http://schemas.openxmlformats.org/package/2006/relationships"><Relationship Type="http://schemas.openxmlformats.org/officeDocument/2006/relationships/image" Target="/ppt/media/image11.png" Id="R3902067ea3d84455" /><Relationship Type="http://schemas.openxmlformats.org/officeDocument/2006/relationships/notesSlide" Target="/ppt/notesSlides/notesSlide11.xml" Id="Rfd106301eb5147e6" /><Relationship Type="http://schemas.openxmlformats.org/officeDocument/2006/relationships/slideLayout" Target="/ppt/slideLayouts/slideLayout2.xml" Id="R952ee07f883c4df8" /></Relationships>
</file>

<file path=ppt/slides/_rels/slide12.xml.rels>&#65279;<?xml version="1.0" encoding="utf-8"?><Relationships xmlns="http://schemas.openxmlformats.org/package/2006/relationships"><Relationship Type="http://schemas.openxmlformats.org/officeDocument/2006/relationships/image" Target="/ppt/media/image4.png" Id="R6468e556feb445cd" /><Relationship Type="http://schemas.openxmlformats.org/officeDocument/2006/relationships/image" Target="/ppt/media/image9.svg" Id="R56e6fcbc46094c10" /><Relationship Type="http://schemas.openxmlformats.org/officeDocument/2006/relationships/image" Target="/ppt/media/image10.svg" Id="R983ca080d5794a26" /><Relationship Type="http://schemas.openxmlformats.org/officeDocument/2006/relationships/image" Target="/ppt/media/image11.svg" Id="R938c554b59294587" /><Relationship Type="http://schemas.openxmlformats.org/officeDocument/2006/relationships/image" Target="/ppt/media/image12.svg" Id="Ra9863bbc69814f58" /><Relationship Type="http://schemas.openxmlformats.org/officeDocument/2006/relationships/notesSlide" Target="/ppt/notesSlides/notesSlide12.xml" Id="Rde55ed3774294a90" /><Relationship Type="http://schemas.openxmlformats.org/officeDocument/2006/relationships/slideLayout" Target="/ppt/slideLayouts/slideLayout2.xml" Id="Rd999665bdb074788" /></Relationships>
</file>

<file path=ppt/slides/_rels/slide13.xml.rels>&#65279;<?xml version="1.0" encoding="utf-8"?><Relationships xmlns="http://schemas.openxmlformats.org/package/2006/relationships"><Relationship Type="http://schemas.openxmlformats.org/officeDocument/2006/relationships/image" Target="/ppt/media/image12.png" Id="Rbff37d0ad33f4fe8" /><Relationship Type="http://schemas.openxmlformats.org/officeDocument/2006/relationships/image" Target="/ppt/media/image13.png" Id="R03043853654c4dd5" /><Relationship Type="http://schemas.openxmlformats.org/officeDocument/2006/relationships/image" Target="/ppt/media/image14.png" Id="R9513ace4323c4903" /><Relationship Type="http://schemas.openxmlformats.org/officeDocument/2006/relationships/image" Target="/ppt/media/image15.png" Id="R83f4a8b62d6a4a5b" /><Relationship Type="http://schemas.openxmlformats.org/officeDocument/2006/relationships/image" Target="/ppt/media/image16.png" Id="R9883ecd997f74ee2" /><Relationship Type="http://schemas.openxmlformats.org/officeDocument/2006/relationships/notesSlide" Target="/ppt/notesSlides/notesSlide13.xml" Id="Rfd8ca0d3926d459d" /><Relationship Type="http://schemas.openxmlformats.org/officeDocument/2006/relationships/slideLayout" Target="/ppt/slideLayouts/slideLayout2.xml" Id="R1954591bff82415e" /></Relationships>
</file>

<file path=ppt/slides/_rels/slide14.xml.rels>&#65279;<?xml version="1.0" encoding="utf-8"?><Relationships xmlns="http://schemas.openxmlformats.org/package/2006/relationships"><Relationship Type="http://schemas.openxmlformats.org/officeDocument/2006/relationships/image" Target="/ppt/media/image17.png" Id="R43a9643b43714bdb" /><Relationship Type="http://schemas.openxmlformats.org/officeDocument/2006/relationships/image" Target="/ppt/media/image4.png" Id="R251a1ebe003a4d7d" /><Relationship Type="http://schemas.openxmlformats.org/officeDocument/2006/relationships/image" Target="/ppt/media/image13.svg" Id="R1665fcf8fcd74616" /><Relationship Type="http://schemas.openxmlformats.org/officeDocument/2006/relationships/image" Target="/ppt/media/image14.svg" Id="R5ac2bca701634585" /><Relationship Type="http://schemas.openxmlformats.org/officeDocument/2006/relationships/image" Target="/ppt/media/image15.svg" Id="Rd9b68ff39da8469f" /><Relationship Type="http://schemas.openxmlformats.org/officeDocument/2006/relationships/image" Target="/ppt/media/image16.svg" Id="Rc63e3dfb9dd9422d" /><Relationship Type="http://schemas.openxmlformats.org/officeDocument/2006/relationships/notesSlide" Target="/ppt/notesSlides/notesSlide14.xml" Id="R332bea4c25ac4d21" /><Relationship Type="http://schemas.openxmlformats.org/officeDocument/2006/relationships/slideLayout" Target="/ppt/slideLayouts/slideLayout2.xml" Id="R774542725a3748e2" /></Relationships>
</file>

<file path=ppt/slides/_rels/slide15.xml.rels>&#65279;<?xml version="1.0" encoding="utf-8"?><Relationships xmlns="http://schemas.openxmlformats.org/package/2006/relationships"><Relationship Type="http://schemas.openxmlformats.org/officeDocument/2006/relationships/notesSlide" Target="/ppt/notesSlides/notesSlide15.xml" Id="Rc0a6677058e044a9" /><Relationship Type="http://schemas.openxmlformats.org/officeDocument/2006/relationships/slideLayout" Target="/ppt/slideLayouts/slideLayout2.xml" Id="Rdd99981c159c4048" /></Relationships>
</file>

<file path=ppt/slides/_rels/slide16.xml.rels>&#65279;<?xml version="1.0" encoding="utf-8"?><Relationships xmlns="http://schemas.openxmlformats.org/package/2006/relationships"><Relationship Type="http://schemas.openxmlformats.org/officeDocument/2006/relationships/image" Target="/ppt/media/image18.png" Id="R007250fb2f794e40" /><Relationship Type="http://schemas.openxmlformats.org/officeDocument/2006/relationships/notesSlide" Target="/ppt/notesSlides/notesSlide16.xml" Id="R56ec2f2fa30e4c90" /><Relationship Type="http://schemas.openxmlformats.org/officeDocument/2006/relationships/slideLayout" Target="/ppt/slideLayouts/slideLayout2.xml" Id="R5db7a0056cf54647" /></Relationships>
</file>

<file path=ppt/slides/_rels/slide17.xml.rels>&#65279;<?xml version="1.0" encoding="utf-8"?><Relationships xmlns="http://schemas.openxmlformats.org/package/2006/relationships"><Relationship Type="http://schemas.openxmlformats.org/officeDocument/2006/relationships/image" Target="/ppt/media/image19.png" Id="R4c4e29db89cd4a46" /><Relationship Type="http://schemas.openxmlformats.org/officeDocument/2006/relationships/notesSlide" Target="/ppt/notesSlides/notesSlide17.xml" Id="Rea43322c815245f6" /><Relationship Type="http://schemas.openxmlformats.org/officeDocument/2006/relationships/slideLayout" Target="/ppt/slideLayouts/slideLayout2.xml" Id="R7632b3ae20964dbf" /></Relationships>
</file>

<file path=ppt/slides/_rels/slide18.xml.rels>&#65279;<?xml version="1.0" encoding="utf-8"?><Relationships xmlns="http://schemas.openxmlformats.org/package/2006/relationships"><Relationship Type="http://schemas.openxmlformats.org/officeDocument/2006/relationships/image" Target="/ppt/media/image20.png" Id="R6951a04334be43e6" /><Relationship Type="http://schemas.openxmlformats.org/officeDocument/2006/relationships/image" Target="/ppt/media/image4.png" Id="R4717964a7ab84465" /><Relationship Type="http://schemas.openxmlformats.org/officeDocument/2006/relationships/image" Target="/ppt/media/image17.svg" Id="R156d00bf9c4c44b4" /><Relationship Type="http://schemas.openxmlformats.org/officeDocument/2006/relationships/image" Target="/ppt/media/image18.svg" Id="Ree6c88542cca4d46" /><Relationship Type="http://schemas.openxmlformats.org/officeDocument/2006/relationships/image" Target="/ppt/media/image19.svg" Id="Rcc41e5db91154338" /><Relationship Type="http://schemas.openxmlformats.org/officeDocument/2006/relationships/notesSlide" Target="/ppt/notesSlides/notesSlide18.xml" Id="R5f3e1bb34e9f4879" /><Relationship Type="http://schemas.openxmlformats.org/officeDocument/2006/relationships/slideLayout" Target="/ppt/slideLayouts/slideLayout2.xml" Id="Rde953017ae8e472d" /></Relationships>
</file>

<file path=ppt/slides/_rels/slide19.xml.rels>&#65279;<?xml version="1.0" encoding="utf-8"?><Relationships xmlns="http://schemas.openxmlformats.org/package/2006/relationships"><Relationship Type="http://schemas.openxmlformats.org/officeDocument/2006/relationships/notesSlide" Target="/ppt/notesSlides/notesSlide19.xml" Id="Refa8618b1f444278" /><Relationship Type="http://schemas.openxmlformats.org/officeDocument/2006/relationships/slideLayout" Target="/ppt/slideLayouts/slideLayout2.xml" Id="R375284215af14bf1" /></Relationships>
</file>

<file path=ppt/slides/_rels/slide20.xml.rels>&#65279;<?xml version="1.0" encoding="utf-8"?><Relationships xmlns="http://schemas.openxmlformats.org/package/2006/relationships"><Relationship Type="http://schemas.openxmlformats.org/officeDocument/2006/relationships/image" Target="/ppt/media/image21.png" Id="Ra5f4feee814542b0" /><Relationship Type="http://schemas.openxmlformats.org/officeDocument/2006/relationships/notesSlide" Target="/ppt/notesSlides/notesSlide20.xml" Id="R5e7f3e438c0a4001" /><Relationship Type="http://schemas.openxmlformats.org/officeDocument/2006/relationships/slideLayout" Target="/ppt/slideLayouts/slideLayout2.xml" Id="R80ef3f63d8aa4d96"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5186f3d26ce74f0a"/>
          <a:stretch>
            <a:fillRect/>
          </a:stretch>
        </p:blipFill>
        <p:spPr>
          <a:xfrm>
            <a:off x="0" y="0"/>
            <a:ext cx="5486400" cy="8229600"/>
          </a:xfrm>
          <a:prstGeom prst="rect">
            <a:avLst/>
          </a:prstGeom>
        </p:spPr>
      </p:pic>
      <p:sp>
        <p:nvSpPr>
          <p:cNvPr id="3" name="Text 0"/>
          <p:cNvSpPr/>
          <p:nvPr/>
        </p:nvSpPr>
        <p:spPr>
          <a:xfrm>
            <a:off x="6280190" y="2127409"/>
            <a:ext cx="7556421" cy="1417558"/>
          </a:xfrm>
          <a:prstGeom prst="rect">
            <a:avLst/>
          </a:prstGeom>
          <a:noFill/>
          <a:ln/>
        </p:spPr>
        <p:txBody>
          <a:bodyPr wrap="square" lIns="0" tIns="0" rIns="0" bIns="0" rtlCol="0" anchor="t"/>
          <a:lstStyle/>
          <a:p>
            <a:pPr algn="l" indent="0" marL="0">
              <a:lnSpc>
                <a:spcPts val="5550"/>
              </a:lnSpc>
              <a:buNone/>
            </a:pPr>
            <a:r>
              <a:rPr lang="en-US" sz="4450" b="1" dirty="0">
                <a:solidFill>
                  <a:srgbClr val="233939"/>
                </a:solidFill>
                <a:latin typeface="Syne Bold" pitchFamily="34" charset="0"/>
                <a:ea typeface="Syne Bold" pitchFamily="34" charset="-122"/>
                <a:cs typeface="Syne Bold" pitchFamily="34" charset="-120"/>
              </a:rPr>
              <a:t>College Smart Complaint System</a:t>
            </a:r>
            <a:endParaRPr lang="en-US" sz="4450" dirty="0"/>
          </a:p>
        </p:txBody>
      </p:sp>
      <p:sp>
        <p:nvSpPr>
          <p:cNvPr id="4" name="Text 1"/>
          <p:cNvSpPr/>
          <p:nvPr/>
        </p:nvSpPr>
        <p:spPr>
          <a:xfrm>
            <a:off x="6280190" y="3885128"/>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Smart, Real-Time Institutional Grievance Management System</a:t>
            </a:r>
            <a:endParaRPr lang="en-US" sz="1750" dirty="0"/>
          </a:p>
        </p:txBody>
      </p:sp>
      <p:sp>
        <p:nvSpPr>
          <p:cNvPr id="5" name="Text 2"/>
          <p:cNvSpPr/>
          <p:nvPr/>
        </p:nvSpPr>
        <p:spPr>
          <a:xfrm>
            <a:off x="6280190" y="4503182"/>
            <a:ext cx="7556421" cy="362903"/>
          </a:xfrm>
          <a:prstGeom prst="rect">
            <a:avLst/>
          </a:prstGeom>
          <a:noFill/>
          <a:ln/>
        </p:spPr>
        <p:txBody>
          <a:bodyPr wrap="none" lIns="0" tIns="0" rIns="0" bIns="0" rtlCol="0" anchor="t"/>
          <a:lstStyle/>
          <a:p>
            <a:pPr algn="l" indent="0" marL="0">
              <a:lnSpc>
                <a:spcPts val="2850"/>
              </a:lnSpc>
              <a:buNone/>
            </a:pPr>
            <a:r>
              <a:rPr lang="en-US" sz="1750" b="1" dirty="0">
                <a:solidFill>
                  <a:srgbClr val="3B4E4E"/>
                </a:solidFill>
                <a:latin typeface="Overpass Light" pitchFamily="34" charset="0"/>
                <a:ea typeface="Overpass Light" pitchFamily="34" charset="-122"/>
                <a:cs typeface="Overpass Light" pitchFamily="34" charset="-120"/>
              </a:rPr>
              <a:t>B.Tech CSE</a:t>
            </a:r>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 | IILM University, Greater Noida</a:t>
            </a:r>
            <a:endParaRPr lang="en-US" sz="1750" dirty="0"/>
          </a:p>
        </p:txBody>
      </p:sp>
      <p:sp>
        <p:nvSpPr>
          <p:cNvPr id="6" name="Text 3"/>
          <p:cNvSpPr/>
          <p:nvPr/>
        </p:nvSpPr>
        <p:spPr>
          <a:xfrm>
            <a:off x="6280190" y="5121235"/>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Student: Shray Singal</a:t>
            </a:r>
            <a:endParaRPr lang="en-US" sz="1750" dirty="0"/>
          </a:p>
        </p:txBody>
      </p:sp>
      <p:sp>
        <p:nvSpPr>
          <p:cNvPr id="7" name="Text 4"/>
          <p:cNvSpPr/>
          <p:nvPr/>
        </p:nvSpPr>
        <p:spPr>
          <a:xfrm>
            <a:off x="6280190" y="5739289"/>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Roll no . :- CS-2341299</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56642" y="689372"/>
            <a:ext cx="13117116" cy="1351359"/>
          </a:xfrm>
          <a:prstGeom prst="rect">
            <a:avLst/>
          </a:prstGeom>
          <a:noFill/>
          <a:ln/>
        </p:spPr>
        <p:txBody>
          <a:bodyPr wrap="square" lIns="0" tIns="0" rIns="0" bIns="0" rtlCol="0" anchor="t"/>
          <a:lstStyle/>
          <a:p>
            <a:pPr algn="l" indent="0" marL="0">
              <a:lnSpc>
                <a:spcPts val="5300"/>
              </a:lnSpc>
              <a:buNone/>
            </a:pPr>
            <a:r>
              <a:rPr lang="en-US" sz="4250" b="1" dirty="0">
                <a:solidFill>
                  <a:srgbClr val="233939"/>
                </a:solidFill>
                <a:latin typeface="Syne Bold" pitchFamily="34" charset="0"/>
                <a:ea typeface="Syne Bold" pitchFamily="34" charset="-122"/>
                <a:cs typeface="Syne Bold" pitchFamily="34" charset="-120"/>
              </a:rPr>
              <a:t>Introduction to Institutional Complaint Systems</a:t>
            </a:r>
            <a:endParaRPr lang="en-US" sz="4250" dirty="0"/>
          </a:p>
        </p:txBody>
      </p:sp>
      <p:pic>
        <p:nvPicPr>
          <p:cNvPr id="3" name="Image 0" descr="preencoded.png">    </p:cNvPr>
          <p:cNvPicPr>
            <a:picLocks noChangeAspect="1"/>
          </p:cNvPicPr>
          <p:nvPr/>
        </p:nvPicPr>
        <p:blipFill>
          <a:blip r:embed="R6f78cec6957a4b71"/>
          <a:stretch>
            <a:fillRect/>
          </a:stretch>
        </p:blipFill>
        <p:spPr>
          <a:xfrm>
            <a:off x="756642" y="2581632"/>
            <a:ext cx="8341519" cy="4726781"/>
          </a:xfrm>
          <a:prstGeom prst="rect">
            <a:avLst/>
          </a:prstGeom>
        </p:spPr>
      </p:pic>
      <p:sp>
        <p:nvSpPr>
          <p:cNvPr id="4" name="Text 1"/>
          <p:cNvSpPr/>
          <p:nvPr/>
        </p:nvSpPr>
        <p:spPr>
          <a:xfrm>
            <a:off x="9633228" y="2656761"/>
            <a:ext cx="4248150" cy="2026682"/>
          </a:xfrm>
          <a:prstGeom prst="rect">
            <a:avLst/>
          </a:prstGeom>
          <a:noFill/>
          <a:ln/>
        </p:spPr>
        <p:txBody>
          <a:bodyPr wrap="square" lIns="0" tIns="0" rIns="0" bIns="0" rtlCol="0" anchor="t"/>
          <a:lstStyle/>
          <a:p>
            <a:pPr algn="l" indent="0" marL="0">
              <a:lnSpc>
                <a:spcPts val="2650"/>
              </a:lnSpc>
              <a:buNone/>
            </a:pPr>
            <a:r>
              <a:rPr lang="en-US" sz="1700" dirty="0">
                <a:solidFill>
                  <a:srgbClr val="3B4E4E"/>
                </a:solidFill>
                <a:latin typeface="Overpass Light" pitchFamily="34" charset="0"/>
                <a:ea typeface="Overpass Light" pitchFamily="34" charset="-122"/>
                <a:cs typeface="Overpass Light" pitchFamily="34" charset="-120"/>
              </a:rPr>
              <a:t>Colleges and universities process thousands of student grievances annually, ranging from academic issues to infrastructure complaints. Traditional systems rely on manual, paper-based workflows that create bottlenecks and reduce efficiency.</a:t>
            </a:r>
            <a:endParaRPr lang="en-US" sz="1700" dirty="0"/>
          </a:p>
        </p:txBody>
      </p:sp>
      <p:sp>
        <p:nvSpPr>
          <p:cNvPr id="5" name="Text 2"/>
          <p:cNvSpPr/>
          <p:nvPr/>
        </p:nvSpPr>
        <p:spPr>
          <a:xfrm>
            <a:off x="9633228" y="4868823"/>
            <a:ext cx="4248150" cy="2364462"/>
          </a:xfrm>
          <a:prstGeom prst="rect">
            <a:avLst/>
          </a:prstGeom>
          <a:noFill/>
          <a:ln/>
        </p:spPr>
        <p:txBody>
          <a:bodyPr wrap="square" lIns="0" tIns="0" rIns="0" bIns="0" rtlCol="0" anchor="t"/>
          <a:lstStyle/>
          <a:p>
            <a:pPr algn="l" indent="0" marL="0">
              <a:lnSpc>
                <a:spcPts val="2650"/>
              </a:lnSpc>
              <a:buNone/>
            </a:pPr>
            <a:r>
              <a:rPr lang="en-US" sz="1700" dirty="0">
                <a:solidFill>
                  <a:srgbClr val="3B4E4E"/>
                </a:solidFill>
                <a:latin typeface="Overpass Light" pitchFamily="34" charset="0"/>
                <a:ea typeface="Overpass Light" pitchFamily="34" charset="-122"/>
                <a:cs typeface="Overpass Light" pitchFamily="34" charset="-120"/>
              </a:rPr>
              <a:t>Students submit physical forms, wait indefinitely for responses, and often lose track of their complaints. Faculty and administrators struggle with disorganized filing systems, making it nearly impossible to maintain accountability or track resolution timelines.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827842"/>
            <a:ext cx="7881580" cy="708779"/>
          </a:xfrm>
          <a:prstGeom prst="rect">
            <a:avLst/>
          </a:prstGeom>
          <a:noFill/>
          <a:ln/>
        </p:spPr>
        <p:txBody>
          <a:bodyPr wrap="none" lIns="0" tIns="0" rIns="0" bIns="0" rtlCol="0" anchor="t"/>
          <a:lstStyle/>
          <a:p>
            <a:pPr algn="l" indent="0" marL="0">
              <a:lnSpc>
                <a:spcPts val="5550"/>
              </a:lnSpc>
              <a:buNone/>
            </a:pPr>
            <a:r>
              <a:rPr lang="en-US" sz="4450" b="1" dirty="0">
                <a:solidFill>
                  <a:srgbClr val="233939"/>
                </a:solidFill>
                <a:latin typeface="Syne Bold" pitchFamily="34" charset="0"/>
                <a:ea typeface="Syne Bold" pitchFamily="34" charset="-122"/>
                <a:cs typeface="Syne Bold" pitchFamily="34" charset="-120"/>
              </a:rPr>
              <a:t>Background &amp; Motivation</a:t>
            </a:r>
            <a:endParaRPr lang="en-US" sz="4450" dirty="0"/>
          </a:p>
        </p:txBody>
      </p:sp>
      <p:sp>
        <p:nvSpPr>
          <p:cNvPr id="3" name="Shape 1"/>
          <p:cNvSpPr/>
          <p:nvPr/>
        </p:nvSpPr>
        <p:spPr>
          <a:xfrm>
            <a:off x="793790" y="1990249"/>
            <a:ext cx="6407944" cy="2592348"/>
          </a:xfrm>
          <a:prstGeom prst="roundRect">
            <a:avLst>
              <a:gd name="adj" fmla="val 3675"/>
            </a:avLst>
          </a:prstGeom>
          <a:solidFill>
            <a:srgbClr val="DDEEE6"/>
          </a:solidFill>
          <a:ln w="7620">
            <a:solidFill>
              <a:srgbClr val="C3D4CC"/>
            </a:solidFill>
            <a:prstDash val="solid"/>
          </a:ln>
        </p:spPr>
      </p:sp>
      <p:sp>
        <p:nvSpPr>
          <p:cNvPr id="4" name="Shape 2"/>
          <p:cNvSpPr/>
          <p:nvPr/>
        </p:nvSpPr>
        <p:spPr>
          <a:xfrm>
            <a:off x="1028224" y="2224683"/>
            <a:ext cx="680442" cy="680442"/>
          </a:xfrm>
          <a:prstGeom prst="roundRect">
            <a:avLst>
              <a:gd name="adj" fmla="val 13436980"/>
            </a:avLst>
          </a:prstGeom>
          <a:solidFill>
            <a:srgbClr val="224435"/>
          </a:solidFill>
          <a:ln/>
        </p:spPr>
      </p:sp>
      <p:pic>
        <p:nvPicPr>
          <p:cNvPr id="5" name="Image 0" descr="preencoded.png">    </p:cNvPr>
          <p:cNvPicPr>
            <a:picLocks noChangeAspect="1"/>
          </p:cNvPicPr>
          <p:nvPr/>
        </p:nvPicPr>
        <p:blipFill>
          <a:blip r:embed="Rd769c47ece0d42b4">
            <a:extLst>
              <a:ext uri="{96DAC541-7B7A-43D3-8B79-37D633B846F1}">
                <asvg:svgBlip xmlns:asvg="http://schemas.microsoft.com/office/drawing/2016/SVG/main" r:embed="R6e3de16e8e584643"/>
              </a:ext>
            </a:extLst>
          </a:blip>
          <a:stretch>
            <a:fillRect/>
          </a:stretch>
        </p:blipFill>
        <p:spPr>
          <a:xfrm>
            <a:off x="1215390" y="2411730"/>
            <a:ext cx="306110" cy="306110"/>
          </a:xfrm>
          <a:prstGeom prst="rect">
            <a:avLst/>
          </a:prstGeom>
        </p:spPr>
      </p:pic>
      <p:sp>
        <p:nvSpPr>
          <p:cNvPr id="6" name="Text 3"/>
          <p:cNvSpPr/>
          <p:nvPr/>
        </p:nvSpPr>
        <p:spPr>
          <a:xfrm>
            <a:off x="1028224" y="3131939"/>
            <a:ext cx="4617601" cy="354330"/>
          </a:xfrm>
          <a:prstGeom prst="rect">
            <a:avLst/>
          </a:prstGeom>
          <a:noFill/>
          <a:ln/>
        </p:spPr>
        <p:txBody>
          <a:bodyPr wrap="none" lIns="0" tIns="0" rIns="0" bIns="0" rtlCol="0" anchor="t"/>
          <a:lstStyle/>
          <a:p>
            <a:pPr algn="l" indent="0" marL="0">
              <a:lnSpc>
                <a:spcPts val="2750"/>
              </a:lnSpc>
              <a:buNone/>
            </a:pPr>
            <a:r>
              <a:rPr lang="en-US" sz="2200" b="1" dirty="0">
                <a:solidFill>
                  <a:srgbClr val="3B4E4E"/>
                </a:solidFill>
                <a:latin typeface="Syne Bold" pitchFamily="34" charset="0"/>
                <a:ea typeface="Syne Bold" pitchFamily="34" charset="-122"/>
                <a:cs typeface="Syne Bold" pitchFamily="34" charset="-120"/>
              </a:rPr>
              <a:t>Escalating Complaint Volume</a:t>
            </a:r>
            <a:endParaRPr lang="en-US" sz="2200" dirty="0"/>
          </a:p>
        </p:txBody>
      </p:sp>
      <p:sp>
        <p:nvSpPr>
          <p:cNvPr id="7" name="Text 4"/>
          <p:cNvSpPr/>
          <p:nvPr/>
        </p:nvSpPr>
        <p:spPr>
          <a:xfrm>
            <a:off x="1028224" y="3622358"/>
            <a:ext cx="5939076" cy="725805"/>
          </a:xfrm>
          <a:prstGeom prst="rect">
            <a:avLst/>
          </a:prstGeom>
          <a:noFill/>
          <a:ln/>
        </p:spPr>
        <p:txBody>
          <a:bodyPr wrap="squar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Modern institutions receive 500+ complaints monthly, overwhelming manual systems</a:t>
            </a:r>
            <a:endParaRPr lang="en-US" sz="1750" dirty="0"/>
          </a:p>
        </p:txBody>
      </p:sp>
      <p:sp>
        <p:nvSpPr>
          <p:cNvPr id="8" name="Shape 5"/>
          <p:cNvSpPr/>
          <p:nvPr/>
        </p:nvSpPr>
        <p:spPr>
          <a:xfrm>
            <a:off x="7428548" y="1990249"/>
            <a:ext cx="6408063" cy="2592348"/>
          </a:xfrm>
          <a:prstGeom prst="roundRect">
            <a:avLst>
              <a:gd name="adj" fmla="val 3675"/>
            </a:avLst>
          </a:prstGeom>
          <a:solidFill>
            <a:srgbClr val="DDEEE6"/>
          </a:solidFill>
          <a:ln w="7620">
            <a:solidFill>
              <a:srgbClr val="C3D4CC"/>
            </a:solidFill>
            <a:prstDash val="solid"/>
          </a:ln>
        </p:spPr>
      </p:sp>
      <p:sp>
        <p:nvSpPr>
          <p:cNvPr id="9" name="Shape 6"/>
          <p:cNvSpPr/>
          <p:nvPr/>
        </p:nvSpPr>
        <p:spPr>
          <a:xfrm>
            <a:off x="7662982" y="2224683"/>
            <a:ext cx="680442" cy="680442"/>
          </a:xfrm>
          <a:prstGeom prst="roundRect">
            <a:avLst>
              <a:gd name="adj" fmla="val 13436980"/>
            </a:avLst>
          </a:prstGeom>
          <a:solidFill>
            <a:srgbClr val="224435"/>
          </a:solidFill>
          <a:ln/>
        </p:spPr>
      </p:sp>
      <p:pic>
        <p:nvPicPr>
          <p:cNvPr id="10" name="Image 1" descr="preencoded.png">    </p:cNvPr>
          <p:cNvPicPr>
            <a:picLocks noChangeAspect="1"/>
          </p:cNvPicPr>
          <p:nvPr/>
        </p:nvPicPr>
        <p:blipFill>
          <a:blip r:embed="Rd769c47ece0d42b4">
            <a:extLst>
              <a:ext uri="{96DAC541-7B7A-43D3-8B79-37D633B846F1}">
                <asvg:svgBlip xmlns:asvg="http://schemas.microsoft.com/office/drawing/2016/SVG/main" r:embed="R2184ddf1d7df4fb8"/>
              </a:ext>
            </a:extLst>
          </a:blip>
          <a:stretch>
            <a:fillRect/>
          </a:stretch>
        </p:blipFill>
        <p:spPr>
          <a:xfrm>
            <a:off x="7850148" y="2411730"/>
            <a:ext cx="306110" cy="306110"/>
          </a:xfrm>
          <a:prstGeom prst="rect">
            <a:avLst/>
          </a:prstGeom>
        </p:spPr>
      </p:pic>
      <p:sp>
        <p:nvSpPr>
          <p:cNvPr id="11" name="Text 7"/>
          <p:cNvSpPr/>
          <p:nvPr/>
        </p:nvSpPr>
        <p:spPr>
          <a:xfrm>
            <a:off x="7662982" y="3131939"/>
            <a:ext cx="3617000" cy="354330"/>
          </a:xfrm>
          <a:prstGeom prst="rect">
            <a:avLst/>
          </a:prstGeom>
          <a:noFill/>
          <a:ln/>
        </p:spPr>
        <p:txBody>
          <a:bodyPr wrap="none" lIns="0" tIns="0" rIns="0" bIns="0" rtlCol="0" anchor="t"/>
          <a:lstStyle/>
          <a:p>
            <a:pPr algn="l" indent="0" marL="0">
              <a:lnSpc>
                <a:spcPts val="2750"/>
              </a:lnSpc>
              <a:buNone/>
            </a:pPr>
            <a:r>
              <a:rPr lang="en-US" sz="2200" b="1" dirty="0">
                <a:solidFill>
                  <a:srgbClr val="3B4E4E"/>
                </a:solidFill>
                <a:latin typeface="Syne Bold" pitchFamily="34" charset="0"/>
                <a:ea typeface="Syne Bold" pitchFamily="34" charset="-122"/>
                <a:cs typeface="Syne Bold" pitchFamily="34" charset="-120"/>
              </a:rPr>
              <a:t>Automation Imperative</a:t>
            </a:r>
            <a:endParaRPr lang="en-US" sz="2200" dirty="0"/>
          </a:p>
        </p:txBody>
      </p:sp>
      <p:sp>
        <p:nvSpPr>
          <p:cNvPr id="12" name="Text 8"/>
          <p:cNvSpPr/>
          <p:nvPr/>
        </p:nvSpPr>
        <p:spPr>
          <a:xfrm>
            <a:off x="7662982" y="3622358"/>
            <a:ext cx="5939195" cy="725805"/>
          </a:xfrm>
          <a:prstGeom prst="rect">
            <a:avLst/>
          </a:prstGeom>
          <a:noFill/>
          <a:ln/>
        </p:spPr>
        <p:txBody>
          <a:bodyPr wrap="squar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Digital transformation demands automated workflows to handle growing volumes efficiently</a:t>
            </a:r>
            <a:endParaRPr lang="en-US" sz="1750" dirty="0"/>
          </a:p>
        </p:txBody>
      </p:sp>
      <p:sp>
        <p:nvSpPr>
          <p:cNvPr id="13" name="Shape 9"/>
          <p:cNvSpPr/>
          <p:nvPr/>
        </p:nvSpPr>
        <p:spPr>
          <a:xfrm>
            <a:off x="793790" y="4809411"/>
            <a:ext cx="6407944" cy="2592348"/>
          </a:xfrm>
          <a:prstGeom prst="roundRect">
            <a:avLst>
              <a:gd name="adj" fmla="val 3675"/>
            </a:avLst>
          </a:prstGeom>
          <a:solidFill>
            <a:srgbClr val="DDEEE6"/>
          </a:solidFill>
          <a:ln w="7620">
            <a:solidFill>
              <a:srgbClr val="C3D4CC"/>
            </a:solidFill>
            <a:prstDash val="solid"/>
          </a:ln>
        </p:spPr>
      </p:sp>
      <p:sp>
        <p:nvSpPr>
          <p:cNvPr id="14" name="Shape 10"/>
          <p:cNvSpPr/>
          <p:nvPr/>
        </p:nvSpPr>
        <p:spPr>
          <a:xfrm>
            <a:off x="1028224" y="5043845"/>
            <a:ext cx="680442" cy="680442"/>
          </a:xfrm>
          <a:prstGeom prst="roundRect">
            <a:avLst>
              <a:gd name="adj" fmla="val 13436980"/>
            </a:avLst>
          </a:prstGeom>
          <a:solidFill>
            <a:srgbClr val="224435"/>
          </a:solidFill>
          <a:ln/>
        </p:spPr>
      </p:sp>
      <p:pic>
        <p:nvPicPr>
          <p:cNvPr id="15" name="Image 2" descr="preencoded.png">    </p:cNvPr>
          <p:cNvPicPr>
            <a:picLocks noChangeAspect="1"/>
          </p:cNvPicPr>
          <p:nvPr/>
        </p:nvPicPr>
        <p:blipFill>
          <a:blip r:embed="Rd769c47ece0d42b4">
            <a:extLst>
              <a:ext uri="{96DAC541-7B7A-43D3-8B79-37D633B846F1}">
                <asvg:svgBlip xmlns:asvg="http://schemas.microsoft.com/office/drawing/2016/SVG/main" r:embed="R795efd0e736f4183"/>
              </a:ext>
            </a:extLst>
          </a:blip>
          <a:stretch>
            <a:fillRect/>
          </a:stretch>
        </p:blipFill>
        <p:spPr>
          <a:xfrm>
            <a:off x="1215390" y="5230892"/>
            <a:ext cx="306110" cy="306110"/>
          </a:xfrm>
          <a:prstGeom prst="rect">
            <a:avLst/>
          </a:prstGeom>
        </p:spPr>
      </p:pic>
      <p:sp>
        <p:nvSpPr>
          <p:cNvPr id="16" name="Text 11"/>
          <p:cNvSpPr/>
          <p:nvPr/>
        </p:nvSpPr>
        <p:spPr>
          <a:xfrm>
            <a:off x="1028224" y="5951101"/>
            <a:ext cx="4767739" cy="354330"/>
          </a:xfrm>
          <a:prstGeom prst="rect">
            <a:avLst/>
          </a:prstGeom>
          <a:noFill/>
          <a:ln/>
        </p:spPr>
        <p:txBody>
          <a:bodyPr wrap="none" lIns="0" tIns="0" rIns="0" bIns="0" rtlCol="0" anchor="t"/>
          <a:lstStyle/>
          <a:p>
            <a:pPr algn="l" indent="0" marL="0">
              <a:lnSpc>
                <a:spcPts val="2750"/>
              </a:lnSpc>
              <a:buNone/>
            </a:pPr>
            <a:r>
              <a:rPr lang="en-US" sz="2200" b="1" dirty="0">
                <a:solidFill>
                  <a:srgbClr val="3B4E4E"/>
                </a:solidFill>
                <a:latin typeface="Syne Bold" pitchFamily="34" charset="0"/>
                <a:ea typeface="Syne Bold" pitchFamily="34" charset="-122"/>
                <a:cs typeface="Syne Bold" pitchFamily="34" charset="-120"/>
              </a:rPr>
              <a:t>Accountability &amp; Transparency</a:t>
            </a:r>
            <a:endParaRPr lang="en-US" sz="2200" dirty="0"/>
          </a:p>
        </p:txBody>
      </p:sp>
      <p:sp>
        <p:nvSpPr>
          <p:cNvPr id="17" name="Text 12"/>
          <p:cNvSpPr/>
          <p:nvPr/>
        </p:nvSpPr>
        <p:spPr>
          <a:xfrm>
            <a:off x="1028224" y="6441519"/>
            <a:ext cx="5939076" cy="725805"/>
          </a:xfrm>
          <a:prstGeom prst="rect">
            <a:avLst/>
          </a:prstGeom>
          <a:noFill/>
          <a:ln/>
        </p:spPr>
        <p:txBody>
          <a:bodyPr wrap="squar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Institutions need visible tracking to build trust and ensure timely resolutions</a:t>
            </a:r>
            <a:endParaRPr lang="en-US" sz="1750" dirty="0"/>
          </a:p>
        </p:txBody>
      </p:sp>
      <p:sp>
        <p:nvSpPr>
          <p:cNvPr id="18" name="Shape 13"/>
          <p:cNvSpPr/>
          <p:nvPr/>
        </p:nvSpPr>
        <p:spPr>
          <a:xfrm>
            <a:off x="7428548" y="4809411"/>
            <a:ext cx="6408063" cy="2592348"/>
          </a:xfrm>
          <a:prstGeom prst="roundRect">
            <a:avLst>
              <a:gd name="adj" fmla="val 3675"/>
            </a:avLst>
          </a:prstGeom>
          <a:solidFill>
            <a:srgbClr val="DDEEE6"/>
          </a:solidFill>
          <a:ln w="7620">
            <a:solidFill>
              <a:srgbClr val="C3D4CC"/>
            </a:solidFill>
            <a:prstDash val="solid"/>
          </a:ln>
        </p:spPr>
      </p:sp>
      <p:sp>
        <p:nvSpPr>
          <p:cNvPr id="19" name="Shape 14"/>
          <p:cNvSpPr/>
          <p:nvPr/>
        </p:nvSpPr>
        <p:spPr>
          <a:xfrm>
            <a:off x="7662982" y="5043845"/>
            <a:ext cx="680442" cy="680442"/>
          </a:xfrm>
          <a:prstGeom prst="roundRect">
            <a:avLst>
              <a:gd name="adj" fmla="val 13436980"/>
            </a:avLst>
          </a:prstGeom>
          <a:solidFill>
            <a:srgbClr val="224435"/>
          </a:solidFill>
          <a:ln/>
        </p:spPr>
      </p:sp>
      <p:pic>
        <p:nvPicPr>
          <p:cNvPr id="20" name="Image 3" descr="preencoded.png">    </p:cNvPr>
          <p:cNvPicPr>
            <a:picLocks noChangeAspect="1"/>
          </p:cNvPicPr>
          <p:nvPr/>
        </p:nvPicPr>
        <p:blipFill>
          <a:blip r:embed="Rd769c47ece0d42b4">
            <a:extLst>
              <a:ext uri="{96DAC541-7B7A-43D3-8B79-37D633B846F1}">
                <asvg:svgBlip xmlns:asvg="http://schemas.microsoft.com/office/drawing/2016/SVG/main" r:embed="R1c7cb7c025b64690"/>
              </a:ext>
            </a:extLst>
          </a:blip>
          <a:stretch>
            <a:fillRect/>
          </a:stretch>
        </p:blipFill>
        <p:spPr>
          <a:xfrm>
            <a:off x="7850148" y="5230892"/>
            <a:ext cx="306110" cy="306110"/>
          </a:xfrm>
          <a:prstGeom prst="rect">
            <a:avLst/>
          </a:prstGeom>
        </p:spPr>
      </p:pic>
      <p:sp>
        <p:nvSpPr>
          <p:cNvPr id="21" name="Text 15"/>
          <p:cNvSpPr/>
          <p:nvPr/>
        </p:nvSpPr>
        <p:spPr>
          <a:xfrm>
            <a:off x="7662982" y="5951101"/>
            <a:ext cx="2988707" cy="354330"/>
          </a:xfrm>
          <a:prstGeom prst="rect">
            <a:avLst/>
          </a:prstGeom>
          <a:noFill/>
          <a:ln/>
        </p:spPr>
        <p:txBody>
          <a:bodyPr wrap="none" lIns="0" tIns="0" rIns="0" bIns="0" rtlCol="0" anchor="t"/>
          <a:lstStyle/>
          <a:p>
            <a:pPr algn="l" indent="0" marL="0">
              <a:lnSpc>
                <a:spcPts val="2750"/>
              </a:lnSpc>
              <a:buNone/>
            </a:pPr>
            <a:r>
              <a:rPr lang="en-US" sz="2200" b="1" dirty="0">
                <a:solidFill>
                  <a:srgbClr val="3B4E4E"/>
                </a:solidFill>
                <a:latin typeface="Syne Bold" pitchFamily="34" charset="0"/>
                <a:ea typeface="Syne Bold" pitchFamily="34" charset="-122"/>
                <a:cs typeface="Syne Bold" pitchFamily="34" charset="-120"/>
              </a:rPr>
              <a:t>Real-World Impact</a:t>
            </a:r>
            <a:endParaRPr lang="en-US" sz="2200" dirty="0"/>
          </a:p>
        </p:txBody>
      </p:sp>
      <p:sp>
        <p:nvSpPr>
          <p:cNvPr id="22" name="Text 16"/>
          <p:cNvSpPr/>
          <p:nvPr/>
        </p:nvSpPr>
        <p:spPr>
          <a:xfrm>
            <a:off x="7662982" y="6441519"/>
            <a:ext cx="5939195" cy="725805"/>
          </a:xfrm>
          <a:prstGeom prst="rect">
            <a:avLst/>
          </a:prstGeom>
          <a:noFill/>
          <a:ln/>
        </p:spPr>
        <p:txBody>
          <a:bodyPr wrap="squar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Improved grievance management directly affects student satisfaction and institutional reputation</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69025" y="633651"/>
            <a:ext cx="5948839" cy="686633"/>
          </a:xfrm>
          <a:prstGeom prst="rect">
            <a:avLst/>
          </a:prstGeom>
          <a:noFill/>
          <a:ln/>
        </p:spPr>
        <p:txBody>
          <a:bodyPr wrap="none" lIns="0" tIns="0" rIns="0" bIns="0" rtlCol="0" anchor="t"/>
          <a:lstStyle/>
          <a:p>
            <a:pPr algn="l" indent="0" marL="0">
              <a:lnSpc>
                <a:spcPts val="5400"/>
              </a:lnSpc>
              <a:buNone/>
            </a:pPr>
            <a:r>
              <a:rPr lang="en-US" sz="4300" b="1" dirty="0">
                <a:solidFill>
                  <a:srgbClr val="233939"/>
                </a:solidFill>
                <a:latin typeface="Syne Bold" pitchFamily="34" charset="0"/>
                <a:ea typeface="Syne Bold" pitchFamily="34" charset="-122"/>
                <a:cs typeface="Syne Bold" pitchFamily="34" charset="-120"/>
              </a:rPr>
              <a:t>Problem Statement</a:t>
            </a:r>
            <a:endParaRPr lang="en-US" sz="4300" dirty="0"/>
          </a:p>
        </p:txBody>
      </p:sp>
      <p:sp>
        <p:nvSpPr>
          <p:cNvPr id="3" name="Text 1"/>
          <p:cNvSpPr/>
          <p:nvPr/>
        </p:nvSpPr>
        <p:spPr>
          <a:xfrm>
            <a:off x="769025" y="1745933"/>
            <a:ext cx="13092351" cy="346115"/>
          </a:xfrm>
          <a:prstGeom prst="rect">
            <a:avLst/>
          </a:prstGeom>
          <a:noFill/>
          <a:ln/>
        </p:spPr>
        <p:txBody>
          <a:bodyPr wrap="none" lIns="0" tIns="0" rIns="0" bIns="0" rtlCol="0" anchor="t"/>
          <a:lstStyle/>
          <a:p>
            <a:pPr algn="l" indent="0" marL="0">
              <a:lnSpc>
                <a:spcPts val="2700"/>
              </a:lnSpc>
              <a:buNone/>
            </a:pPr>
            <a:r>
              <a:rPr lang="en-US" sz="1700" dirty="0">
                <a:solidFill>
                  <a:srgbClr val="3B4E4E"/>
                </a:solidFill>
                <a:latin typeface="Overpass Light" pitchFamily="34" charset="0"/>
                <a:ea typeface="Overpass Light" pitchFamily="34" charset="-122"/>
                <a:cs typeface="Overpass Light" pitchFamily="34" charset="-120"/>
              </a:rPr>
              <a:t>Current college complaint management systems suffer from critical operational deficiencies that hinder institutional effectiveness:</a:t>
            </a:r>
            <a:endParaRPr lang="en-US" sz="1700" dirty="0"/>
          </a:p>
        </p:txBody>
      </p:sp>
      <p:sp>
        <p:nvSpPr>
          <p:cNvPr id="4" name="Shape 2"/>
          <p:cNvSpPr/>
          <p:nvPr/>
        </p:nvSpPr>
        <p:spPr>
          <a:xfrm>
            <a:off x="769025" y="2331482"/>
            <a:ext cx="4222194" cy="2698909"/>
          </a:xfrm>
          <a:prstGeom prst="roundRect">
            <a:avLst>
              <a:gd name="adj" fmla="val 5421"/>
            </a:avLst>
          </a:prstGeom>
          <a:solidFill>
            <a:srgbClr val="FFFDE6"/>
          </a:solidFill>
          <a:ln w="30480">
            <a:solidFill>
              <a:srgbClr val="C3D4CC"/>
            </a:solidFill>
            <a:prstDash val="solid"/>
          </a:ln>
        </p:spPr>
      </p:sp>
      <p:sp>
        <p:nvSpPr>
          <p:cNvPr id="5" name="Shape 3"/>
          <p:cNvSpPr/>
          <p:nvPr/>
        </p:nvSpPr>
        <p:spPr>
          <a:xfrm>
            <a:off x="738545" y="2331482"/>
            <a:ext cx="121920" cy="2698909"/>
          </a:xfrm>
          <a:prstGeom prst="roundRect">
            <a:avLst>
              <a:gd name="adj" fmla="val 75698"/>
            </a:avLst>
          </a:prstGeom>
          <a:solidFill>
            <a:srgbClr val="224435"/>
          </a:solidFill>
          <a:ln/>
        </p:spPr>
      </p:sp>
      <p:sp>
        <p:nvSpPr>
          <p:cNvPr id="6" name="Text 4"/>
          <p:cNvSpPr/>
          <p:nvPr/>
        </p:nvSpPr>
        <p:spPr>
          <a:xfrm>
            <a:off x="1110615" y="2581632"/>
            <a:ext cx="3630454" cy="686514"/>
          </a:xfrm>
          <a:prstGeom prst="rect">
            <a:avLst/>
          </a:prstGeom>
          <a:noFill/>
          <a:ln/>
        </p:spPr>
        <p:txBody>
          <a:bodyPr wrap="square" lIns="0" tIns="0" rIns="0" bIns="0" rtlCol="0" anchor="t"/>
          <a:lstStyle/>
          <a:p>
            <a:pPr algn="l" indent="0" marL="0">
              <a:lnSpc>
                <a:spcPts val="2700"/>
              </a:lnSpc>
              <a:buNone/>
            </a:pPr>
            <a:r>
              <a:rPr lang="en-US" sz="2150" b="1" dirty="0">
                <a:solidFill>
                  <a:srgbClr val="3B4E4E"/>
                </a:solidFill>
                <a:latin typeface="Syne Bold" pitchFamily="34" charset="0"/>
                <a:ea typeface="Syne Bold" pitchFamily="34" charset="-122"/>
                <a:cs typeface="Syne Bold" pitchFamily="34" charset="-120"/>
              </a:rPr>
              <a:t>Lost or Delayed Complaints</a:t>
            </a:r>
            <a:endParaRPr lang="en-US" sz="2150" dirty="0"/>
          </a:p>
        </p:txBody>
      </p:sp>
      <p:sp>
        <p:nvSpPr>
          <p:cNvPr id="7" name="Text 5"/>
          <p:cNvSpPr/>
          <p:nvPr/>
        </p:nvSpPr>
        <p:spPr>
          <a:xfrm>
            <a:off x="1110615" y="3395782"/>
            <a:ext cx="3630454" cy="1384459"/>
          </a:xfrm>
          <a:prstGeom prst="rect">
            <a:avLst/>
          </a:prstGeom>
          <a:noFill/>
          <a:ln/>
        </p:spPr>
        <p:txBody>
          <a:bodyPr wrap="square" lIns="0" tIns="0" rIns="0" bIns="0" rtlCol="0" anchor="t"/>
          <a:lstStyle/>
          <a:p>
            <a:pPr algn="l" indent="0" marL="0">
              <a:lnSpc>
                <a:spcPts val="2700"/>
              </a:lnSpc>
              <a:buNone/>
            </a:pPr>
            <a:r>
              <a:rPr lang="en-US" sz="1700" dirty="0">
                <a:solidFill>
                  <a:srgbClr val="3B4E4E"/>
                </a:solidFill>
                <a:latin typeface="Overpass Light" pitchFamily="34" charset="0"/>
                <a:ea typeface="Overpass Light" pitchFamily="34" charset="-122"/>
                <a:cs typeface="Overpass Light" pitchFamily="34" charset="-120"/>
              </a:rPr>
              <a:t>Paper-based systems result in misplaced documents and forgotten issues, leaving students without recourse</a:t>
            </a:r>
            <a:endParaRPr lang="en-US" sz="1700" dirty="0"/>
          </a:p>
        </p:txBody>
      </p:sp>
      <p:sp>
        <p:nvSpPr>
          <p:cNvPr id="8" name="Shape 6"/>
          <p:cNvSpPr/>
          <p:nvPr/>
        </p:nvSpPr>
        <p:spPr>
          <a:xfrm>
            <a:off x="5203984" y="2331482"/>
            <a:ext cx="4222313" cy="2698909"/>
          </a:xfrm>
          <a:prstGeom prst="roundRect">
            <a:avLst>
              <a:gd name="adj" fmla="val 5421"/>
            </a:avLst>
          </a:prstGeom>
          <a:solidFill>
            <a:srgbClr val="FFFDE6"/>
          </a:solidFill>
          <a:ln w="30480">
            <a:solidFill>
              <a:srgbClr val="C3D4CC"/>
            </a:solidFill>
            <a:prstDash val="solid"/>
          </a:ln>
        </p:spPr>
      </p:sp>
      <p:sp>
        <p:nvSpPr>
          <p:cNvPr id="9" name="Shape 7"/>
          <p:cNvSpPr/>
          <p:nvPr/>
        </p:nvSpPr>
        <p:spPr>
          <a:xfrm>
            <a:off x="5173504" y="2331482"/>
            <a:ext cx="121920" cy="2698909"/>
          </a:xfrm>
          <a:prstGeom prst="roundRect">
            <a:avLst>
              <a:gd name="adj" fmla="val 75698"/>
            </a:avLst>
          </a:prstGeom>
          <a:solidFill>
            <a:srgbClr val="224435"/>
          </a:solidFill>
          <a:ln/>
        </p:spPr>
      </p:sp>
      <p:sp>
        <p:nvSpPr>
          <p:cNvPr id="10" name="Text 8"/>
          <p:cNvSpPr/>
          <p:nvPr/>
        </p:nvSpPr>
        <p:spPr>
          <a:xfrm>
            <a:off x="5545574" y="2581632"/>
            <a:ext cx="3630573" cy="686514"/>
          </a:xfrm>
          <a:prstGeom prst="rect">
            <a:avLst/>
          </a:prstGeom>
          <a:noFill/>
          <a:ln/>
        </p:spPr>
        <p:txBody>
          <a:bodyPr wrap="square" lIns="0" tIns="0" rIns="0" bIns="0" rtlCol="0" anchor="t"/>
          <a:lstStyle/>
          <a:p>
            <a:pPr algn="l" indent="0" marL="0">
              <a:lnSpc>
                <a:spcPts val="2700"/>
              </a:lnSpc>
              <a:buNone/>
            </a:pPr>
            <a:r>
              <a:rPr lang="en-US" sz="2150" b="1" dirty="0">
                <a:solidFill>
                  <a:srgbClr val="3B4E4E"/>
                </a:solidFill>
                <a:latin typeface="Syne Bold" pitchFamily="34" charset="0"/>
                <a:ea typeface="Syne Bold" pitchFamily="34" charset="-122"/>
                <a:cs typeface="Syne Bold" pitchFamily="34" charset="-120"/>
              </a:rPr>
              <a:t>Absence of Tracking System</a:t>
            </a:r>
            <a:endParaRPr lang="en-US" sz="2150" dirty="0"/>
          </a:p>
        </p:txBody>
      </p:sp>
      <p:sp>
        <p:nvSpPr>
          <p:cNvPr id="11" name="Text 9"/>
          <p:cNvSpPr/>
          <p:nvPr/>
        </p:nvSpPr>
        <p:spPr>
          <a:xfrm>
            <a:off x="5545574" y="3395782"/>
            <a:ext cx="3630573" cy="1038344"/>
          </a:xfrm>
          <a:prstGeom prst="rect">
            <a:avLst/>
          </a:prstGeom>
          <a:noFill/>
          <a:ln/>
        </p:spPr>
        <p:txBody>
          <a:bodyPr wrap="square" lIns="0" tIns="0" rIns="0" bIns="0" rtlCol="0" anchor="t"/>
          <a:lstStyle/>
          <a:p>
            <a:pPr algn="l" indent="0" marL="0">
              <a:lnSpc>
                <a:spcPts val="2700"/>
              </a:lnSpc>
              <a:buNone/>
            </a:pPr>
            <a:r>
              <a:rPr lang="en-US" sz="1700" dirty="0">
                <a:solidFill>
                  <a:srgbClr val="3B4E4E"/>
                </a:solidFill>
                <a:latin typeface="Overpass Light" pitchFamily="34" charset="0"/>
                <a:ea typeface="Overpass Light" pitchFamily="34" charset="-122"/>
                <a:cs typeface="Overpass Light" pitchFamily="34" charset="-120"/>
              </a:rPr>
              <a:t>No visibility into complaint status leaves students in the dark about resolution progress</a:t>
            </a:r>
            <a:endParaRPr lang="en-US" sz="1700" dirty="0"/>
          </a:p>
        </p:txBody>
      </p:sp>
      <p:sp>
        <p:nvSpPr>
          <p:cNvPr id="12" name="Shape 10"/>
          <p:cNvSpPr/>
          <p:nvPr/>
        </p:nvSpPr>
        <p:spPr>
          <a:xfrm>
            <a:off x="9639062" y="2331482"/>
            <a:ext cx="4222313" cy="2698909"/>
          </a:xfrm>
          <a:prstGeom prst="roundRect">
            <a:avLst>
              <a:gd name="adj" fmla="val 5421"/>
            </a:avLst>
          </a:prstGeom>
          <a:solidFill>
            <a:srgbClr val="FFFDE6"/>
          </a:solidFill>
          <a:ln w="30480">
            <a:solidFill>
              <a:srgbClr val="C3D4CC"/>
            </a:solidFill>
            <a:prstDash val="solid"/>
          </a:ln>
        </p:spPr>
      </p:sp>
      <p:sp>
        <p:nvSpPr>
          <p:cNvPr id="13" name="Shape 11"/>
          <p:cNvSpPr/>
          <p:nvPr/>
        </p:nvSpPr>
        <p:spPr>
          <a:xfrm>
            <a:off x="9608582" y="2331482"/>
            <a:ext cx="121920" cy="2698909"/>
          </a:xfrm>
          <a:prstGeom prst="roundRect">
            <a:avLst>
              <a:gd name="adj" fmla="val 75698"/>
            </a:avLst>
          </a:prstGeom>
          <a:solidFill>
            <a:srgbClr val="224435"/>
          </a:solidFill>
          <a:ln/>
        </p:spPr>
      </p:sp>
      <p:sp>
        <p:nvSpPr>
          <p:cNvPr id="14" name="Text 12"/>
          <p:cNvSpPr/>
          <p:nvPr/>
        </p:nvSpPr>
        <p:spPr>
          <a:xfrm>
            <a:off x="9980652" y="2581632"/>
            <a:ext cx="3630573" cy="686514"/>
          </a:xfrm>
          <a:prstGeom prst="rect">
            <a:avLst/>
          </a:prstGeom>
          <a:noFill/>
          <a:ln/>
        </p:spPr>
        <p:txBody>
          <a:bodyPr wrap="square" lIns="0" tIns="0" rIns="0" bIns="0" rtlCol="0" anchor="t"/>
          <a:lstStyle/>
          <a:p>
            <a:pPr algn="l" indent="0" marL="0">
              <a:lnSpc>
                <a:spcPts val="2700"/>
              </a:lnSpc>
              <a:buNone/>
            </a:pPr>
            <a:r>
              <a:rPr lang="en-US" sz="2150" b="1" dirty="0">
                <a:solidFill>
                  <a:srgbClr val="3B4E4E"/>
                </a:solidFill>
                <a:latin typeface="Syne Bold" pitchFamily="34" charset="0"/>
                <a:ea typeface="Syne Bold" pitchFamily="34" charset="-122"/>
                <a:cs typeface="Syne Bold" pitchFamily="34" charset="-120"/>
              </a:rPr>
              <a:t>No Accountability Mechanisms</a:t>
            </a:r>
            <a:endParaRPr lang="en-US" sz="2150" dirty="0"/>
          </a:p>
        </p:txBody>
      </p:sp>
      <p:sp>
        <p:nvSpPr>
          <p:cNvPr id="15" name="Text 13"/>
          <p:cNvSpPr/>
          <p:nvPr/>
        </p:nvSpPr>
        <p:spPr>
          <a:xfrm>
            <a:off x="9980652" y="3395782"/>
            <a:ext cx="3630573" cy="1038344"/>
          </a:xfrm>
          <a:prstGeom prst="rect">
            <a:avLst/>
          </a:prstGeom>
          <a:noFill/>
          <a:ln/>
        </p:spPr>
        <p:txBody>
          <a:bodyPr wrap="square" lIns="0" tIns="0" rIns="0" bIns="0" rtlCol="0" anchor="t"/>
          <a:lstStyle/>
          <a:p>
            <a:pPr algn="l" indent="0" marL="0">
              <a:lnSpc>
                <a:spcPts val="2700"/>
              </a:lnSpc>
              <a:buNone/>
            </a:pPr>
            <a:r>
              <a:rPr lang="en-US" sz="1700" dirty="0">
                <a:solidFill>
                  <a:srgbClr val="3B4E4E"/>
                </a:solidFill>
                <a:latin typeface="Overpass Light" pitchFamily="34" charset="0"/>
                <a:ea typeface="Overpass Light" pitchFamily="34" charset="-122"/>
                <a:cs typeface="Overpass Light" pitchFamily="34" charset="-120"/>
              </a:rPr>
              <a:t>Without clear ownership and deadlines, complaints languish indefinitely without resolution</a:t>
            </a:r>
            <a:endParaRPr lang="en-US" sz="1700" dirty="0"/>
          </a:p>
        </p:txBody>
      </p:sp>
      <p:sp>
        <p:nvSpPr>
          <p:cNvPr id="16" name="Shape 14"/>
          <p:cNvSpPr/>
          <p:nvPr/>
        </p:nvSpPr>
        <p:spPr>
          <a:xfrm>
            <a:off x="769025" y="5243155"/>
            <a:ext cx="4222194" cy="2352794"/>
          </a:xfrm>
          <a:prstGeom prst="roundRect">
            <a:avLst>
              <a:gd name="adj" fmla="val 6218"/>
            </a:avLst>
          </a:prstGeom>
          <a:solidFill>
            <a:srgbClr val="FFFDE6"/>
          </a:solidFill>
          <a:ln w="30480">
            <a:solidFill>
              <a:srgbClr val="C3D4CC"/>
            </a:solidFill>
            <a:prstDash val="solid"/>
          </a:ln>
        </p:spPr>
      </p:sp>
      <p:sp>
        <p:nvSpPr>
          <p:cNvPr id="17" name="Shape 15"/>
          <p:cNvSpPr/>
          <p:nvPr/>
        </p:nvSpPr>
        <p:spPr>
          <a:xfrm>
            <a:off x="738545" y="5243155"/>
            <a:ext cx="121920" cy="2352794"/>
          </a:xfrm>
          <a:prstGeom prst="roundRect">
            <a:avLst>
              <a:gd name="adj" fmla="val 75698"/>
            </a:avLst>
          </a:prstGeom>
          <a:solidFill>
            <a:srgbClr val="224435"/>
          </a:solidFill>
          <a:ln/>
        </p:spPr>
      </p:sp>
      <p:sp>
        <p:nvSpPr>
          <p:cNvPr id="18" name="Text 16"/>
          <p:cNvSpPr/>
          <p:nvPr/>
        </p:nvSpPr>
        <p:spPr>
          <a:xfrm>
            <a:off x="1110615" y="5493306"/>
            <a:ext cx="3630454" cy="686514"/>
          </a:xfrm>
          <a:prstGeom prst="rect">
            <a:avLst/>
          </a:prstGeom>
          <a:noFill/>
          <a:ln/>
        </p:spPr>
        <p:txBody>
          <a:bodyPr wrap="square" lIns="0" tIns="0" rIns="0" bIns="0" rtlCol="0" anchor="t"/>
          <a:lstStyle/>
          <a:p>
            <a:pPr algn="l" indent="0" marL="0">
              <a:lnSpc>
                <a:spcPts val="2700"/>
              </a:lnSpc>
              <a:buNone/>
            </a:pPr>
            <a:r>
              <a:rPr lang="en-US" sz="2150" b="1" dirty="0">
                <a:solidFill>
                  <a:srgbClr val="3B4E4E"/>
                </a:solidFill>
                <a:latin typeface="Syne Bold" pitchFamily="34" charset="0"/>
                <a:ea typeface="Syne Bold" pitchFamily="34" charset="-122"/>
                <a:cs typeface="Syne Bold" pitchFamily="34" charset="-120"/>
              </a:rPr>
              <a:t>Missing Real-Time Updates</a:t>
            </a:r>
            <a:endParaRPr lang="en-US" sz="2150" dirty="0"/>
          </a:p>
        </p:txBody>
      </p:sp>
      <p:sp>
        <p:nvSpPr>
          <p:cNvPr id="19" name="Text 17"/>
          <p:cNvSpPr/>
          <p:nvPr/>
        </p:nvSpPr>
        <p:spPr>
          <a:xfrm>
            <a:off x="1110615" y="6307455"/>
            <a:ext cx="3630454" cy="1038344"/>
          </a:xfrm>
          <a:prstGeom prst="rect">
            <a:avLst/>
          </a:prstGeom>
          <a:noFill/>
          <a:ln/>
        </p:spPr>
        <p:txBody>
          <a:bodyPr wrap="square" lIns="0" tIns="0" rIns="0" bIns="0" rtlCol="0" anchor="t"/>
          <a:lstStyle/>
          <a:p>
            <a:pPr algn="l" indent="0" marL="0">
              <a:lnSpc>
                <a:spcPts val="2700"/>
              </a:lnSpc>
              <a:buNone/>
            </a:pPr>
            <a:r>
              <a:rPr lang="en-US" sz="1700" dirty="0">
                <a:solidFill>
                  <a:srgbClr val="3B4E4E"/>
                </a:solidFill>
                <a:latin typeface="Overpass Light" pitchFamily="34" charset="0"/>
                <a:ea typeface="Overpass Light" pitchFamily="34" charset="-122"/>
                <a:cs typeface="Overpass Light" pitchFamily="34" charset="-120"/>
              </a:rPr>
              <a:t>Students receive no notifications about progress, forcing them to repeatedly visit offices</a:t>
            </a:r>
            <a:endParaRPr lang="en-US" sz="1700" dirty="0"/>
          </a:p>
        </p:txBody>
      </p:sp>
      <p:sp>
        <p:nvSpPr>
          <p:cNvPr id="20" name="Shape 18"/>
          <p:cNvSpPr/>
          <p:nvPr/>
        </p:nvSpPr>
        <p:spPr>
          <a:xfrm>
            <a:off x="5203984" y="5243155"/>
            <a:ext cx="4222313" cy="2352794"/>
          </a:xfrm>
          <a:prstGeom prst="roundRect">
            <a:avLst>
              <a:gd name="adj" fmla="val 6218"/>
            </a:avLst>
          </a:prstGeom>
          <a:solidFill>
            <a:srgbClr val="FFFDE6"/>
          </a:solidFill>
          <a:ln w="30480">
            <a:solidFill>
              <a:srgbClr val="C3D4CC"/>
            </a:solidFill>
            <a:prstDash val="solid"/>
          </a:ln>
        </p:spPr>
      </p:sp>
      <p:sp>
        <p:nvSpPr>
          <p:cNvPr id="21" name="Shape 19"/>
          <p:cNvSpPr/>
          <p:nvPr/>
        </p:nvSpPr>
        <p:spPr>
          <a:xfrm>
            <a:off x="5173504" y="5243155"/>
            <a:ext cx="121920" cy="2352794"/>
          </a:xfrm>
          <a:prstGeom prst="roundRect">
            <a:avLst>
              <a:gd name="adj" fmla="val 75698"/>
            </a:avLst>
          </a:prstGeom>
          <a:solidFill>
            <a:srgbClr val="224435"/>
          </a:solidFill>
          <a:ln/>
        </p:spPr>
      </p:sp>
      <p:sp>
        <p:nvSpPr>
          <p:cNvPr id="22" name="Text 20"/>
          <p:cNvSpPr/>
          <p:nvPr/>
        </p:nvSpPr>
        <p:spPr>
          <a:xfrm>
            <a:off x="5545574" y="5493306"/>
            <a:ext cx="3630573" cy="686514"/>
          </a:xfrm>
          <a:prstGeom prst="rect">
            <a:avLst/>
          </a:prstGeom>
          <a:noFill/>
          <a:ln/>
        </p:spPr>
        <p:txBody>
          <a:bodyPr wrap="square" lIns="0" tIns="0" rIns="0" bIns="0" rtlCol="0" anchor="t"/>
          <a:lstStyle/>
          <a:p>
            <a:pPr algn="l" indent="0" marL="0">
              <a:lnSpc>
                <a:spcPts val="2700"/>
              </a:lnSpc>
              <a:buNone/>
            </a:pPr>
            <a:r>
              <a:rPr lang="en-US" sz="2150" b="1" dirty="0">
                <a:solidFill>
                  <a:srgbClr val="3B4E4E"/>
                </a:solidFill>
                <a:latin typeface="Syne Bold" pitchFamily="34" charset="0"/>
                <a:ea typeface="Syne Bold" pitchFamily="34" charset="-122"/>
                <a:cs typeface="Syne Bold" pitchFamily="34" charset="-120"/>
              </a:rPr>
              <a:t>Poor Communication Channels</a:t>
            </a:r>
            <a:endParaRPr lang="en-US" sz="2150" dirty="0"/>
          </a:p>
        </p:txBody>
      </p:sp>
      <p:sp>
        <p:nvSpPr>
          <p:cNvPr id="23" name="Text 21"/>
          <p:cNvSpPr/>
          <p:nvPr/>
        </p:nvSpPr>
        <p:spPr>
          <a:xfrm>
            <a:off x="5545574" y="6307455"/>
            <a:ext cx="3630573" cy="1038344"/>
          </a:xfrm>
          <a:prstGeom prst="rect">
            <a:avLst/>
          </a:prstGeom>
          <a:noFill/>
          <a:ln/>
        </p:spPr>
        <p:txBody>
          <a:bodyPr wrap="square" lIns="0" tIns="0" rIns="0" bIns="0" rtlCol="0" anchor="t"/>
          <a:lstStyle/>
          <a:p>
            <a:pPr algn="l" indent="0" marL="0">
              <a:lnSpc>
                <a:spcPts val="2700"/>
              </a:lnSpc>
              <a:buNone/>
            </a:pPr>
            <a:r>
              <a:rPr lang="en-US" sz="1700" dirty="0">
                <a:solidFill>
                  <a:srgbClr val="3B4E4E"/>
                </a:solidFill>
                <a:latin typeface="Overpass Light" pitchFamily="34" charset="0"/>
                <a:ea typeface="Overpass Light" pitchFamily="34" charset="-122"/>
                <a:cs typeface="Overpass Light" pitchFamily="34" charset="-120"/>
              </a:rPr>
              <a:t>Lack of direct communication between students and faculty creates frustration and delays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56642" y="657820"/>
            <a:ext cx="5428059" cy="675680"/>
          </a:xfrm>
          <a:prstGeom prst="rect">
            <a:avLst/>
          </a:prstGeom>
          <a:noFill/>
          <a:ln/>
        </p:spPr>
        <p:txBody>
          <a:bodyPr wrap="none" lIns="0" tIns="0" rIns="0" bIns="0" rtlCol="0" anchor="t"/>
          <a:lstStyle/>
          <a:p>
            <a:pPr algn="l" indent="0" marL="0">
              <a:lnSpc>
                <a:spcPts val="5300"/>
              </a:lnSpc>
              <a:buNone/>
            </a:pPr>
            <a:r>
              <a:rPr lang="en-US" sz="4250" b="1" dirty="0">
                <a:solidFill>
                  <a:srgbClr val="233939"/>
                </a:solidFill>
                <a:latin typeface="Syne Bold" pitchFamily="34" charset="0"/>
                <a:ea typeface="Syne Bold" pitchFamily="34" charset="-122"/>
                <a:cs typeface="Syne Bold" pitchFamily="34" charset="-120"/>
              </a:rPr>
              <a:t>Project Objectives</a:t>
            </a:r>
            <a:endParaRPr lang="en-US" sz="4250" dirty="0"/>
          </a:p>
        </p:txBody>
      </p:sp>
      <p:sp>
        <p:nvSpPr>
          <p:cNvPr id="3" name="Text 1"/>
          <p:cNvSpPr/>
          <p:nvPr/>
        </p:nvSpPr>
        <p:spPr>
          <a:xfrm>
            <a:off x="756642" y="1745575"/>
            <a:ext cx="432316" cy="270153"/>
          </a:xfrm>
          <a:prstGeom prst="rect">
            <a:avLst/>
          </a:prstGeom>
          <a:noFill/>
          <a:ln/>
        </p:spPr>
        <p:txBody>
          <a:bodyPr wrap="none" lIns="0" tIns="0" rIns="0" bIns="0" rtlCol="0" anchor="ctr"/>
          <a:lstStyle/>
          <a:p>
            <a:pPr algn="l" indent="0" marL="0">
              <a:lnSpc>
                <a:spcPts val="2650"/>
              </a:lnSpc>
              <a:buNone/>
            </a:pPr>
            <a:r>
              <a:rPr lang="en-US" sz="1700" dirty="0">
                <a:solidFill>
                  <a:srgbClr val="3B4E4E"/>
                </a:solidFill>
                <a:latin typeface="Syne Light" pitchFamily="34" charset="0"/>
                <a:ea typeface="Syne Light" pitchFamily="34" charset="-122"/>
                <a:cs typeface="Syne Light" pitchFamily="34" charset="-120"/>
              </a:rPr>
              <a:t>01</a:t>
            </a:r>
            <a:endParaRPr lang="en-US" sz="1700" dirty="0"/>
          </a:p>
        </p:txBody>
      </p:sp>
      <p:sp>
        <p:nvSpPr>
          <p:cNvPr id="4" name="Shape 2"/>
          <p:cNvSpPr/>
          <p:nvPr/>
        </p:nvSpPr>
        <p:spPr>
          <a:xfrm>
            <a:off x="756642" y="2082403"/>
            <a:ext cx="6455569" cy="30480"/>
          </a:xfrm>
          <a:prstGeom prst="rect">
            <a:avLst/>
          </a:prstGeom>
          <a:solidFill>
            <a:srgbClr val="224435"/>
          </a:solidFill>
          <a:ln/>
        </p:spPr>
      </p:sp>
      <p:sp>
        <p:nvSpPr>
          <p:cNvPr id="5" name="Text 3"/>
          <p:cNvSpPr/>
          <p:nvPr/>
        </p:nvSpPr>
        <p:spPr>
          <a:xfrm>
            <a:off x="756642" y="2251353"/>
            <a:ext cx="4123373" cy="337780"/>
          </a:xfrm>
          <a:prstGeom prst="rect">
            <a:avLst/>
          </a:prstGeom>
          <a:noFill/>
          <a:ln/>
        </p:spPr>
        <p:txBody>
          <a:bodyPr wrap="none" lIns="0" tIns="0" rIns="0" bIns="0" rtlCol="0" anchor="t"/>
          <a:lstStyle/>
          <a:p>
            <a:pPr algn="l" indent="0" marL="0">
              <a:lnSpc>
                <a:spcPts val="2650"/>
              </a:lnSpc>
              <a:buNone/>
            </a:pPr>
            <a:r>
              <a:rPr lang="en-US" sz="2100" b="1" dirty="0">
                <a:solidFill>
                  <a:srgbClr val="3B4E4E"/>
                </a:solidFill>
                <a:latin typeface="Syne Bold" pitchFamily="34" charset="0"/>
                <a:ea typeface="Syne Bold" pitchFamily="34" charset="-122"/>
                <a:cs typeface="Syne Bold" pitchFamily="34" charset="-120"/>
              </a:rPr>
              <a:t>Centralized Digital Platform</a:t>
            </a:r>
            <a:endParaRPr lang="en-US" sz="2100" dirty="0"/>
          </a:p>
        </p:txBody>
      </p:sp>
      <p:sp>
        <p:nvSpPr>
          <p:cNvPr id="6" name="Text 4"/>
          <p:cNvSpPr/>
          <p:nvPr/>
        </p:nvSpPr>
        <p:spPr>
          <a:xfrm>
            <a:off x="756642" y="2712720"/>
            <a:ext cx="6455569" cy="675561"/>
          </a:xfrm>
          <a:prstGeom prst="rect">
            <a:avLst/>
          </a:prstGeom>
          <a:noFill/>
          <a:ln/>
        </p:spPr>
        <p:txBody>
          <a:bodyPr wrap="square" lIns="0" tIns="0" rIns="0" bIns="0" rtlCol="0" anchor="t"/>
          <a:lstStyle/>
          <a:p>
            <a:pPr algn="l" indent="0" marL="0">
              <a:lnSpc>
                <a:spcPts val="2650"/>
              </a:lnSpc>
              <a:buNone/>
            </a:pPr>
            <a:r>
              <a:rPr lang="en-US" sz="1700" dirty="0">
                <a:solidFill>
                  <a:srgbClr val="3B4E4E"/>
                </a:solidFill>
                <a:latin typeface="Overpass Light" pitchFamily="34" charset="0"/>
                <a:ea typeface="Overpass Light" pitchFamily="34" charset="-122"/>
                <a:cs typeface="Overpass Light" pitchFamily="34" charset="-120"/>
              </a:rPr>
              <a:t>Unified system for all complaint categories accessible to students, faculty, and administrators</a:t>
            </a:r>
            <a:endParaRPr lang="en-US" sz="1700" dirty="0"/>
          </a:p>
        </p:txBody>
      </p:sp>
      <p:sp>
        <p:nvSpPr>
          <p:cNvPr id="7" name="Text 5"/>
          <p:cNvSpPr/>
          <p:nvPr/>
        </p:nvSpPr>
        <p:spPr>
          <a:xfrm>
            <a:off x="7418189" y="1745575"/>
            <a:ext cx="432316" cy="270153"/>
          </a:xfrm>
          <a:prstGeom prst="rect">
            <a:avLst/>
          </a:prstGeom>
          <a:noFill/>
          <a:ln/>
        </p:spPr>
        <p:txBody>
          <a:bodyPr wrap="none" lIns="0" tIns="0" rIns="0" bIns="0" rtlCol="0" anchor="ctr"/>
          <a:lstStyle/>
          <a:p>
            <a:pPr algn="l" indent="0" marL="0">
              <a:lnSpc>
                <a:spcPts val="2650"/>
              </a:lnSpc>
              <a:buNone/>
            </a:pPr>
            <a:r>
              <a:rPr lang="en-US" sz="1700" dirty="0">
                <a:solidFill>
                  <a:srgbClr val="3B4E4E"/>
                </a:solidFill>
                <a:latin typeface="Syne Light" pitchFamily="34" charset="0"/>
                <a:ea typeface="Syne Light" pitchFamily="34" charset="-122"/>
                <a:cs typeface="Syne Light" pitchFamily="34" charset="-120"/>
              </a:rPr>
              <a:t>02</a:t>
            </a:r>
            <a:endParaRPr lang="en-US" sz="1700" dirty="0"/>
          </a:p>
        </p:txBody>
      </p:sp>
      <p:sp>
        <p:nvSpPr>
          <p:cNvPr id="8" name="Shape 6"/>
          <p:cNvSpPr/>
          <p:nvPr/>
        </p:nvSpPr>
        <p:spPr>
          <a:xfrm>
            <a:off x="7418189" y="2082403"/>
            <a:ext cx="6455569" cy="30480"/>
          </a:xfrm>
          <a:prstGeom prst="rect">
            <a:avLst/>
          </a:prstGeom>
          <a:solidFill>
            <a:srgbClr val="224435"/>
          </a:solidFill>
          <a:ln/>
        </p:spPr>
      </p:sp>
      <p:sp>
        <p:nvSpPr>
          <p:cNvPr id="9" name="Text 7"/>
          <p:cNvSpPr/>
          <p:nvPr/>
        </p:nvSpPr>
        <p:spPr>
          <a:xfrm>
            <a:off x="7418189" y="2251353"/>
            <a:ext cx="3909655" cy="337780"/>
          </a:xfrm>
          <a:prstGeom prst="rect">
            <a:avLst/>
          </a:prstGeom>
          <a:noFill/>
          <a:ln/>
        </p:spPr>
        <p:txBody>
          <a:bodyPr wrap="none" lIns="0" tIns="0" rIns="0" bIns="0" rtlCol="0" anchor="t"/>
          <a:lstStyle/>
          <a:p>
            <a:pPr algn="l" indent="0" marL="0">
              <a:lnSpc>
                <a:spcPts val="2650"/>
              </a:lnSpc>
              <a:buNone/>
            </a:pPr>
            <a:r>
              <a:rPr lang="en-US" sz="2100" b="1" dirty="0">
                <a:solidFill>
                  <a:srgbClr val="3B4E4E"/>
                </a:solidFill>
                <a:latin typeface="Syne Bold" pitchFamily="34" charset="0"/>
                <a:ea typeface="Syne Bold" pitchFamily="34" charset="-122"/>
                <a:cs typeface="Syne Bold" pitchFamily="34" charset="-120"/>
              </a:rPr>
              <a:t>Real-Time Status Tracking</a:t>
            </a:r>
            <a:endParaRPr lang="en-US" sz="2100" dirty="0"/>
          </a:p>
        </p:txBody>
      </p:sp>
      <p:sp>
        <p:nvSpPr>
          <p:cNvPr id="10" name="Text 8"/>
          <p:cNvSpPr/>
          <p:nvPr/>
        </p:nvSpPr>
        <p:spPr>
          <a:xfrm>
            <a:off x="7418189" y="2712720"/>
            <a:ext cx="6455569" cy="675561"/>
          </a:xfrm>
          <a:prstGeom prst="rect">
            <a:avLst/>
          </a:prstGeom>
          <a:noFill/>
          <a:ln/>
        </p:spPr>
        <p:txBody>
          <a:bodyPr wrap="square" lIns="0" tIns="0" rIns="0" bIns="0" rtlCol="0" anchor="t"/>
          <a:lstStyle/>
          <a:p>
            <a:pPr algn="l" indent="0" marL="0">
              <a:lnSpc>
                <a:spcPts val="2650"/>
              </a:lnSpc>
              <a:buNone/>
            </a:pPr>
            <a:r>
              <a:rPr lang="en-US" sz="1700" dirty="0">
                <a:solidFill>
                  <a:srgbClr val="3B4E4E"/>
                </a:solidFill>
                <a:latin typeface="Overpass Light" pitchFamily="34" charset="0"/>
                <a:ea typeface="Overpass Light" pitchFamily="34" charset="-122"/>
                <a:cs typeface="Overpass Light" pitchFamily="34" charset="-120"/>
              </a:rPr>
              <a:t>Live updates on complaint progress with timestamped milestones visible to all stakeholders</a:t>
            </a:r>
            <a:endParaRPr lang="en-US" sz="1700" dirty="0"/>
          </a:p>
        </p:txBody>
      </p:sp>
      <p:sp>
        <p:nvSpPr>
          <p:cNvPr id="11" name="Text 9"/>
          <p:cNvSpPr/>
          <p:nvPr/>
        </p:nvSpPr>
        <p:spPr>
          <a:xfrm>
            <a:off x="756642" y="3756303"/>
            <a:ext cx="432316" cy="270153"/>
          </a:xfrm>
          <a:prstGeom prst="rect">
            <a:avLst/>
          </a:prstGeom>
          <a:noFill/>
          <a:ln/>
        </p:spPr>
        <p:txBody>
          <a:bodyPr wrap="none" lIns="0" tIns="0" rIns="0" bIns="0" rtlCol="0" anchor="ctr"/>
          <a:lstStyle/>
          <a:p>
            <a:pPr algn="l" indent="0" marL="0">
              <a:lnSpc>
                <a:spcPts val="2650"/>
              </a:lnSpc>
              <a:buNone/>
            </a:pPr>
            <a:r>
              <a:rPr lang="en-US" sz="1700" dirty="0">
                <a:solidFill>
                  <a:srgbClr val="3B4E4E"/>
                </a:solidFill>
                <a:latin typeface="Syne Light" pitchFamily="34" charset="0"/>
                <a:ea typeface="Syne Light" pitchFamily="34" charset="-122"/>
                <a:cs typeface="Syne Light" pitchFamily="34" charset="-120"/>
              </a:rPr>
              <a:t>03</a:t>
            </a:r>
            <a:endParaRPr lang="en-US" sz="1700" dirty="0"/>
          </a:p>
        </p:txBody>
      </p:sp>
      <p:sp>
        <p:nvSpPr>
          <p:cNvPr id="12" name="Shape 10"/>
          <p:cNvSpPr/>
          <p:nvPr/>
        </p:nvSpPr>
        <p:spPr>
          <a:xfrm>
            <a:off x="756642" y="4093131"/>
            <a:ext cx="6455569" cy="30480"/>
          </a:xfrm>
          <a:prstGeom prst="rect">
            <a:avLst/>
          </a:prstGeom>
          <a:solidFill>
            <a:srgbClr val="224435"/>
          </a:solidFill>
          <a:ln/>
        </p:spPr>
      </p:sp>
      <p:sp>
        <p:nvSpPr>
          <p:cNvPr id="13" name="Text 11"/>
          <p:cNvSpPr/>
          <p:nvPr/>
        </p:nvSpPr>
        <p:spPr>
          <a:xfrm>
            <a:off x="756642" y="4262080"/>
            <a:ext cx="4050982" cy="337780"/>
          </a:xfrm>
          <a:prstGeom prst="rect">
            <a:avLst/>
          </a:prstGeom>
          <a:noFill/>
          <a:ln/>
        </p:spPr>
        <p:txBody>
          <a:bodyPr wrap="none" lIns="0" tIns="0" rIns="0" bIns="0" rtlCol="0" anchor="t"/>
          <a:lstStyle/>
          <a:p>
            <a:pPr algn="l" indent="0" marL="0">
              <a:lnSpc>
                <a:spcPts val="2650"/>
              </a:lnSpc>
              <a:buNone/>
            </a:pPr>
            <a:r>
              <a:rPr lang="en-US" sz="2100" b="1" dirty="0">
                <a:solidFill>
                  <a:srgbClr val="3B4E4E"/>
                </a:solidFill>
                <a:latin typeface="Syne Bold" pitchFamily="34" charset="0"/>
                <a:ea typeface="Syne Bold" pitchFamily="34" charset="-122"/>
                <a:cs typeface="Syne Bold" pitchFamily="34" charset="-120"/>
              </a:rPr>
              <a:t>Role-Based Access Control</a:t>
            </a:r>
            <a:endParaRPr lang="en-US" sz="2100" dirty="0"/>
          </a:p>
        </p:txBody>
      </p:sp>
      <p:sp>
        <p:nvSpPr>
          <p:cNvPr id="14" name="Text 12"/>
          <p:cNvSpPr/>
          <p:nvPr/>
        </p:nvSpPr>
        <p:spPr>
          <a:xfrm>
            <a:off x="756642" y="4723448"/>
            <a:ext cx="6455569" cy="675561"/>
          </a:xfrm>
          <a:prstGeom prst="rect">
            <a:avLst/>
          </a:prstGeom>
          <a:noFill/>
          <a:ln/>
        </p:spPr>
        <p:txBody>
          <a:bodyPr wrap="square" lIns="0" tIns="0" rIns="0" bIns="0" rtlCol="0" anchor="t"/>
          <a:lstStyle/>
          <a:p>
            <a:pPr algn="l" indent="0" marL="0">
              <a:lnSpc>
                <a:spcPts val="2650"/>
              </a:lnSpc>
              <a:buNone/>
            </a:pPr>
            <a:r>
              <a:rPr lang="en-US" sz="1700" dirty="0">
                <a:solidFill>
                  <a:srgbClr val="3B4E4E"/>
                </a:solidFill>
                <a:latin typeface="Overpass Light" pitchFamily="34" charset="0"/>
                <a:ea typeface="Overpass Light" pitchFamily="34" charset="-122"/>
                <a:cs typeface="Overpass Light" pitchFamily="34" charset="-120"/>
              </a:rPr>
              <a:t>Granular permissions ensuring appropriate access levels for different user types</a:t>
            </a:r>
            <a:endParaRPr lang="en-US" sz="1700" dirty="0"/>
          </a:p>
        </p:txBody>
      </p:sp>
      <p:sp>
        <p:nvSpPr>
          <p:cNvPr id="15" name="Text 13"/>
          <p:cNvSpPr/>
          <p:nvPr/>
        </p:nvSpPr>
        <p:spPr>
          <a:xfrm>
            <a:off x="7418189" y="3756303"/>
            <a:ext cx="432316" cy="270153"/>
          </a:xfrm>
          <a:prstGeom prst="rect">
            <a:avLst/>
          </a:prstGeom>
          <a:noFill/>
          <a:ln/>
        </p:spPr>
        <p:txBody>
          <a:bodyPr wrap="none" lIns="0" tIns="0" rIns="0" bIns="0" rtlCol="0" anchor="ctr"/>
          <a:lstStyle/>
          <a:p>
            <a:pPr algn="l" indent="0" marL="0">
              <a:lnSpc>
                <a:spcPts val="2650"/>
              </a:lnSpc>
              <a:buNone/>
            </a:pPr>
            <a:r>
              <a:rPr lang="en-US" sz="1700" dirty="0">
                <a:solidFill>
                  <a:srgbClr val="3B4E4E"/>
                </a:solidFill>
                <a:latin typeface="Syne Light" pitchFamily="34" charset="0"/>
                <a:ea typeface="Syne Light" pitchFamily="34" charset="-122"/>
                <a:cs typeface="Syne Light" pitchFamily="34" charset="-120"/>
              </a:rPr>
              <a:t>04</a:t>
            </a:r>
            <a:endParaRPr lang="en-US" sz="1700" dirty="0"/>
          </a:p>
        </p:txBody>
      </p:sp>
      <p:sp>
        <p:nvSpPr>
          <p:cNvPr id="16" name="Shape 14"/>
          <p:cNvSpPr/>
          <p:nvPr/>
        </p:nvSpPr>
        <p:spPr>
          <a:xfrm>
            <a:off x="7418189" y="4093131"/>
            <a:ext cx="6455569" cy="30480"/>
          </a:xfrm>
          <a:prstGeom prst="rect">
            <a:avLst/>
          </a:prstGeom>
          <a:solidFill>
            <a:srgbClr val="224435"/>
          </a:solidFill>
          <a:ln/>
        </p:spPr>
      </p:sp>
      <p:sp>
        <p:nvSpPr>
          <p:cNvPr id="17" name="Text 15"/>
          <p:cNvSpPr/>
          <p:nvPr/>
        </p:nvSpPr>
        <p:spPr>
          <a:xfrm>
            <a:off x="7418189" y="4262080"/>
            <a:ext cx="3708202" cy="337780"/>
          </a:xfrm>
          <a:prstGeom prst="rect">
            <a:avLst/>
          </a:prstGeom>
          <a:noFill/>
          <a:ln/>
        </p:spPr>
        <p:txBody>
          <a:bodyPr wrap="none" lIns="0" tIns="0" rIns="0" bIns="0" rtlCol="0" anchor="t"/>
          <a:lstStyle/>
          <a:p>
            <a:pPr algn="l" indent="0" marL="0">
              <a:lnSpc>
                <a:spcPts val="2650"/>
              </a:lnSpc>
              <a:buNone/>
            </a:pPr>
            <a:r>
              <a:rPr lang="en-US" sz="2100" b="1" dirty="0">
                <a:solidFill>
                  <a:srgbClr val="3B4E4E"/>
                </a:solidFill>
                <a:latin typeface="Syne Bold" pitchFamily="34" charset="0"/>
                <a:ea typeface="Syne Bold" pitchFamily="34" charset="-122"/>
                <a:cs typeface="Syne Bold" pitchFamily="34" charset="-120"/>
              </a:rPr>
              <a:t>SLA Enforcement Engine</a:t>
            </a:r>
            <a:endParaRPr lang="en-US" sz="2100" dirty="0"/>
          </a:p>
        </p:txBody>
      </p:sp>
      <p:sp>
        <p:nvSpPr>
          <p:cNvPr id="18" name="Text 16"/>
          <p:cNvSpPr/>
          <p:nvPr/>
        </p:nvSpPr>
        <p:spPr>
          <a:xfrm>
            <a:off x="7418189" y="4723448"/>
            <a:ext cx="6455569" cy="675561"/>
          </a:xfrm>
          <a:prstGeom prst="rect">
            <a:avLst/>
          </a:prstGeom>
          <a:noFill/>
          <a:ln/>
        </p:spPr>
        <p:txBody>
          <a:bodyPr wrap="square" lIns="0" tIns="0" rIns="0" bIns="0" rtlCol="0" anchor="t"/>
          <a:lstStyle/>
          <a:p>
            <a:pPr algn="l" indent="0" marL="0">
              <a:lnSpc>
                <a:spcPts val="2650"/>
              </a:lnSpc>
              <a:buNone/>
            </a:pPr>
            <a:r>
              <a:rPr lang="en-US" sz="1700" dirty="0">
                <a:solidFill>
                  <a:srgbClr val="3B4E4E"/>
                </a:solidFill>
                <a:latin typeface="Overpass Light" pitchFamily="34" charset="0"/>
                <a:ea typeface="Overpass Light" pitchFamily="34" charset="-122"/>
                <a:cs typeface="Overpass Light" pitchFamily="34" charset="-120"/>
              </a:rPr>
              <a:t>Automated deadline tracking with escalation protocols for overdue complaints</a:t>
            </a:r>
            <a:endParaRPr lang="en-US" sz="1700" dirty="0"/>
          </a:p>
        </p:txBody>
      </p:sp>
      <p:sp>
        <p:nvSpPr>
          <p:cNvPr id="19" name="Text 17"/>
          <p:cNvSpPr/>
          <p:nvPr/>
        </p:nvSpPr>
        <p:spPr>
          <a:xfrm>
            <a:off x="756642" y="5767030"/>
            <a:ext cx="432316" cy="270153"/>
          </a:xfrm>
          <a:prstGeom prst="rect">
            <a:avLst/>
          </a:prstGeom>
          <a:noFill/>
          <a:ln/>
        </p:spPr>
        <p:txBody>
          <a:bodyPr wrap="none" lIns="0" tIns="0" rIns="0" bIns="0" rtlCol="0" anchor="ctr"/>
          <a:lstStyle/>
          <a:p>
            <a:pPr algn="l" indent="0" marL="0">
              <a:lnSpc>
                <a:spcPts val="2650"/>
              </a:lnSpc>
              <a:buNone/>
            </a:pPr>
            <a:r>
              <a:rPr lang="en-US" sz="1700" dirty="0">
                <a:solidFill>
                  <a:srgbClr val="3B4E4E"/>
                </a:solidFill>
                <a:latin typeface="Syne Light" pitchFamily="34" charset="0"/>
                <a:ea typeface="Syne Light" pitchFamily="34" charset="-122"/>
                <a:cs typeface="Syne Light" pitchFamily="34" charset="-120"/>
              </a:rPr>
              <a:t>05</a:t>
            </a:r>
            <a:endParaRPr lang="en-US" sz="1700" dirty="0"/>
          </a:p>
        </p:txBody>
      </p:sp>
      <p:sp>
        <p:nvSpPr>
          <p:cNvPr id="20" name="Shape 18"/>
          <p:cNvSpPr/>
          <p:nvPr/>
        </p:nvSpPr>
        <p:spPr>
          <a:xfrm>
            <a:off x="756642" y="6103858"/>
            <a:ext cx="6455569" cy="30480"/>
          </a:xfrm>
          <a:prstGeom prst="rect">
            <a:avLst/>
          </a:prstGeom>
          <a:solidFill>
            <a:srgbClr val="224435"/>
          </a:solidFill>
          <a:ln/>
        </p:spPr>
      </p:sp>
      <p:sp>
        <p:nvSpPr>
          <p:cNvPr id="21" name="Text 19"/>
          <p:cNvSpPr/>
          <p:nvPr/>
        </p:nvSpPr>
        <p:spPr>
          <a:xfrm>
            <a:off x="756642" y="6272808"/>
            <a:ext cx="3072527" cy="337780"/>
          </a:xfrm>
          <a:prstGeom prst="rect">
            <a:avLst/>
          </a:prstGeom>
          <a:noFill/>
          <a:ln/>
        </p:spPr>
        <p:txBody>
          <a:bodyPr wrap="none" lIns="0" tIns="0" rIns="0" bIns="0" rtlCol="0" anchor="t"/>
          <a:lstStyle/>
          <a:p>
            <a:pPr algn="l" indent="0" marL="0">
              <a:lnSpc>
                <a:spcPts val="2650"/>
              </a:lnSpc>
              <a:buNone/>
            </a:pPr>
            <a:r>
              <a:rPr lang="en-US" sz="2100" b="1" dirty="0">
                <a:solidFill>
                  <a:srgbClr val="3B4E4E"/>
                </a:solidFill>
                <a:latin typeface="Syne Bold" pitchFamily="34" charset="0"/>
                <a:ea typeface="Syne Bold" pitchFamily="34" charset="-122"/>
                <a:cs typeface="Syne Bold" pitchFamily="34" charset="-120"/>
              </a:rPr>
              <a:t>JWT-Based Security</a:t>
            </a:r>
            <a:endParaRPr lang="en-US" sz="2100" dirty="0"/>
          </a:p>
        </p:txBody>
      </p:sp>
      <p:sp>
        <p:nvSpPr>
          <p:cNvPr id="22" name="Text 20"/>
          <p:cNvSpPr/>
          <p:nvPr/>
        </p:nvSpPr>
        <p:spPr>
          <a:xfrm>
            <a:off x="756642" y="6734175"/>
            <a:ext cx="6455569" cy="675561"/>
          </a:xfrm>
          <a:prstGeom prst="rect">
            <a:avLst/>
          </a:prstGeom>
          <a:noFill/>
          <a:ln/>
        </p:spPr>
        <p:txBody>
          <a:bodyPr wrap="square" lIns="0" tIns="0" rIns="0" bIns="0" rtlCol="0" anchor="t"/>
          <a:lstStyle/>
          <a:p>
            <a:pPr algn="l" indent="0" marL="0">
              <a:lnSpc>
                <a:spcPts val="2650"/>
              </a:lnSpc>
              <a:buNone/>
            </a:pPr>
            <a:r>
              <a:rPr lang="en-US" sz="1700" dirty="0">
                <a:solidFill>
                  <a:srgbClr val="3B4E4E"/>
                </a:solidFill>
                <a:latin typeface="Overpass Light" pitchFamily="34" charset="0"/>
                <a:ea typeface="Overpass Light" pitchFamily="34" charset="-122"/>
                <a:cs typeface="Overpass Light" pitchFamily="34" charset="-120"/>
              </a:rPr>
              <a:t>Encrypted authentication and secure data transmission protecting sensitive information</a:t>
            </a:r>
            <a:endParaRPr lang="en-US" sz="1700" dirty="0"/>
          </a:p>
        </p:txBody>
      </p:sp>
      <p:sp>
        <p:nvSpPr>
          <p:cNvPr id="23" name="Text 21"/>
          <p:cNvSpPr/>
          <p:nvPr/>
        </p:nvSpPr>
        <p:spPr>
          <a:xfrm>
            <a:off x="7418189" y="5767030"/>
            <a:ext cx="432316" cy="270153"/>
          </a:xfrm>
          <a:prstGeom prst="rect">
            <a:avLst/>
          </a:prstGeom>
          <a:noFill/>
          <a:ln/>
        </p:spPr>
        <p:txBody>
          <a:bodyPr wrap="none" lIns="0" tIns="0" rIns="0" bIns="0" rtlCol="0" anchor="ctr"/>
          <a:lstStyle/>
          <a:p>
            <a:pPr algn="l" indent="0" marL="0">
              <a:lnSpc>
                <a:spcPts val="2650"/>
              </a:lnSpc>
              <a:buNone/>
            </a:pPr>
            <a:r>
              <a:rPr lang="en-US" sz="1700" dirty="0">
                <a:solidFill>
                  <a:srgbClr val="3B4E4E"/>
                </a:solidFill>
                <a:latin typeface="Syne Light" pitchFamily="34" charset="0"/>
                <a:ea typeface="Syne Light" pitchFamily="34" charset="-122"/>
                <a:cs typeface="Syne Light" pitchFamily="34" charset="-120"/>
              </a:rPr>
              <a:t>06</a:t>
            </a:r>
            <a:endParaRPr lang="en-US" sz="1700" dirty="0"/>
          </a:p>
        </p:txBody>
      </p:sp>
      <p:sp>
        <p:nvSpPr>
          <p:cNvPr id="24" name="Shape 22"/>
          <p:cNvSpPr/>
          <p:nvPr/>
        </p:nvSpPr>
        <p:spPr>
          <a:xfrm>
            <a:off x="7418189" y="6103858"/>
            <a:ext cx="6455569" cy="30480"/>
          </a:xfrm>
          <a:prstGeom prst="rect">
            <a:avLst/>
          </a:prstGeom>
          <a:solidFill>
            <a:srgbClr val="224435"/>
          </a:solidFill>
          <a:ln/>
        </p:spPr>
      </p:sp>
      <p:sp>
        <p:nvSpPr>
          <p:cNvPr id="25" name="Text 23"/>
          <p:cNvSpPr/>
          <p:nvPr/>
        </p:nvSpPr>
        <p:spPr>
          <a:xfrm>
            <a:off x="7418189" y="6272808"/>
            <a:ext cx="3592592" cy="337780"/>
          </a:xfrm>
          <a:prstGeom prst="rect">
            <a:avLst/>
          </a:prstGeom>
          <a:noFill/>
          <a:ln/>
        </p:spPr>
        <p:txBody>
          <a:bodyPr wrap="none" lIns="0" tIns="0" rIns="0" bIns="0" rtlCol="0" anchor="t"/>
          <a:lstStyle/>
          <a:p>
            <a:pPr algn="l" indent="0" marL="0">
              <a:lnSpc>
                <a:spcPts val="2650"/>
              </a:lnSpc>
              <a:buNone/>
            </a:pPr>
            <a:r>
              <a:rPr lang="en-US" sz="2100" b="1" dirty="0">
                <a:solidFill>
                  <a:srgbClr val="3B4E4E"/>
                </a:solidFill>
                <a:latin typeface="Syne Bold" pitchFamily="34" charset="0"/>
                <a:ea typeface="Syne Bold" pitchFamily="34" charset="-122"/>
                <a:cs typeface="Syne Bold" pitchFamily="34" charset="-120"/>
              </a:rPr>
              <a:t>Administrative Analytics</a:t>
            </a:r>
            <a:endParaRPr lang="en-US" sz="2100" dirty="0"/>
          </a:p>
        </p:txBody>
      </p:sp>
      <p:sp>
        <p:nvSpPr>
          <p:cNvPr id="26" name="Text 24"/>
          <p:cNvSpPr/>
          <p:nvPr/>
        </p:nvSpPr>
        <p:spPr>
          <a:xfrm>
            <a:off x="7418189" y="6734175"/>
            <a:ext cx="6455569" cy="675561"/>
          </a:xfrm>
          <a:prstGeom prst="rect">
            <a:avLst/>
          </a:prstGeom>
          <a:noFill/>
          <a:ln/>
        </p:spPr>
        <p:txBody>
          <a:bodyPr wrap="square" lIns="0" tIns="0" rIns="0" bIns="0" rtlCol="0" anchor="t"/>
          <a:lstStyle/>
          <a:p>
            <a:pPr algn="l" indent="0" marL="0">
              <a:lnSpc>
                <a:spcPts val="2650"/>
              </a:lnSpc>
              <a:buNone/>
            </a:pPr>
            <a:r>
              <a:rPr lang="en-US" sz="1700" dirty="0">
                <a:solidFill>
                  <a:srgbClr val="3B4E4E"/>
                </a:solidFill>
                <a:latin typeface="Overpass Light" pitchFamily="34" charset="0"/>
                <a:ea typeface="Overpass Light" pitchFamily="34" charset="-122"/>
                <a:cs typeface="Overpass Light" pitchFamily="34" charset="-120"/>
              </a:rPr>
              <a:t>Comprehensive dashboards providing insights into complaint patterns and resolution metrics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999173"/>
            <a:ext cx="6305431" cy="708779"/>
          </a:xfrm>
          <a:prstGeom prst="rect">
            <a:avLst/>
          </a:prstGeom>
          <a:noFill/>
          <a:ln/>
        </p:spPr>
        <p:txBody>
          <a:bodyPr wrap="none" lIns="0" tIns="0" rIns="0" bIns="0" rtlCol="0" anchor="t"/>
          <a:lstStyle/>
          <a:p>
            <a:pPr algn="l" indent="0" marL="0">
              <a:lnSpc>
                <a:spcPts val="5550"/>
              </a:lnSpc>
              <a:buNone/>
            </a:pPr>
            <a:r>
              <a:rPr lang="en-US" sz="4450" b="1" dirty="0">
                <a:solidFill>
                  <a:srgbClr val="233939"/>
                </a:solidFill>
                <a:latin typeface="Syne Bold" pitchFamily="34" charset="0"/>
                <a:ea typeface="Syne Bold" pitchFamily="34" charset="-122"/>
                <a:cs typeface="Syne Bold" pitchFamily="34" charset="-120"/>
              </a:rPr>
              <a:t>Scope of the Project</a:t>
            </a:r>
            <a:endParaRPr lang="en-US" sz="4450" dirty="0"/>
          </a:p>
        </p:txBody>
      </p:sp>
      <p:sp>
        <p:nvSpPr>
          <p:cNvPr id="3" name="Text 1"/>
          <p:cNvSpPr/>
          <p:nvPr/>
        </p:nvSpPr>
        <p:spPr>
          <a:xfrm>
            <a:off x="793790" y="2274927"/>
            <a:ext cx="4523184" cy="425291"/>
          </a:xfrm>
          <a:prstGeom prst="rect">
            <a:avLst/>
          </a:prstGeom>
          <a:noFill/>
          <a:ln/>
        </p:spPr>
        <p:txBody>
          <a:bodyPr wrap="none" lIns="0" tIns="0" rIns="0" bIns="0" rtlCol="0" anchor="t"/>
          <a:lstStyle/>
          <a:p>
            <a:pPr algn="l" indent="0" marL="0">
              <a:lnSpc>
                <a:spcPts val="3300"/>
              </a:lnSpc>
              <a:buNone/>
            </a:pPr>
            <a:r>
              <a:rPr lang="en-US" sz="2650" b="1" dirty="0">
                <a:solidFill>
                  <a:srgbClr val="233939"/>
                </a:solidFill>
                <a:latin typeface="Syne Bold" pitchFamily="34" charset="0"/>
                <a:ea typeface="Syne Bold" pitchFamily="34" charset="-122"/>
                <a:cs typeface="Syne Bold" pitchFamily="34" charset="-120"/>
              </a:rPr>
              <a:t>Current Implementation</a:t>
            </a:r>
            <a:endParaRPr lang="en-US" sz="2650" dirty="0"/>
          </a:p>
        </p:txBody>
      </p:sp>
      <p:sp>
        <p:nvSpPr>
          <p:cNvPr id="4" name="Text 2"/>
          <p:cNvSpPr/>
          <p:nvPr/>
        </p:nvSpPr>
        <p:spPr>
          <a:xfrm>
            <a:off x="793790" y="2927032"/>
            <a:ext cx="6924437" cy="213169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B4E4E"/>
                </a:solidFill>
                <a:latin typeface="Overpass Light" pitchFamily="34" charset="0"/>
                <a:ea typeface="Overpass Light" pitchFamily="34" charset="-122"/>
                <a:cs typeface="Overpass Light" pitchFamily="34" charset="-120"/>
              </a:rPr>
              <a:t>Single-institution deployment at IILM University</a:t>
            </a:r>
            <a:endParaRPr lang="en-US" sz="1750" dirty="0"/>
          </a:p>
          <a:p>
            <a:pPr algn="l" marL="342900" indent="-342900">
              <a:lnSpc>
                <a:spcPts val="2850"/>
              </a:lnSpc>
              <a:buSzPct val="100000"/>
              <a:buChar char="•"/>
            </a:pPr>
            <a:r>
              <a:rPr lang="en-US" sz="1750" dirty="0">
                <a:solidFill>
                  <a:srgbClr val="3B4E4E"/>
                </a:solidFill>
                <a:latin typeface="Overpass Light" pitchFamily="34" charset="0"/>
                <a:ea typeface="Overpass Light" pitchFamily="34" charset="-122"/>
                <a:cs typeface="Overpass Light" pitchFamily="34" charset="-120"/>
              </a:rPr>
              <a:t>Covers entire student body and faculty members</a:t>
            </a:r>
            <a:endParaRPr lang="en-US" sz="1750" dirty="0"/>
          </a:p>
          <a:p>
            <a:pPr algn="l" marL="342900" indent="-342900">
              <a:lnSpc>
                <a:spcPts val="2850"/>
              </a:lnSpc>
              <a:buSzPct val="100000"/>
              <a:buChar char="•"/>
            </a:pPr>
            <a:r>
              <a:rPr lang="en-US" sz="1750" dirty="0">
                <a:solidFill>
                  <a:srgbClr val="3B4E4E"/>
                </a:solidFill>
                <a:latin typeface="Overpass Light" pitchFamily="34" charset="0"/>
                <a:ea typeface="Overpass Light" pitchFamily="34" charset="-122"/>
                <a:cs typeface="Overpass Light" pitchFamily="34" charset="-120"/>
              </a:rPr>
              <a:t>Full complaint lifecycle management from submission to closure</a:t>
            </a:r>
            <a:endParaRPr lang="en-US" sz="1750" dirty="0"/>
          </a:p>
          <a:p>
            <a:pPr algn="l" marL="342900" indent="-342900">
              <a:lnSpc>
                <a:spcPts val="2850"/>
              </a:lnSpc>
              <a:buSzPct val="100000"/>
              <a:buChar char="•"/>
            </a:pPr>
            <a:r>
              <a:rPr lang="en-US" sz="1750" dirty="0">
                <a:solidFill>
                  <a:srgbClr val="3B4E4E"/>
                </a:solidFill>
                <a:latin typeface="Overpass Light" pitchFamily="34" charset="0"/>
                <a:ea typeface="Overpass Light" pitchFamily="34" charset="-122"/>
                <a:cs typeface="Overpass Light" pitchFamily="34" charset="-120"/>
              </a:rPr>
              <a:t>Supports multimedia attachments for evidence documentation</a:t>
            </a:r>
            <a:endParaRPr lang="en-US" sz="1750" dirty="0"/>
          </a:p>
          <a:p>
            <a:pPr algn="l" marL="342900" indent="-342900">
              <a:lnSpc>
                <a:spcPts val="2850"/>
              </a:lnSpc>
              <a:buSzPct val="100000"/>
              <a:buChar char="•"/>
            </a:pPr>
            <a:r>
              <a:rPr lang="en-US" sz="1750" dirty="0">
                <a:solidFill>
                  <a:srgbClr val="3B4E4E"/>
                </a:solidFill>
                <a:latin typeface="Overpass Light" pitchFamily="34" charset="0"/>
                <a:ea typeface="Overpass Light" pitchFamily="34" charset="-122"/>
                <a:cs typeface="Overpass Light" pitchFamily="34" charset="-120"/>
              </a:rPr>
              <a:t>Real-time chat functionality between stakeholders</a:t>
            </a:r>
            <a:endParaRPr lang="en-US" sz="1750" dirty="0"/>
          </a:p>
        </p:txBody>
      </p:sp>
      <p:sp>
        <p:nvSpPr>
          <p:cNvPr id="5" name="Text 3"/>
          <p:cNvSpPr/>
          <p:nvPr/>
        </p:nvSpPr>
        <p:spPr>
          <a:xfrm>
            <a:off x="793790" y="5285542"/>
            <a:ext cx="4177546" cy="425291"/>
          </a:xfrm>
          <a:prstGeom prst="rect">
            <a:avLst/>
          </a:prstGeom>
          <a:noFill/>
          <a:ln/>
        </p:spPr>
        <p:txBody>
          <a:bodyPr wrap="none" lIns="0" tIns="0" rIns="0" bIns="0" rtlCol="0" anchor="t"/>
          <a:lstStyle/>
          <a:p>
            <a:pPr algn="l" indent="0" marL="0">
              <a:lnSpc>
                <a:spcPts val="3300"/>
              </a:lnSpc>
              <a:buNone/>
            </a:pPr>
            <a:r>
              <a:rPr lang="en-US" sz="2650" b="1" dirty="0">
                <a:solidFill>
                  <a:srgbClr val="233939"/>
                </a:solidFill>
                <a:latin typeface="Syne Bold" pitchFamily="34" charset="0"/>
                <a:ea typeface="Syne Bold" pitchFamily="34" charset="-122"/>
                <a:cs typeface="Syne Bold" pitchFamily="34" charset="-120"/>
              </a:rPr>
              <a:t>Future Enhancements</a:t>
            </a:r>
            <a:endParaRPr lang="en-US" sz="2650" dirty="0"/>
          </a:p>
        </p:txBody>
      </p:sp>
      <p:sp>
        <p:nvSpPr>
          <p:cNvPr id="6" name="Text 4"/>
          <p:cNvSpPr/>
          <p:nvPr/>
        </p:nvSpPr>
        <p:spPr>
          <a:xfrm>
            <a:off x="793790" y="5937647"/>
            <a:ext cx="6924437" cy="1088708"/>
          </a:xfrm>
          <a:prstGeom prst="rect">
            <a:avLst/>
          </a:prstGeom>
          <a:noFill/>
          <a:ln/>
        </p:spPr>
        <p:txBody>
          <a:bodyPr wrap="squar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Integration with Learning Management Systems (LMS) and Student Information Systems (SIS) planned for subsequent development phases</a:t>
            </a:r>
            <a:endParaRPr lang="en-US" sz="1750" dirty="0"/>
          </a:p>
        </p:txBody>
      </p:sp>
      <p:pic>
        <p:nvPicPr>
          <p:cNvPr id="7" name="Image 0" descr="preencoded.png">    </p:cNvPr>
          <p:cNvPicPr>
            <a:picLocks noChangeAspect="1"/>
          </p:cNvPicPr>
          <p:nvPr/>
        </p:nvPicPr>
        <p:blipFill>
          <a:blip r:embed="Rfce659d28f034dce"/>
          <a:stretch>
            <a:fillRect/>
          </a:stretch>
        </p:blipFill>
        <p:spPr>
          <a:xfrm>
            <a:off x="8279249" y="3062526"/>
            <a:ext cx="5564862" cy="315337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877133"/>
            <a:ext cx="7747159" cy="708779"/>
          </a:xfrm>
          <a:prstGeom prst="rect">
            <a:avLst/>
          </a:prstGeom>
          <a:noFill/>
          <a:ln/>
        </p:spPr>
        <p:txBody>
          <a:bodyPr wrap="none" lIns="0" tIns="0" rIns="0" bIns="0" rtlCol="0" anchor="t"/>
          <a:lstStyle/>
          <a:p>
            <a:pPr algn="l" indent="0" marL="0">
              <a:lnSpc>
                <a:spcPts val="5550"/>
              </a:lnSpc>
              <a:buNone/>
            </a:pPr>
            <a:r>
              <a:rPr lang="en-US" sz="4450" b="1" dirty="0">
                <a:solidFill>
                  <a:srgbClr val="233939"/>
                </a:solidFill>
                <a:latin typeface="Syne Bold" pitchFamily="34" charset="0"/>
                <a:ea typeface="Syne Bold" pitchFamily="34" charset="-122"/>
                <a:cs typeface="Syne Bold" pitchFamily="34" charset="-120"/>
              </a:rPr>
              <a:t>User Roles &amp; Permissions</a:t>
            </a:r>
            <a:endParaRPr lang="en-US" sz="4450" dirty="0"/>
          </a:p>
        </p:txBody>
      </p:sp>
      <p:pic>
        <p:nvPicPr>
          <p:cNvPr id="3" name="Image 0" descr="preencoded.png">    </p:cNvPr>
          <p:cNvPicPr>
            <a:picLocks noChangeAspect="1"/>
          </p:cNvPicPr>
          <p:nvPr/>
        </p:nvPicPr>
        <p:blipFill>
          <a:blip r:embed="R8b55c880e2f94127">
            <a:extLst>
              <a:ext uri="{96DAC541-7B7A-43D3-8B79-37D633B846F1}">
                <asvg:svgBlip xmlns:asvg="http://schemas.microsoft.com/office/drawing/2016/SVG/main" r:embed="R0854116e8f9d4e4c"/>
              </a:ext>
            </a:extLst>
          </a:blip>
          <a:stretch>
            <a:fillRect/>
          </a:stretch>
        </p:blipFill>
        <p:spPr>
          <a:xfrm>
            <a:off x="793790" y="2039541"/>
            <a:ext cx="566976" cy="566976"/>
          </a:xfrm>
          <a:prstGeom prst="rect">
            <a:avLst/>
          </a:prstGeom>
        </p:spPr>
      </p:pic>
      <p:sp>
        <p:nvSpPr>
          <p:cNvPr id="4" name="Text 1"/>
          <p:cNvSpPr/>
          <p:nvPr/>
        </p:nvSpPr>
        <p:spPr>
          <a:xfrm>
            <a:off x="793790" y="2890004"/>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3B4E4E"/>
                </a:solidFill>
                <a:latin typeface="Syne Bold" pitchFamily="34" charset="0"/>
                <a:ea typeface="Syne Bold" pitchFamily="34" charset="-122"/>
                <a:cs typeface="Syne Bold" pitchFamily="34" charset="-120"/>
              </a:rPr>
              <a:t>Student</a:t>
            </a:r>
            <a:endParaRPr lang="en-US" sz="2200" dirty="0"/>
          </a:p>
        </p:txBody>
      </p:sp>
      <p:sp>
        <p:nvSpPr>
          <p:cNvPr id="5" name="Text 2"/>
          <p:cNvSpPr/>
          <p:nvPr/>
        </p:nvSpPr>
        <p:spPr>
          <a:xfrm>
            <a:off x="793790" y="3380423"/>
            <a:ext cx="6379607" cy="1088708"/>
          </a:xfrm>
          <a:prstGeom prst="rect">
            <a:avLst/>
          </a:prstGeom>
          <a:noFill/>
          <a:ln/>
        </p:spPr>
        <p:txBody>
          <a:bodyPr wrap="squar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Submit complaints with multimedia evidence, track real-time status updates, receive notifications, and communicate directly with resolving faculty</a:t>
            </a:r>
            <a:endParaRPr lang="en-US" sz="1750" dirty="0"/>
          </a:p>
        </p:txBody>
      </p:sp>
      <p:pic>
        <p:nvPicPr>
          <p:cNvPr id="6" name="Image 1" descr="preencoded.png">    </p:cNvPr>
          <p:cNvPicPr>
            <a:picLocks noChangeAspect="1"/>
          </p:cNvPicPr>
          <p:nvPr/>
        </p:nvPicPr>
        <p:blipFill>
          <a:blip r:embed="R8b55c880e2f94127">
            <a:extLst>
              <a:ext uri="{96DAC541-7B7A-43D3-8B79-37D633B846F1}">
                <asvg:svgBlip xmlns:asvg="http://schemas.microsoft.com/office/drawing/2016/SVG/main" r:embed="R239ebf5b936e4314"/>
              </a:ext>
            </a:extLst>
          </a:blip>
          <a:stretch>
            <a:fillRect/>
          </a:stretch>
        </p:blipFill>
        <p:spPr>
          <a:xfrm>
            <a:off x="7456884" y="2039541"/>
            <a:ext cx="566976" cy="566976"/>
          </a:xfrm>
          <a:prstGeom prst="rect">
            <a:avLst/>
          </a:prstGeom>
        </p:spPr>
      </p:pic>
      <p:sp>
        <p:nvSpPr>
          <p:cNvPr id="7" name="Text 3"/>
          <p:cNvSpPr/>
          <p:nvPr/>
        </p:nvSpPr>
        <p:spPr>
          <a:xfrm>
            <a:off x="7456884" y="2890004"/>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3B4E4E"/>
                </a:solidFill>
                <a:latin typeface="Syne Bold" pitchFamily="34" charset="0"/>
                <a:ea typeface="Syne Bold" pitchFamily="34" charset="-122"/>
                <a:cs typeface="Syne Bold" pitchFamily="34" charset="-120"/>
              </a:rPr>
              <a:t>Faculty</a:t>
            </a:r>
            <a:endParaRPr lang="en-US" sz="2200" dirty="0"/>
          </a:p>
        </p:txBody>
      </p:sp>
      <p:sp>
        <p:nvSpPr>
          <p:cNvPr id="8" name="Text 4"/>
          <p:cNvSpPr/>
          <p:nvPr/>
        </p:nvSpPr>
        <p:spPr>
          <a:xfrm>
            <a:off x="7456884" y="3380423"/>
            <a:ext cx="6379726" cy="1088708"/>
          </a:xfrm>
          <a:prstGeom prst="rect">
            <a:avLst/>
          </a:prstGeom>
          <a:noFill/>
          <a:ln/>
        </p:spPr>
        <p:txBody>
          <a:bodyPr wrap="squar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Resolve assigned complaints, upload supporting documentation, communicate with students via chat, and mark issues as complete with proof</a:t>
            </a:r>
            <a:endParaRPr lang="en-US" sz="1750" dirty="0"/>
          </a:p>
        </p:txBody>
      </p:sp>
      <p:pic>
        <p:nvPicPr>
          <p:cNvPr id="9" name="Image 2" descr="preencoded.png">    </p:cNvPr>
          <p:cNvPicPr>
            <a:picLocks noChangeAspect="1"/>
          </p:cNvPicPr>
          <p:nvPr/>
        </p:nvPicPr>
        <p:blipFill>
          <a:blip r:embed="R8b55c880e2f94127">
            <a:extLst>
              <a:ext uri="{96DAC541-7B7A-43D3-8B79-37D633B846F1}">
                <asvg:svgBlip xmlns:asvg="http://schemas.microsoft.com/office/drawing/2016/SVG/main" r:embed="Re76f9ef37e054715"/>
              </a:ext>
            </a:extLst>
          </a:blip>
          <a:stretch>
            <a:fillRect/>
          </a:stretch>
        </p:blipFill>
        <p:spPr>
          <a:xfrm>
            <a:off x="793790" y="4922758"/>
            <a:ext cx="566976" cy="566976"/>
          </a:xfrm>
          <a:prstGeom prst="rect">
            <a:avLst/>
          </a:prstGeom>
        </p:spPr>
      </p:pic>
      <p:sp>
        <p:nvSpPr>
          <p:cNvPr id="10" name="Text 5"/>
          <p:cNvSpPr/>
          <p:nvPr/>
        </p:nvSpPr>
        <p:spPr>
          <a:xfrm>
            <a:off x="793790" y="5773222"/>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3B4E4E"/>
                </a:solidFill>
                <a:latin typeface="Syne Bold" pitchFamily="34" charset="0"/>
                <a:ea typeface="Syne Bold" pitchFamily="34" charset="-122"/>
                <a:cs typeface="Syne Bold" pitchFamily="34" charset="-120"/>
              </a:rPr>
              <a:t>Administrator</a:t>
            </a:r>
            <a:endParaRPr lang="en-US" sz="2200" dirty="0"/>
          </a:p>
        </p:txBody>
      </p:sp>
      <p:sp>
        <p:nvSpPr>
          <p:cNvPr id="11" name="Text 6"/>
          <p:cNvSpPr/>
          <p:nvPr/>
        </p:nvSpPr>
        <p:spPr>
          <a:xfrm>
            <a:off x="793790" y="6263640"/>
            <a:ext cx="6379607" cy="1088708"/>
          </a:xfrm>
          <a:prstGeom prst="rect">
            <a:avLst/>
          </a:prstGeom>
          <a:noFill/>
          <a:ln/>
        </p:spPr>
        <p:txBody>
          <a:bodyPr wrap="squar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Assign complaints to appropriate faculty, monitor overall system performance, generate analytics reports, and enforce SLAs</a:t>
            </a:r>
            <a:endParaRPr lang="en-US" sz="1750" dirty="0"/>
          </a:p>
        </p:txBody>
      </p:sp>
      <p:pic>
        <p:nvPicPr>
          <p:cNvPr id="12" name="Image 3" descr="preencoded.png">    </p:cNvPr>
          <p:cNvPicPr>
            <a:picLocks noChangeAspect="1"/>
          </p:cNvPicPr>
          <p:nvPr/>
        </p:nvPicPr>
        <p:blipFill>
          <a:blip r:embed="R8b55c880e2f94127">
            <a:extLst>
              <a:ext uri="{96DAC541-7B7A-43D3-8B79-37D633B846F1}">
                <asvg:svgBlip xmlns:asvg="http://schemas.microsoft.com/office/drawing/2016/SVG/main" r:embed="R9f1ba55ddb174e33"/>
              </a:ext>
            </a:extLst>
          </a:blip>
          <a:stretch>
            <a:fillRect/>
          </a:stretch>
        </p:blipFill>
        <p:spPr>
          <a:xfrm>
            <a:off x="7456884" y="4922758"/>
            <a:ext cx="566976" cy="566976"/>
          </a:xfrm>
          <a:prstGeom prst="rect">
            <a:avLst/>
          </a:prstGeom>
        </p:spPr>
      </p:pic>
      <p:sp>
        <p:nvSpPr>
          <p:cNvPr id="13" name="Text 7"/>
          <p:cNvSpPr/>
          <p:nvPr/>
        </p:nvSpPr>
        <p:spPr>
          <a:xfrm>
            <a:off x="7456884" y="5773222"/>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3B4E4E"/>
                </a:solidFill>
                <a:latin typeface="Syne Bold" pitchFamily="34" charset="0"/>
                <a:ea typeface="Syne Bold" pitchFamily="34" charset="-122"/>
                <a:cs typeface="Syne Bold" pitchFamily="34" charset="-120"/>
              </a:rPr>
              <a:t>Master Accounts</a:t>
            </a:r>
            <a:endParaRPr lang="en-US" sz="2200" dirty="0"/>
          </a:p>
        </p:txBody>
      </p:sp>
      <p:sp>
        <p:nvSpPr>
          <p:cNvPr id="14" name="Text 8"/>
          <p:cNvSpPr/>
          <p:nvPr/>
        </p:nvSpPr>
        <p:spPr>
          <a:xfrm>
            <a:off x="7456884" y="6263640"/>
            <a:ext cx="6379726" cy="725805"/>
          </a:xfrm>
          <a:prstGeom prst="rect">
            <a:avLst/>
          </a:prstGeom>
          <a:noFill/>
          <a:ln/>
        </p:spPr>
        <p:txBody>
          <a:bodyPr wrap="squar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Reserved for testing purposes, system configuration, and quality assurance activities before production deployment</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372195"/>
            <a:ext cx="7110532" cy="708779"/>
          </a:xfrm>
          <a:prstGeom prst="rect">
            <a:avLst/>
          </a:prstGeom>
          <a:noFill/>
          <a:ln/>
        </p:spPr>
        <p:txBody>
          <a:bodyPr wrap="none" lIns="0" tIns="0" rIns="0" bIns="0" rtlCol="0" anchor="t"/>
          <a:lstStyle/>
          <a:p>
            <a:pPr algn="l" indent="0" marL="0">
              <a:lnSpc>
                <a:spcPts val="5550"/>
              </a:lnSpc>
              <a:buNone/>
            </a:pPr>
            <a:r>
              <a:rPr lang="en-US" sz="4450" b="1" dirty="0">
                <a:solidFill>
                  <a:srgbClr val="233939"/>
                </a:solidFill>
                <a:latin typeface="Syne Bold" pitchFamily="34" charset="0"/>
                <a:ea typeface="Syne Bold" pitchFamily="34" charset="-122"/>
                <a:cs typeface="Syne Bold" pitchFamily="34" charset="-120"/>
              </a:rPr>
              <a:t>Key Features Overview</a:t>
            </a:r>
            <a:endParaRPr lang="en-US" sz="4450" dirty="0"/>
          </a:p>
        </p:txBody>
      </p:sp>
      <p:sp>
        <p:nvSpPr>
          <p:cNvPr id="3" name="Shape 1"/>
          <p:cNvSpPr/>
          <p:nvPr/>
        </p:nvSpPr>
        <p:spPr>
          <a:xfrm>
            <a:off x="793790" y="2534603"/>
            <a:ext cx="4196358" cy="2410897"/>
          </a:xfrm>
          <a:prstGeom prst="roundRect">
            <a:avLst>
              <a:gd name="adj" fmla="val 3952"/>
            </a:avLst>
          </a:prstGeom>
          <a:solidFill>
            <a:srgbClr val="DDEEE6"/>
          </a:solidFill>
          <a:ln w="7620">
            <a:solidFill>
              <a:srgbClr val="C3D4CC"/>
            </a:solidFill>
            <a:prstDash val="solid"/>
          </a:ln>
        </p:spPr>
      </p:sp>
      <p:sp>
        <p:nvSpPr>
          <p:cNvPr id="4" name="Text 2"/>
          <p:cNvSpPr/>
          <p:nvPr/>
        </p:nvSpPr>
        <p:spPr>
          <a:xfrm>
            <a:off x="1028224" y="2769037"/>
            <a:ext cx="3727490" cy="708660"/>
          </a:xfrm>
          <a:prstGeom prst="rect">
            <a:avLst/>
          </a:prstGeom>
          <a:noFill/>
          <a:ln/>
        </p:spPr>
        <p:txBody>
          <a:bodyPr wrap="square" lIns="0" tIns="0" rIns="0" bIns="0" rtlCol="0" anchor="t"/>
          <a:lstStyle/>
          <a:p>
            <a:pPr algn="l" indent="0" marL="0">
              <a:lnSpc>
                <a:spcPts val="2750"/>
              </a:lnSpc>
              <a:buNone/>
            </a:pPr>
            <a:r>
              <a:rPr lang="en-US" sz="2200" b="1" dirty="0">
                <a:solidFill>
                  <a:srgbClr val="3B4E4E"/>
                </a:solidFill>
                <a:latin typeface="Syne Bold" pitchFamily="34" charset="0"/>
                <a:ea typeface="Syne Bold" pitchFamily="34" charset="-122"/>
                <a:cs typeface="Syne Bold" pitchFamily="34" charset="-120"/>
              </a:rPr>
              <a:t>Media-Based Submission</a:t>
            </a:r>
            <a:endParaRPr lang="en-US" sz="2200" dirty="0"/>
          </a:p>
        </p:txBody>
      </p:sp>
      <p:sp>
        <p:nvSpPr>
          <p:cNvPr id="5" name="Text 3"/>
          <p:cNvSpPr/>
          <p:nvPr/>
        </p:nvSpPr>
        <p:spPr>
          <a:xfrm>
            <a:off x="1028224" y="3613785"/>
            <a:ext cx="3727490" cy="1088708"/>
          </a:xfrm>
          <a:prstGeom prst="rect">
            <a:avLst/>
          </a:prstGeom>
          <a:noFill/>
          <a:ln/>
        </p:spPr>
        <p:txBody>
          <a:bodyPr wrap="squar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Students can attach images, videos, and documents as evidence when filing complaints</a:t>
            </a:r>
            <a:endParaRPr lang="en-US" sz="1750" dirty="0"/>
          </a:p>
        </p:txBody>
      </p:sp>
      <p:sp>
        <p:nvSpPr>
          <p:cNvPr id="6" name="Shape 4"/>
          <p:cNvSpPr/>
          <p:nvPr/>
        </p:nvSpPr>
        <p:spPr>
          <a:xfrm>
            <a:off x="5216962" y="2534603"/>
            <a:ext cx="4196358" cy="2410897"/>
          </a:xfrm>
          <a:prstGeom prst="roundRect">
            <a:avLst>
              <a:gd name="adj" fmla="val 3952"/>
            </a:avLst>
          </a:prstGeom>
          <a:solidFill>
            <a:srgbClr val="DDEEE6"/>
          </a:solidFill>
          <a:ln w="7620">
            <a:solidFill>
              <a:srgbClr val="C3D4CC"/>
            </a:solidFill>
            <a:prstDash val="solid"/>
          </a:ln>
        </p:spPr>
      </p:sp>
      <p:sp>
        <p:nvSpPr>
          <p:cNvPr id="7" name="Text 5"/>
          <p:cNvSpPr/>
          <p:nvPr/>
        </p:nvSpPr>
        <p:spPr>
          <a:xfrm>
            <a:off x="5451396" y="276903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3B4E4E"/>
                </a:solidFill>
                <a:latin typeface="Syne Bold" pitchFamily="34" charset="0"/>
                <a:ea typeface="Syne Bold" pitchFamily="34" charset="-122"/>
                <a:cs typeface="Syne Bold" pitchFamily="34" charset="-120"/>
              </a:rPr>
              <a:t>Real-Time Chat</a:t>
            </a:r>
            <a:endParaRPr lang="en-US" sz="2200" dirty="0"/>
          </a:p>
        </p:txBody>
      </p:sp>
      <p:sp>
        <p:nvSpPr>
          <p:cNvPr id="8" name="Text 6"/>
          <p:cNvSpPr/>
          <p:nvPr/>
        </p:nvSpPr>
        <p:spPr>
          <a:xfrm>
            <a:off x="5451396" y="3259455"/>
            <a:ext cx="3727490" cy="1451610"/>
          </a:xfrm>
          <a:prstGeom prst="rect">
            <a:avLst/>
          </a:prstGeom>
          <a:noFill/>
          <a:ln/>
        </p:spPr>
        <p:txBody>
          <a:bodyPr wrap="squar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Socket.io-powered instant messaging enables direct communication between students and faculty</a:t>
            </a:r>
            <a:endParaRPr lang="en-US" sz="1750" dirty="0"/>
          </a:p>
        </p:txBody>
      </p:sp>
      <p:sp>
        <p:nvSpPr>
          <p:cNvPr id="9" name="Shape 7"/>
          <p:cNvSpPr/>
          <p:nvPr/>
        </p:nvSpPr>
        <p:spPr>
          <a:xfrm>
            <a:off x="9640133" y="2534603"/>
            <a:ext cx="4196358" cy="2410897"/>
          </a:xfrm>
          <a:prstGeom prst="roundRect">
            <a:avLst>
              <a:gd name="adj" fmla="val 3952"/>
            </a:avLst>
          </a:prstGeom>
          <a:solidFill>
            <a:srgbClr val="DDEEE6"/>
          </a:solidFill>
          <a:ln w="7620">
            <a:solidFill>
              <a:srgbClr val="C3D4CC"/>
            </a:solidFill>
            <a:prstDash val="solid"/>
          </a:ln>
        </p:spPr>
      </p:sp>
      <p:sp>
        <p:nvSpPr>
          <p:cNvPr id="10" name="Text 8"/>
          <p:cNvSpPr/>
          <p:nvPr/>
        </p:nvSpPr>
        <p:spPr>
          <a:xfrm>
            <a:off x="9874568" y="276903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3B4E4E"/>
                </a:solidFill>
                <a:latin typeface="Syne Bold" pitchFamily="34" charset="0"/>
                <a:ea typeface="Syne Bold" pitchFamily="34" charset="-122"/>
                <a:cs typeface="Syne Bold" pitchFamily="34" charset="-120"/>
              </a:rPr>
              <a:t>AI Categorization</a:t>
            </a:r>
            <a:endParaRPr lang="en-US" sz="2200" dirty="0"/>
          </a:p>
        </p:txBody>
      </p:sp>
      <p:sp>
        <p:nvSpPr>
          <p:cNvPr id="11" name="Text 9"/>
          <p:cNvSpPr/>
          <p:nvPr/>
        </p:nvSpPr>
        <p:spPr>
          <a:xfrm>
            <a:off x="9874568" y="3259455"/>
            <a:ext cx="3727490" cy="1088708"/>
          </a:xfrm>
          <a:prstGeom prst="rect">
            <a:avLst/>
          </a:prstGeom>
          <a:noFill/>
          <a:ln/>
        </p:spPr>
        <p:txBody>
          <a:bodyPr wrap="squar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Intelligent tagging automatically classifies complaints by type, department, and priority level</a:t>
            </a:r>
            <a:endParaRPr lang="en-US" sz="1750" dirty="0"/>
          </a:p>
        </p:txBody>
      </p:sp>
      <p:sp>
        <p:nvSpPr>
          <p:cNvPr id="12" name="Shape 10"/>
          <p:cNvSpPr/>
          <p:nvPr/>
        </p:nvSpPr>
        <p:spPr>
          <a:xfrm>
            <a:off x="793790" y="5172313"/>
            <a:ext cx="6407944" cy="1685092"/>
          </a:xfrm>
          <a:prstGeom prst="roundRect">
            <a:avLst>
              <a:gd name="adj" fmla="val 5654"/>
            </a:avLst>
          </a:prstGeom>
          <a:solidFill>
            <a:srgbClr val="DDEEE6"/>
          </a:solidFill>
          <a:ln w="7620">
            <a:solidFill>
              <a:srgbClr val="C3D4CC"/>
            </a:solidFill>
            <a:prstDash val="solid"/>
          </a:ln>
        </p:spPr>
      </p:sp>
      <p:sp>
        <p:nvSpPr>
          <p:cNvPr id="13" name="Text 11"/>
          <p:cNvSpPr/>
          <p:nvPr/>
        </p:nvSpPr>
        <p:spPr>
          <a:xfrm>
            <a:off x="1028224" y="540674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3B4E4E"/>
                </a:solidFill>
                <a:latin typeface="Syne Bold" pitchFamily="34" charset="0"/>
                <a:ea typeface="Syne Bold" pitchFamily="34" charset="-122"/>
                <a:cs typeface="Syne Bold" pitchFamily="34" charset="-120"/>
              </a:rPr>
              <a:t>SLA Tracking</a:t>
            </a:r>
            <a:endParaRPr lang="en-US" sz="2200" dirty="0"/>
          </a:p>
        </p:txBody>
      </p:sp>
      <p:sp>
        <p:nvSpPr>
          <p:cNvPr id="14" name="Text 12"/>
          <p:cNvSpPr/>
          <p:nvPr/>
        </p:nvSpPr>
        <p:spPr>
          <a:xfrm>
            <a:off x="1028224" y="5897166"/>
            <a:ext cx="5939076" cy="725805"/>
          </a:xfrm>
          <a:prstGeom prst="rect">
            <a:avLst/>
          </a:prstGeom>
          <a:noFill/>
          <a:ln/>
        </p:spPr>
        <p:txBody>
          <a:bodyPr wrap="squar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Automated deadline monitoring with color-coded urgency indicators and escalation protocols</a:t>
            </a:r>
            <a:endParaRPr lang="en-US" sz="1750" dirty="0"/>
          </a:p>
        </p:txBody>
      </p:sp>
      <p:sp>
        <p:nvSpPr>
          <p:cNvPr id="15" name="Shape 13"/>
          <p:cNvSpPr/>
          <p:nvPr/>
        </p:nvSpPr>
        <p:spPr>
          <a:xfrm>
            <a:off x="7428548" y="5172313"/>
            <a:ext cx="6407944" cy="1685092"/>
          </a:xfrm>
          <a:prstGeom prst="roundRect">
            <a:avLst>
              <a:gd name="adj" fmla="val 5654"/>
            </a:avLst>
          </a:prstGeom>
          <a:solidFill>
            <a:srgbClr val="DDEEE6"/>
          </a:solidFill>
          <a:ln w="7620">
            <a:solidFill>
              <a:srgbClr val="C3D4CC"/>
            </a:solidFill>
            <a:prstDash val="solid"/>
          </a:ln>
        </p:spPr>
      </p:sp>
      <p:sp>
        <p:nvSpPr>
          <p:cNvPr id="16" name="Text 14"/>
          <p:cNvSpPr/>
          <p:nvPr/>
        </p:nvSpPr>
        <p:spPr>
          <a:xfrm>
            <a:off x="7662982" y="540674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3B4E4E"/>
                </a:solidFill>
                <a:latin typeface="Syne Bold" pitchFamily="34" charset="0"/>
                <a:ea typeface="Syne Bold" pitchFamily="34" charset="-122"/>
                <a:cs typeface="Syne Bold" pitchFamily="34" charset="-120"/>
              </a:rPr>
              <a:t>Cloud Integration</a:t>
            </a:r>
            <a:endParaRPr lang="en-US" sz="2200" dirty="0"/>
          </a:p>
        </p:txBody>
      </p:sp>
      <p:sp>
        <p:nvSpPr>
          <p:cNvPr id="17" name="Text 15"/>
          <p:cNvSpPr/>
          <p:nvPr/>
        </p:nvSpPr>
        <p:spPr>
          <a:xfrm>
            <a:off x="7662982" y="5897166"/>
            <a:ext cx="5939076" cy="725805"/>
          </a:xfrm>
          <a:prstGeom prst="rect">
            <a:avLst/>
          </a:prstGeom>
          <a:noFill/>
          <a:ln/>
        </p:spPr>
        <p:txBody>
          <a:bodyPr wrap="squar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AWS-hosted infrastructure ensures scalability, reliability, and seamless data backup</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31758" y="623173"/>
            <a:ext cx="7590949" cy="653415"/>
          </a:xfrm>
          <a:prstGeom prst="rect">
            <a:avLst/>
          </a:prstGeom>
          <a:noFill/>
          <a:ln/>
        </p:spPr>
        <p:txBody>
          <a:bodyPr wrap="none" lIns="0" tIns="0" rIns="0" bIns="0" rtlCol="0" anchor="t"/>
          <a:lstStyle/>
          <a:p>
            <a:pPr algn="l" indent="0" marL="0">
              <a:lnSpc>
                <a:spcPts val="5100"/>
              </a:lnSpc>
              <a:buNone/>
            </a:pPr>
            <a:r>
              <a:rPr lang="en-US" sz="4100" b="1" dirty="0">
                <a:solidFill>
                  <a:srgbClr val="233939"/>
                </a:solidFill>
                <a:latin typeface="Syne Bold" pitchFamily="34" charset="0"/>
                <a:ea typeface="Syne Bold" pitchFamily="34" charset="-122"/>
                <a:cs typeface="Syne Bold" pitchFamily="34" charset="-120"/>
              </a:rPr>
              <a:t>Literature Study Highlights</a:t>
            </a:r>
            <a:endParaRPr lang="en-US" sz="4100" dirty="0"/>
          </a:p>
        </p:txBody>
      </p:sp>
      <p:sp>
        <p:nvSpPr>
          <p:cNvPr id="3" name="Text 1"/>
          <p:cNvSpPr/>
          <p:nvPr/>
        </p:nvSpPr>
        <p:spPr>
          <a:xfrm>
            <a:off x="731758" y="1758434"/>
            <a:ext cx="3179802" cy="391954"/>
          </a:xfrm>
          <a:prstGeom prst="rect">
            <a:avLst/>
          </a:prstGeom>
          <a:noFill/>
          <a:ln/>
        </p:spPr>
        <p:txBody>
          <a:bodyPr wrap="none" lIns="0" tIns="0" rIns="0" bIns="0" rtlCol="0" anchor="t"/>
          <a:lstStyle/>
          <a:p>
            <a:pPr algn="l" indent="0" marL="0">
              <a:lnSpc>
                <a:spcPts val="3050"/>
              </a:lnSpc>
              <a:buNone/>
            </a:pPr>
            <a:r>
              <a:rPr lang="en-US" sz="2450" b="1" dirty="0">
                <a:solidFill>
                  <a:srgbClr val="233939"/>
                </a:solidFill>
                <a:latin typeface="Syne Bold" pitchFamily="34" charset="0"/>
                <a:ea typeface="Syne Bold" pitchFamily="34" charset="-122"/>
                <a:cs typeface="Syne Bold" pitchFamily="34" charset="-120"/>
              </a:rPr>
              <a:t>Research Findings</a:t>
            </a:r>
            <a:endParaRPr lang="en-US" sz="2450" dirty="0"/>
          </a:p>
        </p:txBody>
      </p:sp>
      <p:sp>
        <p:nvSpPr>
          <p:cNvPr id="4" name="Text 2"/>
          <p:cNvSpPr/>
          <p:nvPr/>
        </p:nvSpPr>
        <p:spPr>
          <a:xfrm>
            <a:off x="731758" y="2343150"/>
            <a:ext cx="4276844" cy="964049"/>
          </a:xfrm>
          <a:prstGeom prst="rect">
            <a:avLst/>
          </a:prstGeom>
          <a:noFill/>
          <a:ln/>
        </p:spPr>
        <p:txBody>
          <a:bodyPr wrap="square" lIns="0" tIns="0" rIns="0" bIns="0" rtlCol="0" anchor="t"/>
          <a:lstStyle/>
          <a:p>
            <a:pPr algn="l" indent="0" marL="0">
              <a:lnSpc>
                <a:spcPts val="2500"/>
              </a:lnSpc>
              <a:buNone/>
            </a:pPr>
            <a:r>
              <a:rPr lang="en-US" sz="1600" dirty="0">
                <a:solidFill>
                  <a:srgbClr val="3B4E4E"/>
                </a:solidFill>
                <a:latin typeface="Overpass Light" pitchFamily="34" charset="0"/>
                <a:ea typeface="Overpass Light" pitchFamily="34" charset="-122"/>
                <a:cs typeface="Overpass Light" pitchFamily="34" charset="-120"/>
              </a:rPr>
              <a:t>Comprehensive analysis of existing complaint management systems revealed significant improvements through digital transformation:</a:t>
            </a:r>
            <a:endParaRPr lang="en-US" sz="1600" dirty="0"/>
          </a:p>
        </p:txBody>
      </p:sp>
      <p:sp>
        <p:nvSpPr>
          <p:cNvPr id="5" name="Text 3"/>
          <p:cNvSpPr/>
          <p:nvPr/>
        </p:nvSpPr>
        <p:spPr>
          <a:xfrm>
            <a:off x="731758" y="3480673"/>
            <a:ext cx="4276844" cy="4058364"/>
          </a:xfrm>
          <a:prstGeom prst="rect">
            <a:avLst/>
          </a:prstGeom>
          <a:noFill/>
          <a:ln/>
        </p:spPr>
        <p:txBody>
          <a:bodyPr wrap="square" lIns="0" tIns="0" rIns="0" bIns="0" rtlCol="0" anchor="t"/>
          <a:lstStyle/>
          <a:p>
            <a:pPr algn="l" marL="342900" indent="-342900">
              <a:lnSpc>
                <a:spcPts val="2500"/>
              </a:lnSpc>
              <a:buSzPct val="100000"/>
              <a:buChar char="•"/>
            </a:pPr>
            <a:r>
              <a:rPr lang="en-US" sz="1600" dirty="0">
                <a:solidFill>
                  <a:srgbClr val="3B4E4E"/>
                </a:solidFill>
                <a:latin typeface="Overpass Light" pitchFamily="34" charset="0"/>
                <a:ea typeface="Overpass Light" pitchFamily="34" charset="-122"/>
                <a:cs typeface="Overpass Light" pitchFamily="34" charset="-120"/>
              </a:rPr>
              <a:t>Centralized Management Systems reduce resolution time by 40-60% compared to manual workflows</a:t>
            </a:r>
            <a:endParaRPr lang="en-US" sz="1600" dirty="0"/>
          </a:p>
          <a:p>
            <a:pPr algn="l" marL="342900" indent="-342900">
              <a:lnSpc>
                <a:spcPts val="2500"/>
              </a:lnSpc>
              <a:buSzPct val="100000"/>
              <a:buChar char="•"/>
            </a:pPr>
            <a:r>
              <a:rPr lang="en-US" sz="1600" dirty="0">
                <a:solidFill>
                  <a:srgbClr val="3B4E4E"/>
                </a:solidFill>
                <a:latin typeface="Overpass Light" pitchFamily="34" charset="0"/>
                <a:ea typeface="Overpass Light" pitchFamily="34" charset="-122"/>
                <a:cs typeface="Overpass Light" pitchFamily="34" charset="-120"/>
              </a:rPr>
              <a:t>WebSockets technology improves system responsiveness and user engagement by 75%</a:t>
            </a:r>
            <a:endParaRPr lang="en-US" sz="1600" dirty="0"/>
          </a:p>
          <a:p>
            <a:pPr algn="l" marL="342900" indent="-342900">
              <a:lnSpc>
                <a:spcPts val="2500"/>
              </a:lnSpc>
              <a:buSzPct val="100000"/>
              <a:buChar char="•"/>
            </a:pPr>
            <a:r>
              <a:rPr lang="en-US" sz="1600" dirty="0">
                <a:solidFill>
                  <a:srgbClr val="3B4E4E"/>
                </a:solidFill>
                <a:latin typeface="Overpass Light" pitchFamily="34" charset="0"/>
                <a:ea typeface="Overpass Light" pitchFamily="34" charset="-122"/>
                <a:cs typeface="Overpass Light" pitchFamily="34" charset="-120"/>
              </a:rPr>
              <a:t>AI-based categorization increases complaint routing accuracy by 85% and reduces misclassification</a:t>
            </a:r>
            <a:endParaRPr lang="en-US" sz="1600" dirty="0"/>
          </a:p>
          <a:p>
            <a:pPr algn="l" marL="342900" indent="-342900">
              <a:lnSpc>
                <a:spcPts val="2500"/>
              </a:lnSpc>
              <a:buSzPct val="100000"/>
              <a:buChar char="•"/>
            </a:pPr>
            <a:r>
              <a:rPr lang="en-US" sz="1600" dirty="0">
                <a:solidFill>
                  <a:srgbClr val="3B4E4E"/>
                </a:solidFill>
                <a:latin typeface="Overpass Light" pitchFamily="34" charset="0"/>
                <a:ea typeface="Overpass Light" pitchFamily="34" charset="-122"/>
                <a:cs typeface="Overpass Light" pitchFamily="34" charset="-120"/>
              </a:rPr>
              <a:t>Cloud infrastructure enhances system performance, uptime, and scalability while reducing operational costs</a:t>
            </a:r>
            <a:endParaRPr lang="en-US" sz="1600" dirty="0"/>
          </a:p>
        </p:txBody>
      </p:sp>
      <p:pic>
        <p:nvPicPr>
          <p:cNvPr id="6" name="Image 0" descr="preencoded.png">    </p:cNvPr>
          <p:cNvPicPr>
            <a:picLocks noChangeAspect="1"/>
          </p:cNvPicPr>
          <p:nvPr/>
        </p:nvPicPr>
        <p:blipFill>
          <a:blip r:embed="R3f2fe52af7e44f47"/>
          <a:stretch>
            <a:fillRect/>
          </a:stretch>
        </p:blipFill>
        <p:spPr>
          <a:xfrm>
            <a:off x="5526286" y="2211705"/>
            <a:ext cx="8379857" cy="47485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647462"/>
            <a:ext cx="11794212" cy="708779"/>
          </a:xfrm>
          <a:prstGeom prst="rect">
            <a:avLst/>
          </a:prstGeom>
          <a:noFill/>
          <a:ln/>
        </p:spPr>
        <p:txBody>
          <a:bodyPr wrap="none" lIns="0" tIns="0" rIns="0" bIns="0" rtlCol="0" anchor="t"/>
          <a:lstStyle/>
          <a:p>
            <a:pPr algn="l" indent="0" marL="0">
              <a:lnSpc>
                <a:spcPts val="5550"/>
              </a:lnSpc>
              <a:buNone/>
            </a:pPr>
            <a:r>
              <a:rPr lang="en-US" sz="4450" b="1" dirty="0">
                <a:solidFill>
                  <a:srgbClr val="233939"/>
                </a:solidFill>
                <a:latin typeface="Syne Bold" pitchFamily="34" charset="0"/>
                <a:ea typeface="Syne Bold" pitchFamily="34" charset="-122"/>
                <a:cs typeface="Syne Bold" pitchFamily="34" charset="-120"/>
              </a:rPr>
              <a:t>Bridging the Gap: NovaTech's Solution</a:t>
            </a:r>
            <a:endParaRPr lang="en-US" sz="4450" dirty="0"/>
          </a:p>
        </p:txBody>
      </p:sp>
      <p:pic>
        <p:nvPicPr>
          <p:cNvPr id="3" name="Image 0" descr="preencoded.png">    </p:cNvPr>
          <p:cNvPicPr>
            <a:picLocks noChangeAspect="1"/>
          </p:cNvPicPr>
          <p:nvPr/>
        </p:nvPicPr>
        <p:blipFill>
          <a:blip r:embed="R1a491fc18c43421a"/>
          <a:stretch>
            <a:fillRect/>
          </a:stretch>
        </p:blipFill>
        <p:spPr>
          <a:xfrm>
            <a:off x="793790" y="1809869"/>
            <a:ext cx="6521410" cy="907256"/>
          </a:xfrm>
          <a:prstGeom prst="rect">
            <a:avLst/>
          </a:prstGeom>
        </p:spPr>
      </p:pic>
      <p:sp>
        <p:nvSpPr>
          <p:cNvPr id="4" name="Text 1"/>
          <p:cNvSpPr/>
          <p:nvPr/>
        </p:nvSpPr>
        <p:spPr>
          <a:xfrm>
            <a:off x="1020604" y="2943939"/>
            <a:ext cx="3709035" cy="354330"/>
          </a:xfrm>
          <a:prstGeom prst="rect">
            <a:avLst/>
          </a:prstGeom>
          <a:noFill/>
          <a:ln/>
        </p:spPr>
        <p:txBody>
          <a:bodyPr wrap="none" lIns="0" tIns="0" rIns="0" bIns="0" rtlCol="0" anchor="t"/>
          <a:lstStyle/>
          <a:p>
            <a:pPr algn="l" indent="0" marL="0">
              <a:lnSpc>
                <a:spcPts val="2750"/>
              </a:lnSpc>
              <a:buNone/>
            </a:pPr>
            <a:r>
              <a:rPr lang="en-US" sz="2200" b="1" dirty="0">
                <a:solidFill>
                  <a:srgbClr val="3B4E4E"/>
                </a:solidFill>
                <a:latin typeface="Syne Bold" pitchFamily="34" charset="0"/>
                <a:ea typeface="Syne Bold" pitchFamily="34" charset="-122"/>
                <a:cs typeface="Syne Bold" pitchFamily="34" charset="-120"/>
              </a:rPr>
              <a:t>Proof-Based Resolution</a:t>
            </a:r>
            <a:endParaRPr lang="en-US" sz="2200" dirty="0"/>
          </a:p>
        </p:txBody>
      </p:sp>
      <p:sp>
        <p:nvSpPr>
          <p:cNvPr id="5" name="Text 2"/>
          <p:cNvSpPr/>
          <p:nvPr/>
        </p:nvSpPr>
        <p:spPr>
          <a:xfrm>
            <a:off x="1020604" y="3434358"/>
            <a:ext cx="6067782" cy="362903"/>
          </a:xfrm>
          <a:prstGeom prst="rect">
            <a:avLst/>
          </a:prstGeom>
          <a:noFill/>
          <a:ln/>
        </p:spPr>
        <p:txBody>
          <a:bodyPr wrap="non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Documentation uploads ensure accountability</a:t>
            </a:r>
            <a:endParaRPr lang="en-US" sz="1750" dirty="0"/>
          </a:p>
        </p:txBody>
      </p:sp>
      <p:pic>
        <p:nvPicPr>
          <p:cNvPr id="6" name="Image 1" descr="preencoded.png">    </p:cNvPr>
          <p:cNvPicPr>
            <a:picLocks noChangeAspect="1"/>
          </p:cNvPicPr>
          <p:nvPr/>
        </p:nvPicPr>
        <p:blipFill>
          <a:blip r:embed="Rfbbe808f644344ac"/>
          <a:stretch>
            <a:fillRect/>
          </a:stretch>
        </p:blipFill>
        <p:spPr>
          <a:xfrm>
            <a:off x="7315200" y="1809869"/>
            <a:ext cx="6521410" cy="907256"/>
          </a:xfrm>
          <a:prstGeom prst="rect">
            <a:avLst/>
          </a:prstGeom>
        </p:spPr>
      </p:pic>
      <p:sp>
        <p:nvSpPr>
          <p:cNvPr id="7" name="Text 3"/>
          <p:cNvSpPr/>
          <p:nvPr/>
        </p:nvSpPr>
        <p:spPr>
          <a:xfrm>
            <a:off x="7542014" y="2943939"/>
            <a:ext cx="4244935" cy="354330"/>
          </a:xfrm>
          <a:prstGeom prst="rect">
            <a:avLst/>
          </a:prstGeom>
          <a:noFill/>
          <a:ln/>
        </p:spPr>
        <p:txBody>
          <a:bodyPr wrap="none" lIns="0" tIns="0" rIns="0" bIns="0" rtlCol="0" anchor="t"/>
          <a:lstStyle/>
          <a:p>
            <a:pPr algn="l" indent="0" marL="0">
              <a:lnSpc>
                <a:spcPts val="2750"/>
              </a:lnSpc>
              <a:buNone/>
            </a:pPr>
            <a:r>
              <a:rPr lang="en-US" sz="2200" b="1" dirty="0">
                <a:solidFill>
                  <a:srgbClr val="3B4E4E"/>
                </a:solidFill>
                <a:latin typeface="Syne Bold" pitchFamily="34" charset="0"/>
                <a:ea typeface="Syne Bold" pitchFamily="34" charset="-122"/>
                <a:cs typeface="Syne Bold" pitchFamily="34" charset="-120"/>
              </a:rPr>
              <a:t>Real-Time Communication</a:t>
            </a:r>
            <a:endParaRPr lang="en-US" sz="2200" dirty="0"/>
          </a:p>
        </p:txBody>
      </p:sp>
      <p:sp>
        <p:nvSpPr>
          <p:cNvPr id="8" name="Text 4"/>
          <p:cNvSpPr/>
          <p:nvPr/>
        </p:nvSpPr>
        <p:spPr>
          <a:xfrm>
            <a:off x="7542014" y="3434358"/>
            <a:ext cx="6067782" cy="362903"/>
          </a:xfrm>
          <a:prstGeom prst="rect">
            <a:avLst/>
          </a:prstGeom>
          <a:noFill/>
          <a:ln/>
        </p:spPr>
        <p:txBody>
          <a:bodyPr wrap="non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Instant chat eliminates office visits</a:t>
            </a:r>
            <a:endParaRPr lang="en-US" sz="1750" dirty="0"/>
          </a:p>
        </p:txBody>
      </p:sp>
      <p:pic>
        <p:nvPicPr>
          <p:cNvPr id="9" name="Image 2" descr="preencoded.png">    </p:cNvPr>
          <p:cNvPicPr>
            <a:picLocks noChangeAspect="1"/>
          </p:cNvPicPr>
          <p:nvPr/>
        </p:nvPicPr>
        <p:blipFill>
          <a:blip r:embed="R00fe6cf15a044d8e"/>
          <a:stretch>
            <a:fillRect/>
          </a:stretch>
        </p:blipFill>
        <p:spPr>
          <a:xfrm>
            <a:off x="793790" y="4024074"/>
            <a:ext cx="6521410" cy="907256"/>
          </a:xfrm>
          <a:prstGeom prst="rect">
            <a:avLst/>
          </a:prstGeom>
        </p:spPr>
      </p:pic>
      <p:sp>
        <p:nvSpPr>
          <p:cNvPr id="10" name="Text 5"/>
          <p:cNvSpPr/>
          <p:nvPr/>
        </p:nvSpPr>
        <p:spPr>
          <a:xfrm>
            <a:off x="1020604" y="5158145"/>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3B4E4E"/>
                </a:solidFill>
                <a:latin typeface="Syne Bold" pitchFamily="34" charset="0"/>
                <a:ea typeface="Syne Bold" pitchFamily="34" charset="-122"/>
                <a:cs typeface="Syne Bold" pitchFamily="34" charset="-120"/>
              </a:rPr>
              <a:t>SLA Monitoring</a:t>
            </a:r>
            <a:endParaRPr lang="en-US" sz="2200" dirty="0"/>
          </a:p>
        </p:txBody>
      </p:sp>
      <p:sp>
        <p:nvSpPr>
          <p:cNvPr id="11" name="Text 6"/>
          <p:cNvSpPr/>
          <p:nvPr/>
        </p:nvSpPr>
        <p:spPr>
          <a:xfrm>
            <a:off x="1020604" y="5648563"/>
            <a:ext cx="6067782" cy="362903"/>
          </a:xfrm>
          <a:prstGeom prst="rect">
            <a:avLst/>
          </a:prstGeom>
          <a:noFill/>
          <a:ln/>
        </p:spPr>
        <p:txBody>
          <a:bodyPr wrap="non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Automated deadline enforcement</a:t>
            </a:r>
            <a:endParaRPr lang="en-US" sz="1750" dirty="0"/>
          </a:p>
        </p:txBody>
      </p:sp>
      <p:pic>
        <p:nvPicPr>
          <p:cNvPr id="12" name="Image 3" descr="preencoded.png">    </p:cNvPr>
          <p:cNvPicPr>
            <a:picLocks noChangeAspect="1"/>
          </p:cNvPicPr>
          <p:nvPr/>
        </p:nvPicPr>
        <p:blipFill>
          <a:blip r:embed="R3f656d4f01824632"/>
          <a:stretch>
            <a:fillRect/>
          </a:stretch>
        </p:blipFill>
        <p:spPr>
          <a:xfrm>
            <a:off x="7315200" y="4024074"/>
            <a:ext cx="6521410" cy="907256"/>
          </a:xfrm>
          <a:prstGeom prst="rect">
            <a:avLst/>
          </a:prstGeom>
        </p:spPr>
      </p:pic>
      <p:sp>
        <p:nvSpPr>
          <p:cNvPr id="13" name="Text 7"/>
          <p:cNvSpPr/>
          <p:nvPr/>
        </p:nvSpPr>
        <p:spPr>
          <a:xfrm>
            <a:off x="7542014" y="5158145"/>
            <a:ext cx="3149084" cy="354330"/>
          </a:xfrm>
          <a:prstGeom prst="rect">
            <a:avLst/>
          </a:prstGeom>
          <a:noFill/>
          <a:ln/>
        </p:spPr>
        <p:txBody>
          <a:bodyPr wrap="none" lIns="0" tIns="0" rIns="0" bIns="0" rtlCol="0" anchor="t"/>
          <a:lstStyle/>
          <a:p>
            <a:pPr algn="l" indent="0" marL="0">
              <a:lnSpc>
                <a:spcPts val="2750"/>
              </a:lnSpc>
              <a:buNone/>
            </a:pPr>
            <a:r>
              <a:rPr lang="en-US" sz="2200" b="1" dirty="0">
                <a:solidFill>
                  <a:srgbClr val="3B4E4E"/>
                </a:solidFill>
                <a:latin typeface="Syne Bold" pitchFamily="34" charset="0"/>
                <a:ea typeface="Syne Bold" pitchFamily="34" charset="-122"/>
                <a:cs typeface="Syne Bold" pitchFamily="34" charset="-120"/>
              </a:rPr>
              <a:t>Self-Healing System</a:t>
            </a:r>
            <a:endParaRPr lang="en-US" sz="2200" dirty="0"/>
          </a:p>
        </p:txBody>
      </p:sp>
      <p:sp>
        <p:nvSpPr>
          <p:cNvPr id="14" name="Text 8"/>
          <p:cNvSpPr/>
          <p:nvPr/>
        </p:nvSpPr>
        <p:spPr>
          <a:xfrm>
            <a:off x="7542014" y="5648563"/>
            <a:ext cx="6067782" cy="362903"/>
          </a:xfrm>
          <a:prstGeom prst="rect">
            <a:avLst/>
          </a:prstGeom>
          <a:noFill/>
          <a:ln/>
        </p:spPr>
        <p:txBody>
          <a:bodyPr wrap="non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Auto-escalation prevents complaints from stalling</a:t>
            </a:r>
            <a:endParaRPr lang="en-US" sz="1750" dirty="0"/>
          </a:p>
        </p:txBody>
      </p:sp>
      <p:sp>
        <p:nvSpPr>
          <p:cNvPr id="15" name="Text 9"/>
          <p:cNvSpPr/>
          <p:nvPr/>
        </p:nvSpPr>
        <p:spPr>
          <a:xfrm>
            <a:off x="793790" y="6493431"/>
            <a:ext cx="13042821" cy="1088708"/>
          </a:xfrm>
          <a:prstGeom prst="rect">
            <a:avLst/>
          </a:prstGeom>
          <a:noFill/>
          <a:ln/>
        </p:spPr>
        <p:txBody>
          <a:bodyPr wrap="squar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Existing systems lack comprehensive proof documentation, real-time updates, SLA tracking, and automated escalation mechanisms. </a:t>
            </a:r>
            <a:pPr algn="l" indent="0" marL="0">
              <a:lnSpc>
                <a:spcPts val="2850"/>
              </a:lnSpc>
              <a:buNone/>
            </a:pPr>
            <a:r>
              <a:rPr lang="en-US" sz="1750" b="1" dirty="0">
                <a:solidFill>
                  <a:srgbClr val="224435"/>
                </a:solidFill>
                <a:latin typeface="Overpass Light" pitchFamily="34" charset="0"/>
                <a:ea typeface="Overpass Light" pitchFamily="34" charset="-122"/>
                <a:cs typeface="Overpass Light" pitchFamily="34" charset="-120"/>
              </a:rPr>
              <a:t>NovaTech addresses all these gaps</a:t>
            </a:r>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 with an integrated platform that combines secure authentication, intelligent categorization, multimedia support, and automated workflows to deliver transparent, efficient grievance management.</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3902067ea3d84455"/>
          <a:stretch>
            <a:fillRect/>
          </a:stretch>
        </p:blipFill>
        <p:spPr>
          <a:xfrm>
            <a:off x="9144000" y="0"/>
            <a:ext cx="5486400" cy="8229600"/>
          </a:xfrm>
          <a:prstGeom prst="rect">
            <a:avLst/>
          </a:prstGeom>
        </p:spPr>
      </p:pic>
      <p:sp>
        <p:nvSpPr>
          <p:cNvPr id="3" name="Text 0"/>
          <p:cNvSpPr/>
          <p:nvPr/>
        </p:nvSpPr>
        <p:spPr>
          <a:xfrm>
            <a:off x="793790" y="2872978"/>
            <a:ext cx="7556421" cy="1417558"/>
          </a:xfrm>
          <a:prstGeom prst="rect">
            <a:avLst/>
          </a:prstGeom>
          <a:noFill/>
          <a:ln/>
        </p:spPr>
        <p:txBody>
          <a:bodyPr wrap="square" lIns="0" tIns="0" rIns="0" bIns="0" rtlCol="0" anchor="t"/>
          <a:lstStyle/>
          <a:p>
            <a:pPr algn="l" indent="0" marL="0">
              <a:lnSpc>
                <a:spcPts val="5550"/>
              </a:lnSpc>
              <a:buNone/>
            </a:pPr>
            <a:r>
              <a:rPr lang="en-US" sz="4450" b="1" dirty="0">
                <a:solidFill>
                  <a:srgbClr val="233939"/>
                </a:solidFill>
                <a:latin typeface="Syne Bold" pitchFamily="34" charset="0"/>
                <a:ea typeface="Syne Bold" pitchFamily="34" charset="-122"/>
                <a:cs typeface="Syne Bold" pitchFamily="34" charset="-120"/>
              </a:rPr>
              <a:t>NovaTech: Technology Stack &amp; Architecture</a:t>
            </a:r>
            <a:endParaRPr lang="en-US" sz="4450" dirty="0"/>
          </a:p>
        </p:txBody>
      </p:sp>
      <p:sp>
        <p:nvSpPr>
          <p:cNvPr id="4" name="Text 1"/>
          <p:cNvSpPr/>
          <p:nvPr/>
        </p:nvSpPr>
        <p:spPr>
          <a:xfrm>
            <a:off x="793790" y="4630698"/>
            <a:ext cx="7556421" cy="725805"/>
          </a:xfrm>
          <a:prstGeom prst="rect">
            <a:avLst/>
          </a:prstGeom>
          <a:noFill/>
          <a:ln/>
        </p:spPr>
        <p:txBody>
          <a:bodyPr wrap="squar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Enterprise-grade complaint management system built with modern web technologies and robust architectural patterns.</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009293"/>
            <a:ext cx="8855631" cy="708779"/>
          </a:xfrm>
          <a:prstGeom prst="rect">
            <a:avLst/>
          </a:prstGeom>
          <a:noFill/>
          <a:ln/>
        </p:spPr>
        <p:txBody>
          <a:bodyPr wrap="none" lIns="0" tIns="0" rIns="0" bIns="0" rtlCol="0" anchor="t"/>
          <a:lstStyle/>
          <a:p>
            <a:pPr algn="l" indent="0" marL="0">
              <a:lnSpc>
                <a:spcPts val="5550"/>
              </a:lnSpc>
              <a:buNone/>
            </a:pPr>
            <a:r>
              <a:rPr lang="en-US" sz="4450" b="1" dirty="0">
                <a:solidFill>
                  <a:srgbClr val="233939"/>
                </a:solidFill>
                <a:latin typeface="Syne Bold" pitchFamily="34" charset="0"/>
                <a:ea typeface="Syne Bold" pitchFamily="34" charset="-122"/>
                <a:cs typeface="Syne Bold" pitchFamily="34" charset="-120"/>
              </a:rPr>
              <a:t>Full-Stack Technology Stack</a:t>
            </a:r>
            <a:endParaRPr lang="en-US" sz="4450" dirty="0"/>
          </a:p>
        </p:txBody>
      </p:sp>
      <p:sp>
        <p:nvSpPr>
          <p:cNvPr id="3" name="Shape 1"/>
          <p:cNvSpPr/>
          <p:nvPr/>
        </p:nvSpPr>
        <p:spPr>
          <a:xfrm>
            <a:off x="793790" y="2171700"/>
            <a:ext cx="6407944" cy="2229445"/>
          </a:xfrm>
          <a:prstGeom prst="roundRect">
            <a:avLst>
              <a:gd name="adj" fmla="val 4273"/>
            </a:avLst>
          </a:prstGeom>
          <a:solidFill>
            <a:srgbClr val="DDEEE6"/>
          </a:solidFill>
          <a:ln w="7620">
            <a:solidFill>
              <a:srgbClr val="C3D4CC"/>
            </a:solidFill>
            <a:prstDash val="solid"/>
          </a:ln>
        </p:spPr>
      </p:sp>
      <p:sp>
        <p:nvSpPr>
          <p:cNvPr id="4" name="Shape 2"/>
          <p:cNvSpPr/>
          <p:nvPr/>
        </p:nvSpPr>
        <p:spPr>
          <a:xfrm>
            <a:off x="1028224" y="2406134"/>
            <a:ext cx="680442" cy="680442"/>
          </a:xfrm>
          <a:prstGeom prst="roundRect">
            <a:avLst>
              <a:gd name="adj" fmla="val 13436980"/>
            </a:avLst>
          </a:prstGeom>
          <a:solidFill>
            <a:srgbClr val="224435"/>
          </a:solidFill>
          <a:ln/>
        </p:spPr>
      </p:sp>
      <p:pic>
        <p:nvPicPr>
          <p:cNvPr id="5" name="Image 0" descr="preencoded.png">    </p:cNvPr>
          <p:cNvPicPr>
            <a:picLocks noChangeAspect="1"/>
          </p:cNvPicPr>
          <p:nvPr/>
        </p:nvPicPr>
        <p:blipFill>
          <a:blip r:embed="R6468e556feb445cd">
            <a:extLst>
              <a:ext uri="{96DAC541-7B7A-43D3-8B79-37D633B846F1}">
                <asvg:svgBlip xmlns:asvg="http://schemas.microsoft.com/office/drawing/2016/SVG/main" r:embed="R56e6fcbc46094c10"/>
              </a:ext>
            </a:extLst>
          </a:blip>
          <a:stretch>
            <a:fillRect/>
          </a:stretch>
        </p:blipFill>
        <p:spPr>
          <a:xfrm>
            <a:off x="1215390" y="2593181"/>
            <a:ext cx="306110" cy="306110"/>
          </a:xfrm>
          <a:prstGeom prst="rect">
            <a:avLst/>
          </a:prstGeom>
        </p:spPr>
      </p:pic>
      <p:sp>
        <p:nvSpPr>
          <p:cNvPr id="6" name="Text 3"/>
          <p:cNvSpPr/>
          <p:nvPr/>
        </p:nvSpPr>
        <p:spPr>
          <a:xfrm>
            <a:off x="1028224" y="3313390"/>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3B4E4E"/>
                </a:solidFill>
                <a:latin typeface="Syne Bold" pitchFamily="34" charset="0"/>
                <a:ea typeface="Syne Bold" pitchFamily="34" charset="-122"/>
                <a:cs typeface="Syne Bold" pitchFamily="34" charset="-120"/>
              </a:rPr>
              <a:t>Backend</a:t>
            </a:r>
            <a:endParaRPr lang="en-US" sz="2200" dirty="0"/>
          </a:p>
        </p:txBody>
      </p:sp>
      <p:sp>
        <p:nvSpPr>
          <p:cNvPr id="7" name="Text 4"/>
          <p:cNvSpPr/>
          <p:nvPr/>
        </p:nvSpPr>
        <p:spPr>
          <a:xfrm>
            <a:off x="1028224" y="3803809"/>
            <a:ext cx="5939076" cy="362903"/>
          </a:xfrm>
          <a:prstGeom prst="rect">
            <a:avLst/>
          </a:prstGeom>
          <a:noFill/>
          <a:ln/>
        </p:spPr>
        <p:txBody>
          <a:bodyPr wrap="non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Node.js, Express, Sequelize ORM, REST APIs</a:t>
            </a:r>
            <a:endParaRPr lang="en-US" sz="1750" dirty="0"/>
          </a:p>
        </p:txBody>
      </p:sp>
      <p:sp>
        <p:nvSpPr>
          <p:cNvPr id="8" name="Shape 5"/>
          <p:cNvSpPr/>
          <p:nvPr/>
        </p:nvSpPr>
        <p:spPr>
          <a:xfrm>
            <a:off x="7428548" y="2171700"/>
            <a:ext cx="6408063" cy="2229445"/>
          </a:xfrm>
          <a:prstGeom prst="roundRect">
            <a:avLst>
              <a:gd name="adj" fmla="val 4273"/>
            </a:avLst>
          </a:prstGeom>
          <a:solidFill>
            <a:srgbClr val="DDEEE6"/>
          </a:solidFill>
          <a:ln w="7620">
            <a:solidFill>
              <a:srgbClr val="C3D4CC"/>
            </a:solidFill>
            <a:prstDash val="solid"/>
          </a:ln>
        </p:spPr>
      </p:sp>
      <p:sp>
        <p:nvSpPr>
          <p:cNvPr id="9" name="Shape 6"/>
          <p:cNvSpPr/>
          <p:nvPr/>
        </p:nvSpPr>
        <p:spPr>
          <a:xfrm>
            <a:off x="7662982" y="2406134"/>
            <a:ext cx="680442" cy="680442"/>
          </a:xfrm>
          <a:prstGeom prst="roundRect">
            <a:avLst>
              <a:gd name="adj" fmla="val 13436980"/>
            </a:avLst>
          </a:prstGeom>
          <a:solidFill>
            <a:srgbClr val="224435"/>
          </a:solidFill>
          <a:ln/>
        </p:spPr>
      </p:sp>
      <p:pic>
        <p:nvPicPr>
          <p:cNvPr id="10" name="Image 1" descr="preencoded.png">    </p:cNvPr>
          <p:cNvPicPr>
            <a:picLocks noChangeAspect="1"/>
          </p:cNvPicPr>
          <p:nvPr/>
        </p:nvPicPr>
        <p:blipFill>
          <a:blip r:embed="R6468e556feb445cd">
            <a:extLst>
              <a:ext uri="{96DAC541-7B7A-43D3-8B79-37D633B846F1}">
                <asvg:svgBlip xmlns:asvg="http://schemas.microsoft.com/office/drawing/2016/SVG/main" r:embed="R983ca080d5794a26"/>
              </a:ext>
            </a:extLst>
          </a:blip>
          <a:stretch>
            <a:fillRect/>
          </a:stretch>
        </p:blipFill>
        <p:spPr>
          <a:xfrm>
            <a:off x="7850148" y="2593181"/>
            <a:ext cx="306110" cy="306110"/>
          </a:xfrm>
          <a:prstGeom prst="rect">
            <a:avLst/>
          </a:prstGeom>
        </p:spPr>
      </p:pic>
      <p:sp>
        <p:nvSpPr>
          <p:cNvPr id="11" name="Text 7"/>
          <p:cNvSpPr/>
          <p:nvPr/>
        </p:nvSpPr>
        <p:spPr>
          <a:xfrm>
            <a:off x="7662982" y="3313390"/>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3B4E4E"/>
                </a:solidFill>
                <a:latin typeface="Syne Bold" pitchFamily="34" charset="0"/>
                <a:ea typeface="Syne Bold" pitchFamily="34" charset="-122"/>
                <a:cs typeface="Syne Bold" pitchFamily="34" charset="-120"/>
              </a:rPr>
              <a:t>Database</a:t>
            </a:r>
            <a:endParaRPr lang="en-US" sz="2200" dirty="0"/>
          </a:p>
        </p:txBody>
      </p:sp>
      <p:sp>
        <p:nvSpPr>
          <p:cNvPr id="12" name="Text 8"/>
          <p:cNvSpPr/>
          <p:nvPr/>
        </p:nvSpPr>
        <p:spPr>
          <a:xfrm>
            <a:off x="7662982" y="3803809"/>
            <a:ext cx="5939195" cy="362903"/>
          </a:xfrm>
          <a:prstGeom prst="rect">
            <a:avLst/>
          </a:prstGeom>
          <a:noFill/>
          <a:ln/>
        </p:spPr>
        <p:txBody>
          <a:bodyPr wrap="non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PostgreSQL for data storage, Redis for caching</a:t>
            </a:r>
            <a:endParaRPr lang="en-US" sz="1750" dirty="0"/>
          </a:p>
        </p:txBody>
      </p:sp>
      <p:sp>
        <p:nvSpPr>
          <p:cNvPr id="13" name="Shape 9"/>
          <p:cNvSpPr/>
          <p:nvPr/>
        </p:nvSpPr>
        <p:spPr>
          <a:xfrm>
            <a:off x="793790" y="4627959"/>
            <a:ext cx="6407944" cy="2592348"/>
          </a:xfrm>
          <a:prstGeom prst="roundRect">
            <a:avLst>
              <a:gd name="adj" fmla="val 3675"/>
            </a:avLst>
          </a:prstGeom>
          <a:solidFill>
            <a:srgbClr val="DDEEE6"/>
          </a:solidFill>
          <a:ln w="7620">
            <a:solidFill>
              <a:srgbClr val="C3D4CC"/>
            </a:solidFill>
            <a:prstDash val="solid"/>
          </a:ln>
        </p:spPr>
      </p:sp>
      <p:sp>
        <p:nvSpPr>
          <p:cNvPr id="14" name="Shape 10"/>
          <p:cNvSpPr/>
          <p:nvPr/>
        </p:nvSpPr>
        <p:spPr>
          <a:xfrm>
            <a:off x="1028224" y="4862393"/>
            <a:ext cx="680442" cy="680442"/>
          </a:xfrm>
          <a:prstGeom prst="roundRect">
            <a:avLst>
              <a:gd name="adj" fmla="val 13436980"/>
            </a:avLst>
          </a:prstGeom>
          <a:solidFill>
            <a:srgbClr val="224435"/>
          </a:solidFill>
          <a:ln/>
        </p:spPr>
      </p:sp>
      <p:pic>
        <p:nvPicPr>
          <p:cNvPr id="15" name="Image 2" descr="preencoded.png">    </p:cNvPr>
          <p:cNvPicPr>
            <a:picLocks noChangeAspect="1"/>
          </p:cNvPicPr>
          <p:nvPr/>
        </p:nvPicPr>
        <p:blipFill>
          <a:blip r:embed="R6468e556feb445cd">
            <a:extLst>
              <a:ext uri="{96DAC541-7B7A-43D3-8B79-37D633B846F1}">
                <asvg:svgBlip xmlns:asvg="http://schemas.microsoft.com/office/drawing/2016/SVG/main" r:embed="R938c554b59294587"/>
              </a:ext>
            </a:extLst>
          </a:blip>
          <a:stretch>
            <a:fillRect/>
          </a:stretch>
        </p:blipFill>
        <p:spPr>
          <a:xfrm>
            <a:off x="1215390" y="5049441"/>
            <a:ext cx="306110" cy="306110"/>
          </a:xfrm>
          <a:prstGeom prst="rect">
            <a:avLst/>
          </a:prstGeom>
        </p:spPr>
      </p:pic>
      <p:sp>
        <p:nvSpPr>
          <p:cNvPr id="16" name="Text 11"/>
          <p:cNvSpPr/>
          <p:nvPr/>
        </p:nvSpPr>
        <p:spPr>
          <a:xfrm>
            <a:off x="1028224" y="5769650"/>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3B4E4E"/>
                </a:solidFill>
                <a:latin typeface="Syne Bold" pitchFamily="34" charset="0"/>
                <a:ea typeface="Syne Bold" pitchFamily="34" charset="-122"/>
                <a:cs typeface="Syne Bold" pitchFamily="34" charset="-120"/>
              </a:rPr>
              <a:t>Cloud Services</a:t>
            </a:r>
            <a:endParaRPr lang="en-US" sz="2200" dirty="0"/>
          </a:p>
        </p:txBody>
      </p:sp>
      <p:sp>
        <p:nvSpPr>
          <p:cNvPr id="17" name="Text 12"/>
          <p:cNvSpPr/>
          <p:nvPr/>
        </p:nvSpPr>
        <p:spPr>
          <a:xfrm>
            <a:off x="1028224" y="6260068"/>
            <a:ext cx="5939076" cy="362903"/>
          </a:xfrm>
          <a:prstGeom prst="rect">
            <a:avLst/>
          </a:prstGeom>
          <a:noFill/>
          <a:ln/>
        </p:spPr>
        <p:txBody>
          <a:bodyPr wrap="non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Cloudinary (media), Twilio (SMS), Nodemailer (email)</a:t>
            </a:r>
            <a:endParaRPr lang="en-US" sz="1750" dirty="0"/>
          </a:p>
        </p:txBody>
      </p:sp>
      <p:sp>
        <p:nvSpPr>
          <p:cNvPr id="18" name="Shape 13"/>
          <p:cNvSpPr/>
          <p:nvPr/>
        </p:nvSpPr>
        <p:spPr>
          <a:xfrm>
            <a:off x="7428548" y="4627959"/>
            <a:ext cx="6408063" cy="2592348"/>
          </a:xfrm>
          <a:prstGeom prst="roundRect">
            <a:avLst>
              <a:gd name="adj" fmla="val 3675"/>
            </a:avLst>
          </a:prstGeom>
          <a:solidFill>
            <a:srgbClr val="DDEEE6"/>
          </a:solidFill>
          <a:ln w="7620">
            <a:solidFill>
              <a:srgbClr val="C3D4CC"/>
            </a:solidFill>
            <a:prstDash val="solid"/>
          </a:ln>
        </p:spPr>
      </p:sp>
      <p:sp>
        <p:nvSpPr>
          <p:cNvPr id="19" name="Shape 14"/>
          <p:cNvSpPr/>
          <p:nvPr/>
        </p:nvSpPr>
        <p:spPr>
          <a:xfrm>
            <a:off x="7662982" y="4862393"/>
            <a:ext cx="680442" cy="680442"/>
          </a:xfrm>
          <a:prstGeom prst="roundRect">
            <a:avLst>
              <a:gd name="adj" fmla="val 13436980"/>
            </a:avLst>
          </a:prstGeom>
          <a:solidFill>
            <a:srgbClr val="224435"/>
          </a:solidFill>
          <a:ln/>
        </p:spPr>
      </p:sp>
      <p:pic>
        <p:nvPicPr>
          <p:cNvPr id="20" name="Image 3" descr="preencoded.png">    </p:cNvPr>
          <p:cNvPicPr>
            <a:picLocks noChangeAspect="1"/>
          </p:cNvPicPr>
          <p:nvPr/>
        </p:nvPicPr>
        <p:blipFill>
          <a:blip r:embed="R6468e556feb445cd">
            <a:extLst>
              <a:ext uri="{96DAC541-7B7A-43D3-8B79-37D633B846F1}">
                <asvg:svgBlip xmlns:asvg="http://schemas.microsoft.com/office/drawing/2016/SVG/main" r:embed="Ra9863bbc69814f58"/>
              </a:ext>
            </a:extLst>
          </a:blip>
          <a:stretch>
            <a:fillRect/>
          </a:stretch>
        </p:blipFill>
        <p:spPr>
          <a:xfrm>
            <a:off x="7850148" y="5049441"/>
            <a:ext cx="306110" cy="306110"/>
          </a:xfrm>
          <a:prstGeom prst="rect">
            <a:avLst/>
          </a:prstGeom>
        </p:spPr>
      </p:pic>
      <p:sp>
        <p:nvSpPr>
          <p:cNvPr id="21" name="Text 15"/>
          <p:cNvSpPr/>
          <p:nvPr/>
        </p:nvSpPr>
        <p:spPr>
          <a:xfrm>
            <a:off x="7662982" y="5769650"/>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3B4E4E"/>
                </a:solidFill>
                <a:latin typeface="Syne Bold" pitchFamily="34" charset="0"/>
                <a:ea typeface="Syne Bold" pitchFamily="34" charset="-122"/>
                <a:cs typeface="Syne Bold" pitchFamily="34" charset="-120"/>
              </a:rPr>
              <a:t>Real-Time</a:t>
            </a:r>
            <a:endParaRPr lang="en-US" sz="2200" dirty="0"/>
          </a:p>
        </p:txBody>
      </p:sp>
      <p:sp>
        <p:nvSpPr>
          <p:cNvPr id="22" name="Text 16"/>
          <p:cNvSpPr/>
          <p:nvPr/>
        </p:nvSpPr>
        <p:spPr>
          <a:xfrm>
            <a:off x="7662982" y="6260068"/>
            <a:ext cx="5939195" cy="725805"/>
          </a:xfrm>
          <a:prstGeom prst="rect">
            <a:avLst/>
          </a:prstGeom>
          <a:noFill/>
          <a:ln/>
        </p:spPr>
        <p:txBody>
          <a:bodyPr wrap="squar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Socket.io for WebSocket communication and instant updates</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bff37d0ad33f4fe8"/>
          <a:stretch>
            <a:fillRect/>
          </a:stretch>
        </p:blipFill>
        <p:spPr>
          <a:xfrm>
            <a:off x="9144000" y="0"/>
            <a:ext cx="5486400" cy="8229600"/>
          </a:xfrm>
          <a:prstGeom prst="rect">
            <a:avLst/>
          </a:prstGeom>
        </p:spPr>
      </p:pic>
      <p:sp>
        <p:nvSpPr>
          <p:cNvPr id="3" name="Text 0"/>
          <p:cNvSpPr/>
          <p:nvPr/>
        </p:nvSpPr>
        <p:spPr>
          <a:xfrm>
            <a:off x="769025" y="631746"/>
            <a:ext cx="7605951" cy="1373267"/>
          </a:xfrm>
          <a:prstGeom prst="rect">
            <a:avLst/>
          </a:prstGeom>
          <a:noFill/>
          <a:ln/>
        </p:spPr>
        <p:txBody>
          <a:bodyPr wrap="square" lIns="0" tIns="0" rIns="0" bIns="0" rtlCol="0" anchor="t"/>
          <a:lstStyle/>
          <a:p>
            <a:pPr algn="l" indent="0" marL="0">
              <a:lnSpc>
                <a:spcPts val="5400"/>
              </a:lnSpc>
              <a:buNone/>
            </a:pPr>
            <a:r>
              <a:rPr lang="en-US" sz="4300" b="1" dirty="0">
                <a:solidFill>
                  <a:srgbClr val="233939"/>
                </a:solidFill>
                <a:latin typeface="Syne Bold" pitchFamily="34" charset="0"/>
                <a:ea typeface="Syne Bold" pitchFamily="34" charset="-122"/>
                <a:cs typeface="Syne Bold" pitchFamily="34" charset="-120"/>
              </a:rPr>
              <a:t>MVC Architecture Overview</a:t>
            </a:r>
            <a:endParaRPr lang="en-US" sz="4300" dirty="0"/>
          </a:p>
        </p:txBody>
      </p:sp>
      <p:pic>
        <p:nvPicPr>
          <p:cNvPr id="4" name="Image 1" descr="preencoded.png">    </p:cNvPr>
          <p:cNvPicPr>
            <a:picLocks noChangeAspect="1"/>
          </p:cNvPicPr>
          <p:nvPr/>
        </p:nvPicPr>
        <p:blipFill>
          <a:blip r:embed="R03043853654c4dd5"/>
          <a:stretch>
            <a:fillRect/>
          </a:stretch>
        </p:blipFill>
        <p:spPr>
          <a:xfrm>
            <a:off x="769025" y="2324219"/>
            <a:ext cx="1098590" cy="1318379"/>
          </a:xfrm>
          <a:prstGeom prst="rect">
            <a:avLst/>
          </a:prstGeom>
        </p:spPr>
      </p:pic>
      <p:sp>
        <p:nvSpPr>
          <p:cNvPr id="5" name="Text 1"/>
          <p:cNvSpPr/>
          <p:nvPr/>
        </p:nvSpPr>
        <p:spPr>
          <a:xfrm>
            <a:off x="2080379" y="2543889"/>
            <a:ext cx="2746653" cy="343257"/>
          </a:xfrm>
          <a:prstGeom prst="rect">
            <a:avLst/>
          </a:prstGeom>
          <a:noFill/>
          <a:ln/>
        </p:spPr>
        <p:txBody>
          <a:bodyPr wrap="none" lIns="0" tIns="0" rIns="0" bIns="0" rtlCol="0" anchor="t"/>
          <a:lstStyle/>
          <a:p>
            <a:pPr algn="l" indent="0" marL="0">
              <a:lnSpc>
                <a:spcPts val="2700"/>
              </a:lnSpc>
              <a:buNone/>
            </a:pPr>
            <a:r>
              <a:rPr lang="en-US" sz="2150" b="1" dirty="0">
                <a:solidFill>
                  <a:srgbClr val="3B4E4E"/>
                </a:solidFill>
                <a:latin typeface="Syne Bold" pitchFamily="34" charset="0"/>
                <a:ea typeface="Syne Bold" pitchFamily="34" charset="-122"/>
                <a:cs typeface="Syne Bold" pitchFamily="34" charset="-120"/>
              </a:rPr>
              <a:t>Frontend Layer</a:t>
            </a:r>
            <a:endParaRPr lang="en-US" sz="2150" dirty="0"/>
          </a:p>
        </p:txBody>
      </p:sp>
      <p:sp>
        <p:nvSpPr>
          <p:cNvPr id="6" name="Text 2"/>
          <p:cNvSpPr/>
          <p:nvPr/>
        </p:nvSpPr>
        <p:spPr>
          <a:xfrm>
            <a:off x="2080379" y="3014782"/>
            <a:ext cx="6294596" cy="346115"/>
          </a:xfrm>
          <a:prstGeom prst="rect">
            <a:avLst/>
          </a:prstGeom>
          <a:noFill/>
          <a:ln/>
        </p:spPr>
        <p:txBody>
          <a:bodyPr wrap="none" lIns="0" tIns="0" rIns="0" bIns="0" rtlCol="0" anchor="t"/>
          <a:lstStyle/>
          <a:p>
            <a:pPr algn="l" indent="0" marL="0">
              <a:lnSpc>
                <a:spcPts val="2700"/>
              </a:lnSpc>
              <a:buNone/>
            </a:pPr>
            <a:r>
              <a:rPr lang="en-US" sz="1700" dirty="0">
                <a:solidFill>
                  <a:srgbClr val="3B4E4E"/>
                </a:solidFill>
                <a:latin typeface="Overpass Light" pitchFamily="34" charset="0"/>
                <a:ea typeface="Overpass Light" pitchFamily="34" charset="-122"/>
                <a:cs typeface="Overpass Light" pitchFamily="34" charset="-120"/>
              </a:rPr>
              <a:t>HTML/CSS/JavaScript templates with responsive UI components</a:t>
            </a:r>
            <a:endParaRPr lang="en-US" sz="1700" dirty="0"/>
          </a:p>
        </p:txBody>
      </p:sp>
      <p:pic>
        <p:nvPicPr>
          <p:cNvPr id="7" name="Image 2" descr="preencoded.png">    </p:cNvPr>
          <p:cNvPicPr>
            <a:picLocks noChangeAspect="1"/>
          </p:cNvPicPr>
          <p:nvPr/>
        </p:nvPicPr>
        <p:blipFill>
          <a:blip r:embed="R9513ace4323c4903"/>
          <a:stretch>
            <a:fillRect/>
          </a:stretch>
        </p:blipFill>
        <p:spPr>
          <a:xfrm>
            <a:off x="769025" y="3642598"/>
            <a:ext cx="1098590" cy="1318379"/>
          </a:xfrm>
          <a:prstGeom prst="rect">
            <a:avLst/>
          </a:prstGeom>
        </p:spPr>
      </p:pic>
      <p:sp>
        <p:nvSpPr>
          <p:cNvPr id="8" name="Text 3"/>
          <p:cNvSpPr/>
          <p:nvPr/>
        </p:nvSpPr>
        <p:spPr>
          <a:xfrm>
            <a:off x="2080379" y="3862268"/>
            <a:ext cx="2746653" cy="343257"/>
          </a:xfrm>
          <a:prstGeom prst="rect">
            <a:avLst/>
          </a:prstGeom>
          <a:noFill/>
          <a:ln/>
        </p:spPr>
        <p:txBody>
          <a:bodyPr wrap="none" lIns="0" tIns="0" rIns="0" bIns="0" rtlCol="0" anchor="t"/>
          <a:lstStyle/>
          <a:p>
            <a:pPr algn="l" indent="0" marL="0">
              <a:lnSpc>
                <a:spcPts val="2700"/>
              </a:lnSpc>
              <a:buNone/>
            </a:pPr>
            <a:r>
              <a:rPr lang="en-US" sz="2150" b="1" dirty="0">
                <a:solidFill>
                  <a:srgbClr val="3B4E4E"/>
                </a:solidFill>
                <a:latin typeface="Syne Bold" pitchFamily="34" charset="0"/>
                <a:ea typeface="Syne Bold" pitchFamily="34" charset="-122"/>
                <a:cs typeface="Syne Bold" pitchFamily="34" charset="-120"/>
              </a:rPr>
              <a:t>Controller Layer</a:t>
            </a:r>
            <a:endParaRPr lang="en-US" sz="2150" dirty="0"/>
          </a:p>
        </p:txBody>
      </p:sp>
      <p:sp>
        <p:nvSpPr>
          <p:cNvPr id="9" name="Text 4"/>
          <p:cNvSpPr/>
          <p:nvPr/>
        </p:nvSpPr>
        <p:spPr>
          <a:xfrm>
            <a:off x="2080379" y="4333161"/>
            <a:ext cx="6294596" cy="346115"/>
          </a:xfrm>
          <a:prstGeom prst="rect">
            <a:avLst/>
          </a:prstGeom>
          <a:noFill/>
          <a:ln/>
        </p:spPr>
        <p:txBody>
          <a:bodyPr wrap="none" lIns="0" tIns="0" rIns="0" bIns="0" rtlCol="0" anchor="t"/>
          <a:lstStyle/>
          <a:p>
            <a:pPr algn="l" indent="0" marL="0">
              <a:lnSpc>
                <a:spcPts val="2700"/>
              </a:lnSpc>
              <a:buNone/>
            </a:pPr>
            <a:r>
              <a:rPr lang="en-US" sz="1700" dirty="0">
                <a:solidFill>
                  <a:srgbClr val="3B4E4E"/>
                </a:solidFill>
                <a:latin typeface="Overpass Light" pitchFamily="34" charset="0"/>
                <a:ea typeface="Overpass Light" pitchFamily="34" charset="-122"/>
                <a:cs typeface="Overpass Light" pitchFamily="34" charset="-120"/>
              </a:rPr>
              <a:t>Express routes handle requests, validate input, manage sessions</a:t>
            </a:r>
            <a:endParaRPr lang="en-US" sz="1700" dirty="0"/>
          </a:p>
        </p:txBody>
      </p:sp>
      <p:pic>
        <p:nvPicPr>
          <p:cNvPr id="10" name="Image 3" descr="preencoded.png">    </p:cNvPr>
          <p:cNvPicPr>
            <a:picLocks noChangeAspect="1"/>
          </p:cNvPicPr>
          <p:nvPr/>
        </p:nvPicPr>
        <p:blipFill>
          <a:blip r:embed="R83f4a8b62d6a4a5b"/>
          <a:stretch>
            <a:fillRect/>
          </a:stretch>
        </p:blipFill>
        <p:spPr>
          <a:xfrm>
            <a:off x="769025" y="4960977"/>
            <a:ext cx="1098590" cy="1318379"/>
          </a:xfrm>
          <a:prstGeom prst="rect">
            <a:avLst/>
          </a:prstGeom>
        </p:spPr>
      </p:pic>
      <p:sp>
        <p:nvSpPr>
          <p:cNvPr id="11" name="Text 5"/>
          <p:cNvSpPr/>
          <p:nvPr/>
        </p:nvSpPr>
        <p:spPr>
          <a:xfrm>
            <a:off x="2080379" y="5180647"/>
            <a:ext cx="2746653" cy="343257"/>
          </a:xfrm>
          <a:prstGeom prst="rect">
            <a:avLst/>
          </a:prstGeom>
          <a:noFill/>
          <a:ln/>
        </p:spPr>
        <p:txBody>
          <a:bodyPr wrap="none" lIns="0" tIns="0" rIns="0" bIns="0" rtlCol="0" anchor="t"/>
          <a:lstStyle/>
          <a:p>
            <a:pPr algn="l" indent="0" marL="0">
              <a:lnSpc>
                <a:spcPts val="2700"/>
              </a:lnSpc>
              <a:buNone/>
            </a:pPr>
            <a:r>
              <a:rPr lang="en-US" sz="2150" b="1" dirty="0">
                <a:solidFill>
                  <a:srgbClr val="3B4E4E"/>
                </a:solidFill>
                <a:latin typeface="Syne Bold" pitchFamily="34" charset="0"/>
                <a:ea typeface="Syne Bold" pitchFamily="34" charset="-122"/>
                <a:cs typeface="Syne Bold" pitchFamily="34" charset="-120"/>
              </a:rPr>
              <a:t>Model Layer</a:t>
            </a:r>
            <a:endParaRPr lang="en-US" sz="2150" dirty="0"/>
          </a:p>
        </p:txBody>
      </p:sp>
      <p:sp>
        <p:nvSpPr>
          <p:cNvPr id="12" name="Text 6"/>
          <p:cNvSpPr/>
          <p:nvPr/>
        </p:nvSpPr>
        <p:spPr>
          <a:xfrm>
            <a:off x="2080379" y="5651540"/>
            <a:ext cx="6294596" cy="346115"/>
          </a:xfrm>
          <a:prstGeom prst="rect">
            <a:avLst/>
          </a:prstGeom>
          <a:noFill/>
          <a:ln/>
        </p:spPr>
        <p:txBody>
          <a:bodyPr wrap="none" lIns="0" tIns="0" rIns="0" bIns="0" rtlCol="0" anchor="t"/>
          <a:lstStyle/>
          <a:p>
            <a:pPr algn="l" indent="0" marL="0">
              <a:lnSpc>
                <a:spcPts val="2700"/>
              </a:lnSpc>
              <a:buNone/>
            </a:pPr>
            <a:r>
              <a:rPr lang="en-US" sz="1700" dirty="0">
                <a:solidFill>
                  <a:srgbClr val="3B4E4E"/>
                </a:solidFill>
                <a:latin typeface="Overpass Light" pitchFamily="34" charset="0"/>
                <a:ea typeface="Overpass Light" pitchFamily="34" charset="-122"/>
                <a:cs typeface="Overpass Light" pitchFamily="34" charset="-120"/>
              </a:rPr>
              <a:t>Sequelize ORM maps database tables, enforces data integrity</a:t>
            </a:r>
            <a:endParaRPr lang="en-US" sz="1700" dirty="0"/>
          </a:p>
        </p:txBody>
      </p:sp>
      <p:pic>
        <p:nvPicPr>
          <p:cNvPr id="13" name="Image 4" descr="preencoded.png">    </p:cNvPr>
          <p:cNvPicPr>
            <a:picLocks noChangeAspect="1"/>
          </p:cNvPicPr>
          <p:nvPr/>
        </p:nvPicPr>
        <p:blipFill>
          <a:blip r:embed="R9883ecd997f74ee2"/>
          <a:stretch>
            <a:fillRect/>
          </a:stretch>
        </p:blipFill>
        <p:spPr>
          <a:xfrm>
            <a:off x="769025" y="6279356"/>
            <a:ext cx="1098590" cy="1318379"/>
          </a:xfrm>
          <a:prstGeom prst="rect">
            <a:avLst/>
          </a:prstGeom>
        </p:spPr>
      </p:pic>
      <p:sp>
        <p:nvSpPr>
          <p:cNvPr id="14" name="Text 7"/>
          <p:cNvSpPr/>
          <p:nvPr/>
        </p:nvSpPr>
        <p:spPr>
          <a:xfrm>
            <a:off x="2080379" y="6499027"/>
            <a:ext cx="2746653" cy="343257"/>
          </a:xfrm>
          <a:prstGeom prst="rect">
            <a:avLst/>
          </a:prstGeom>
          <a:noFill/>
          <a:ln/>
        </p:spPr>
        <p:txBody>
          <a:bodyPr wrap="none" lIns="0" tIns="0" rIns="0" bIns="0" rtlCol="0" anchor="t"/>
          <a:lstStyle/>
          <a:p>
            <a:pPr algn="l" indent="0" marL="0">
              <a:lnSpc>
                <a:spcPts val="2700"/>
              </a:lnSpc>
              <a:buNone/>
            </a:pPr>
            <a:r>
              <a:rPr lang="en-US" sz="2150" b="1" dirty="0">
                <a:solidFill>
                  <a:srgbClr val="3B4E4E"/>
                </a:solidFill>
                <a:latin typeface="Syne Bold" pitchFamily="34" charset="0"/>
                <a:ea typeface="Syne Bold" pitchFamily="34" charset="-122"/>
                <a:cs typeface="Syne Bold" pitchFamily="34" charset="-120"/>
              </a:rPr>
              <a:t>Database Layer</a:t>
            </a:r>
            <a:endParaRPr lang="en-US" sz="2150" dirty="0"/>
          </a:p>
        </p:txBody>
      </p:sp>
      <p:sp>
        <p:nvSpPr>
          <p:cNvPr id="15" name="Text 8"/>
          <p:cNvSpPr/>
          <p:nvPr/>
        </p:nvSpPr>
        <p:spPr>
          <a:xfrm>
            <a:off x="2080379" y="6969919"/>
            <a:ext cx="6294596" cy="346115"/>
          </a:xfrm>
          <a:prstGeom prst="rect">
            <a:avLst/>
          </a:prstGeom>
          <a:noFill/>
          <a:ln/>
        </p:spPr>
        <p:txBody>
          <a:bodyPr wrap="none" lIns="0" tIns="0" rIns="0" bIns="0" rtlCol="0" anchor="t"/>
          <a:lstStyle/>
          <a:p>
            <a:pPr algn="l" indent="0" marL="0">
              <a:lnSpc>
                <a:spcPts val="2700"/>
              </a:lnSpc>
              <a:buNone/>
            </a:pPr>
            <a:r>
              <a:rPr lang="en-US" sz="1700" dirty="0">
                <a:solidFill>
                  <a:srgbClr val="3B4E4E"/>
                </a:solidFill>
                <a:latin typeface="Overpass Light" pitchFamily="34" charset="0"/>
                <a:ea typeface="Overpass Light" pitchFamily="34" charset="-122"/>
                <a:cs typeface="Overpass Light" pitchFamily="34" charset="-120"/>
              </a:rPr>
              <a:t>PostgreSQL stores all data with optimized queries and indexes</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537454"/>
            <a:ext cx="11203424" cy="708779"/>
          </a:xfrm>
          <a:prstGeom prst="rect">
            <a:avLst/>
          </a:prstGeom>
          <a:noFill/>
          <a:ln/>
        </p:spPr>
        <p:txBody>
          <a:bodyPr wrap="none" lIns="0" tIns="0" rIns="0" bIns="0" rtlCol="0" anchor="t"/>
          <a:lstStyle/>
          <a:p>
            <a:pPr algn="l" indent="0" marL="0">
              <a:lnSpc>
                <a:spcPts val="5550"/>
              </a:lnSpc>
              <a:buNone/>
            </a:pPr>
            <a:r>
              <a:rPr lang="en-US" sz="4450" b="1" dirty="0">
                <a:solidFill>
                  <a:srgbClr val="233939"/>
                </a:solidFill>
                <a:latin typeface="Syne Bold" pitchFamily="34" charset="0"/>
                <a:ea typeface="Syne Bold" pitchFamily="34" charset="-122"/>
                <a:cs typeface="Syne Bold" pitchFamily="34" charset="-120"/>
              </a:rPr>
              <a:t>Database Entity Relationship Model</a:t>
            </a:r>
            <a:endParaRPr lang="en-US" sz="4450" dirty="0"/>
          </a:p>
        </p:txBody>
      </p:sp>
      <p:pic>
        <p:nvPicPr>
          <p:cNvPr id="3" name="Image 0" descr="preencoded.png">    </p:cNvPr>
          <p:cNvPicPr>
            <a:picLocks noChangeAspect="1"/>
          </p:cNvPicPr>
          <p:nvPr/>
        </p:nvPicPr>
        <p:blipFill>
          <a:blip r:embed="R43a9643b43714bdb"/>
          <a:stretch>
            <a:fillRect/>
          </a:stretch>
        </p:blipFill>
        <p:spPr>
          <a:xfrm>
            <a:off x="793790" y="2841546"/>
            <a:ext cx="6924437" cy="3595330"/>
          </a:xfrm>
          <a:prstGeom prst="rect">
            <a:avLst/>
          </a:prstGeom>
        </p:spPr>
      </p:pic>
      <p:sp>
        <p:nvSpPr>
          <p:cNvPr id="4" name="Text 1"/>
          <p:cNvSpPr/>
          <p:nvPr/>
        </p:nvSpPr>
        <p:spPr>
          <a:xfrm>
            <a:off x="3821858" y="4250641"/>
            <a:ext cx="854469" cy="769022"/>
          </a:xfrm>
          <a:prstGeom prst="rect">
            <a:avLst/>
          </a:prstGeom>
          <a:noFill/>
          <a:ln/>
        </p:spPr>
        <p:txBody>
          <a:bodyPr wrap="square" lIns="0" tIns="0" rIns="0" bIns="0" rtlCol="0" anchor="t"/>
          <a:lstStyle/>
          <a:p>
            <a:pPr algn="ctr" indent="0" marL="0">
              <a:lnSpc>
                <a:spcPts val="1500"/>
              </a:lnSpc>
              <a:buNone/>
            </a:pPr>
            <a:r>
              <a:rPr lang="en-US" sz="1200" b="1" dirty="0">
                <a:solidFill>
                  <a:srgbClr val="FFFFFF"/>
                </a:solidFill>
                <a:latin typeface="Syne Bold" pitchFamily="34" charset="0"/>
                <a:ea typeface="Syne Bold" pitchFamily="34" charset="-122"/>
                <a:cs typeface="Syne Bold" pitchFamily="34" charset="-120"/>
              </a:rPr>
              <a:t>Entity Relationship Overview</a:t>
            </a:r>
            <a:endParaRPr lang="en-US" sz="1200" dirty="0"/>
          </a:p>
        </p:txBody>
      </p:sp>
      <p:pic>
        <p:nvPicPr>
          <p:cNvPr id="5" name="Image 1" descr="preencoded.png">    </p:cNvPr>
          <p:cNvPicPr>
            <a:picLocks noChangeAspect="1"/>
          </p:cNvPicPr>
          <p:nvPr/>
        </p:nvPicPr>
        <p:blipFill>
          <a:blip r:embed="R251a1ebe003a4d7d">
            <a:extLst>
              <a:ext uri="{96DAC541-7B7A-43D3-8B79-37D633B846F1}">
                <asvg:svgBlip xmlns:asvg="http://schemas.microsoft.com/office/drawing/2016/SVG/main" r:embed="R1665fcf8fcd74616"/>
              </a:ext>
            </a:extLst>
          </a:blip>
          <a:stretch>
            <a:fillRect/>
          </a:stretch>
        </p:blipFill>
        <p:spPr>
          <a:xfrm>
            <a:off x="3332034" y="3794996"/>
            <a:ext cx="173884" cy="173884"/>
          </a:xfrm>
          <a:prstGeom prst="rect">
            <a:avLst/>
          </a:prstGeom>
        </p:spPr>
      </p:pic>
      <p:sp>
        <p:nvSpPr>
          <p:cNvPr id="6" name="Text 2"/>
          <p:cNvSpPr/>
          <p:nvPr/>
        </p:nvSpPr>
        <p:spPr>
          <a:xfrm>
            <a:off x="957679" y="3583515"/>
            <a:ext cx="1497029" cy="192255"/>
          </a:xfrm>
          <a:prstGeom prst="rect">
            <a:avLst/>
          </a:prstGeom>
          <a:noFill/>
          <a:ln/>
        </p:spPr>
        <p:txBody>
          <a:bodyPr wrap="none" lIns="0" tIns="0" rIns="0" bIns="0" rtlCol="0" anchor="t"/>
          <a:lstStyle/>
          <a:p>
            <a:pPr algn="l" indent="0" marL="0">
              <a:lnSpc>
                <a:spcPts val="1500"/>
              </a:lnSpc>
              <a:buNone/>
            </a:pPr>
            <a:r>
              <a:rPr lang="en-US" sz="1200" b="1" dirty="0">
                <a:solidFill>
                  <a:srgbClr val="3B4E4E"/>
                </a:solidFill>
                <a:latin typeface="Syne Bold" pitchFamily="34" charset="0"/>
                <a:ea typeface="Syne Bold" pitchFamily="34" charset="-122"/>
                <a:cs typeface="Syne Bold" pitchFamily="34" charset="-120"/>
              </a:rPr>
              <a:t>Users</a:t>
            </a:r>
            <a:endParaRPr lang="en-US" sz="1200" dirty="0"/>
          </a:p>
        </p:txBody>
      </p:sp>
      <p:sp>
        <p:nvSpPr>
          <p:cNvPr id="7" name="Text 3"/>
          <p:cNvSpPr/>
          <p:nvPr/>
        </p:nvSpPr>
        <p:spPr>
          <a:xfrm>
            <a:off x="957679" y="3830456"/>
            <a:ext cx="1497029" cy="307608"/>
          </a:xfrm>
          <a:prstGeom prst="rect">
            <a:avLst/>
          </a:prstGeom>
          <a:noFill/>
          <a:ln/>
        </p:spPr>
        <p:txBody>
          <a:bodyPr wrap="square" lIns="0" tIns="0" rIns="0" bIns="0" rtlCol="0" anchor="t"/>
          <a:lstStyle/>
          <a:p>
            <a:pPr algn="l" indent="0" marL="0">
              <a:lnSpc>
                <a:spcPts val="1200"/>
              </a:lnSpc>
              <a:buNone/>
            </a:pPr>
            <a:r>
              <a:rPr lang="en-US" sz="950" dirty="0">
                <a:solidFill>
                  <a:srgbClr val="3B4E4E"/>
                </a:solidFill>
                <a:latin typeface="Overpass Light" pitchFamily="34" charset="0"/>
                <a:ea typeface="Overpass Light" pitchFamily="34" charset="-122"/>
                <a:cs typeface="Overpass Light" pitchFamily="34" charset="-120"/>
              </a:rPr>
              <a:t>id, name, email, role — students, staff, admins</a:t>
            </a:r>
            <a:endParaRPr lang="en-US" sz="950" dirty="0"/>
          </a:p>
        </p:txBody>
      </p:sp>
      <p:sp>
        <p:nvSpPr>
          <p:cNvPr id="8" name="Text 4"/>
          <p:cNvSpPr/>
          <p:nvPr/>
        </p:nvSpPr>
        <p:spPr>
          <a:xfrm>
            <a:off x="6057147" y="3583515"/>
            <a:ext cx="1497029" cy="192255"/>
          </a:xfrm>
          <a:prstGeom prst="rect">
            <a:avLst/>
          </a:prstGeom>
          <a:noFill/>
          <a:ln/>
        </p:spPr>
        <p:txBody>
          <a:bodyPr wrap="none" lIns="0" tIns="0" rIns="0" bIns="0" rtlCol="0" anchor="t"/>
          <a:lstStyle/>
          <a:p>
            <a:pPr algn="l" indent="0" marL="0">
              <a:lnSpc>
                <a:spcPts val="1500"/>
              </a:lnSpc>
              <a:buNone/>
            </a:pPr>
            <a:r>
              <a:rPr lang="en-US" sz="1200" b="1" dirty="0">
                <a:solidFill>
                  <a:srgbClr val="3B4E4E"/>
                </a:solidFill>
                <a:latin typeface="Syne Bold" pitchFamily="34" charset="0"/>
                <a:ea typeface="Syne Bold" pitchFamily="34" charset="-122"/>
                <a:cs typeface="Syne Bold" pitchFamily="34" charset="-120"/>
              </a:rPr>
              <a:t>Complaints</a:t>
            </a:r>
            <a:endParaRPr lang="en-US" sz="1200" dirty="0"/>
          </a:p>
        </p:txBody>
      </p:sp>
      <p:sp>
        <p:nvSpPr>
          <p:cNvPr id="9" name="Text 5"/>
          <p:cNvSpPr/>
          <p:nvPr/>
        </p:nvSpPr>
        <p:spPr>
          <a:xfrm>
            <a:off x="6057147" y="3830456"/>
            <a:ext cx="1497029" cy="461413"/>
          </a:xfrm>
          <a:prstGeom prst="rect">
            <a:avLst/>
          </a:prstGeom>
          <a:noFill/>
          <a:ln/>
        </p:spPr>
        <p:txBody>
          <a:bodyPr wrap="square" lIns="0" tIns="0" rIns="0" bIns="0" rtlCol="0" anchor="t"/>
          <a:lstStyle/>
          <a:p>
            <a:pPr algn="l" indent="0" marL="0">
              <a:lnSpc>
                <a:spcPts val="1200"/>
              </a:lnSpc>
              <a:buNone/>
            </a:pPr>
            <a:r>
              <a:rPr lang="en-US" sz="950" dirty="0">
                <a:solidFill>
                  <a:srgbClr val="3B4E4E"/>
                </a:solidFill>
                <a:latin typeface="Overpass Light" pitchFamily="34" charset="0"/>
                <a:ea typeface="Overpass Light" pitchFamily="34" charset="-122"/>
                <a:cs typeface="Overpass Light" pitchFamily="34" charset="-120"/>
              </a:rPr>
              <a:t>id, title, description, priority, status, userId, assignedTo</a:t>
            </a:r>
            <a:endParaRPr lang="en-US" sz="950" dirty="0"/>
          </a:p>
        </p:txBody>
      </p:sp>
      <p:pic>
        <p:nvPicPr>
          <p:cNvPr id="10" name="Image 2" descr="preencoded.png">    </p:cNvPr>
          <p:cNvPicPr>
            <a:picLocks noChangeAspect="1"/>
          </p:cNvPicPr>
          <p:nvPr/>
        </p:nvPicPr>
        <p:blipFill>
          <a:blip r:embed="R251a1ebe003a4d7d">
            <a:extLst>
              <a:ext uri="{96DAC541-7B7A-43D3-8B79-37D633B846F1}">
                <asvg:svgBlip xmlns:asvg="http://schemas.microsoft.com/office/drawing/2016/SVG/main" r:embed="R5ac2bca701634585"/>
              </a:ext>
            </a:extLst>
          </a:blip>
          <a:stretch>
            <a:fillRect/>
          </a:stretch>
        </p:blipFill>
        <p:spPr>
          <a:xfrm>
            <a:off x="4986285" y="3425865"/>
            <a:ext cx="173884" cy="173885"/>
          </a:xfrm>
          <a:prstGeom prst="rect">
            <a:avLst/>
          </a:prstGeom>
        </p:spPr>
      </p:pic>
      <p:pic>
        <p:nvPicPr>
          <p:cNvPr id="11" name="Image 3" descr="preencoded.png">    </p:cNvPr>
          <p:cNvPicPr>
            <a:picLocks noChangeAspect="1"/>
          </p:cNvPicPr>
          <p:nvPr/>
        </p:nvPicPr>
        <p:blipFill>
          <a:blip r:embed="R251a1ebe003a4d7d">
            <a:extLst>
              <a:ext uri="{96DAC541-7B7A-43D3-8B79-37D633B846F1}">
                <asvg:svgBlip xmlns:asvg="http://schemas.microsoft.com/office/drawing/2016/SVG/main" r:embed="Rd9b68ff39da8469f"/>
              </a:ext>
            </a:extLst>
          </a:blip>
          <a:stretch>
            <a:fillRect/>
          </a:stretch>
        </p:blipFill>
        <p:spPr>
          <a:xfrm>
            <a:off x="3010754" y="5285189"/>
            <a:ext cx="173884" cy="173884"/>
          </a:xfrm>
          <a:prstGeom prst="rect">
            <a:avLst/>
          </a:prstGeom>
        </p:spPr>
      </p:pic>
      <p:sp>
        <p:nvSpPr>
          <p:cNvPr id="12" name="Text 6"/>
          <p:cNvSpPr/>
          <p:nvPr/>
        </p:nvSpPr>
        <p:spPr>
          <a:xfrm>
            <a:off x="957679" y="5183080"/>
            <a:ext cx="1497029" cy="192255"/>
          </a:xfrm>
          <a:prstGeom prst="rect">
            <a:avLst/>
          </a:prstGeom>
          <a:noFill/>
          <a:ln/>
        </p:spPr>
        <p:txBody>
          <a:bodyPr wrap="none" lIns="0" tIns="0" rIns="0" bIns="0" rtlCol="0" anchor="t"/>
          <a:lstStyle/>
          <a:p>
            <a:pPr algn="l" indent="0" marL="0">
              <a:lnSpc>
                <a:spcPts val="1500"/>
              </a:lnSpc>
              <a:buNone/>
            </a:pPr>
            <a:r>
              <a:rPr lang="en-US" sz="1200" b="1" dirty="0">
                <a:solidFill>
                  <a:srgbClr val="3B4E4E"/>
                </a:solidFill>
                <a:latin typeface="Syne Bold" pitchFamily="34" charset="0"/>
                <a:ea typeface="Syne Bold" pitchFamily="34" charset="-122"/>
                <a:cs typeface="Syne Bold" pitchFamily="34" charset="-120"/>
              </a:rPr>
              <a:t>Messages</a:t>
            </a:r>
            <a:endParaRPr lang="en-US" sz="1200" dirty="0"/>
          </a:p>
        </p:txBody>
      </p:sp>
      <p:sp>
        <p:nvSpPr>
          <p:cNvPr id="13" name="Text 7"/>
          <p:cNvSpPr/>
          <p:nvPr/>
        </p:nvSpPr>
        <p:spPr>
          <a:xfrm>
            <a:off x="957679" y="5430021"/>
            <a:ext cx="1497029" cy="307609"/>
          </a:xfrm>
          <a:prstGeom prst="rect">
            <a:avLst/>
          </a:prstGeom>
          <a:noFill/>
          <a:ln/>
        </p:spPr>
        <p:txBody>
          <a:bodyPr wrap="square" lIns="0" tIns="0" rIns="0" bIns="0" rtlCol="0" anchor="t"/>
          <a:lstStyle/>
          <a:p>
            <a:pPr algn="l" indent="0" marL="0">
              <a:lnSpc>
                <a:spcPts val="1200"/>
              </a:lnSpc>
              <a:buNone/>
            </a:pPr>
            <a:r>
              <a:rPr lang="en-US" sz="950" dirty="0">
                <a:solidFill>
                  <a:srgbClr val="3B4E4E"/>
                </a:solidFill>
                <a:latin typeface="Overpass Light" pitchFamily="34" charset="0"/>
                <a:ea typeface="Overpass Light" pitchFamily="34" charset="-122"/>
                <a:cs typeface="Overpass Light" pitchFamily="34" charset="-120"/>
              </a:rPr>
              <a:t>id, content, timestamp, complaintId, userId</a:t>
            </a:r>
            <a:endParaRPr lang="en-US" sz="950" dirty="0"/>
          </a:p>
        </p:txBody>
      </p:sp>
      <p:sp>
        <p:nvSpPr>
          <p:cNvPr id="14" name="Text 8"/>
          <p:cNvSpPr/>
          <p:nvPr/>
        </p:nvSpPr>
        <p:spPr>
          <a:xfrm>
            <a:off x="6057147" y="5183080"/>
            <a:ext cx="1497029" cy="192255"/>
          </a:xfrm>
          <a:prstGeom prst="rect">
            <a:avLst/>
          </a:prstGeom>
          <a:noFill/>
          <a:ln/>
        </p:spPr>
        <p:txBody>
          <a:bodyPr wrap="none" lIns="0" tIns="0" rIns="0" bIns="0" rtlCol="0" anchor="t"/>
          <a:lstStyle/>
          <a:p>
            <a:pPr algn="l" indent="0" marL="0">
              <a:lnSpc>
                <a:spcPts val="1500"/>
              </a:lnSpc>
              <a:buNone/>
            </a:pPr>
            <a:r>
              <a:rPr lang="en-US" sz="1200" b="1" dirty="0">
                <a:solidFill>
                  <a:srgbClr val="3B4E4E"/>
                </a:solidFill>
                <a:latin typeface="Syne Bold" pitchFamily="34" charset="0"/>
                <a:ea typeface="Syne Bold" pitchFamily="34" charset="-122"/>
                <a:cs typeface="Syne Bold" pitchFamily="34" charset="-120"/>
              </a:rPr>
              <a:t>Feedback</a:t>
            </a:r>
            <a:endParaRPr lang="en-US" sz="1200" dirty="0"/>
          </a:p>
        </p:txBody>
      </p:sp>
      <p:sp>
        <p:nvSpPr>
          <p:cNvPr id="15" name="Text 9"/>
          <p:cNvSpPr/>
          <p:nvPr/>
        </p:nvSpPr>
        <p:spPr>
          <a:xfrm>
            <a:off x="6057147" y="5430021"/>
            <a:ext cx="1497029" cy="307609"/>
          </a:xfrm>
          <a:prstGeom prst="rect">
            <a:avLst/>
          </a:prstGeom>
          <a:noFill/>
          <a:ln/>
        </p:spPr>
        <p:txBody>
          <a:bodyPr wrap="square" lIns="0" tIns="0" rIns="0" bIns="0" rtlCol="0" anchor="t"/>
          <a:lstStyle/>
          <a:p>
            <a:pPr algn="l" indent="0" marL="0">
              <a:lnSpc>
                <a:spcPts val="1200"/>
              </a:lnSpc>
              <a:buNone/>
            </a:pPr>
            <a:r>
              <a:rPr lang="en-US" sz="950" dirty="0">
                <a:solidFill>
                  <a:srgbClr val="3B4E4E"/>
                </a:solidFill>
                <a:latin typeface="Overpass Light" pitchFamily="34" charset="0"/>
                <a:ea typeface="Overpass Light" pitchFamily="34" charset="-122"/>
                <a:cs typeface="Overpass Light" pitchFamily="34" charset="-120"/>
              </a:rPr>
              <a:t>id, rating, comment, complaintId, userId</a:t>
            </a:r>
            <a:endParaRPr lang="en-US" sz="950" dirty="0"/>
          </a:p>
        </p:txBody>
      </p:sp>
      <p:pic>
        <p:nvPicPr>
          <p:cNvPr id="16" name="Image 4" descr="preencoded.png">    </p:cNvPr>
          <p:cNvPicPr>
            <a:picLocks noChangeAspect="1"/>
          </p:cNvPicPr>
          <p:nvPr/>
        </p:nvPicPr>
        <p:blipFill>
          <a:blip r:embed="R251a1ebe003a4d7d">
            <a:extLst>
              <a:ext uri="{96DAC541-7B7A-43D3-8B79-37D633B846F1}">
                <asvg:svgBlip xmlns:asvg="http://schemas.microsoft.com/office/drawing/2016/SVG/main" r:embed="Rc63e3dfb9dd9422d"/>
              </a:ext>
            </a:extLst>
          </a:blip>
          <a:stretch>
            <a:fillRect/>
          </a:stretch>
        </p:blipFill>
        <p:spPr>
          <a:xfrm>
            <a:off x="5157179" y="5852556"/>
            <a:ext cx="173884" cy="173884"/>
          </a:xfrm>
          <a:prstGeom prst="rect">
            <a:avLst/>
          </a:prstGeom>
        </p:spPr>
      </p:pic>
      <p:sp>
        <p:nvSpPr>
          <p:cNvPr id="17" name="Text 10"/>
          <p:cNvSpPr/>
          <p:nvPr/>
        </p:nvSpPr>
        <p:spPr>
          <a:xfrm>
            <a:off x="8279249" y="3033236"/>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233939"/>
                </a:solidFill>
                <a:latin typeface="Syne Bold" pitchFamily="34" charset="0"/>
                <a:ea typeface="Syne Bold" pitchFamily="34" charset="-122"/>
                <a:cs typeface="Syne Bold" pitchFamily="34" charset="-120"/>
              </a:rPr>
              <a:t>Core Entities</a:t>
            </a:r>
            <a:endParaRPr lang="en-US" sz="2200" dirty="0"/>
          </a:p>
        </p:txBody>
      </p:sp>
      <p:sp>
        <p:nvSpPr>
          <p:cNvPr id="18" name="Text 11"/>
          <p:cNvSpPr/>
          <p:nvPr/>
        </p:nvSpPr>
        <p:spPr>
          <a:xfrm>
            <a:off x="8279249" y="3614380"/>
            <a:ext cx="5564862" cy="2778204"/>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3B4E4E"/>
                </a:solidFill>
                <a:latin typeface="Overpass Light" pitchFamily="34" charset="0"/>
                <a:ea typeface="Overpass Light" pitchFamily="34" charset="-122"/>
                <a:cs typeface="Overpass Light" pitchFamily="34" charset="-120"/>
              </a:rPr>
              <a:t>Users</a:t>
            </a:r>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 Students, staff, and administrators with role-based access</a:t>
            </a:r>
            <a:endParaRPr lang="en-US" sz="1750" dirty="0"/>
          </a:p>
          <a:p>
            <a:pPr algn="l" marL="342900" indent="-342900">
              <a:lnSpc>
                <a:spcPts val="2850"/>
              </a:lnSpc>
              <a:buSzPct val="100000"/>
              <a:buChar char="•"/>
            </a:pPr>
            <a:r>
              <a:rPr lang="en-US" sz="1750" b="1" dirty="0">
                <a:solidFill>
                  <a:srgbClr val="3B4E4E"/>
                </a:solidFill>
                <a:latin typeface="Overpass Light" pitchFamily="34" charset="0"/>
                <a:ea typeface="Overpass Light" pitchFamily="34" charset="-122"/>
                <a:cs typeface="Overpass Light" pitchFamily="34" charset="-120"/>
              </a:rPr>
              <a:t>Complaints</a:t>
            </a:r>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 Issues with priority levels, categories, and status tracking</a:t>
            </a:r>
            <a:endParaRPr lang="en-US" sz="1750" dirty="0"/>
          </a:p>
          <a:p>
            <a:pPr algn="l" marL="342900" indent="-342900">
              <a:lnSpc>
                <a:spcPts val="2850"/>
              </a:lnSpc>
              <a:buSzPct val="100000"/>
              <a:buChar char="•"/>
            </a:pPr>
            <a:r>
              <a:rPr lang="en-US" sz="1750" b="1" dirty="0">
                <a:solidFill>
                  <a:srgbClr val="3B4E4E"/>
                </a:solidFill>
                <a:latin typeface="Overpass Light" pitchFamily="34" charset="0"/>
                <a:ea typeface="Overpass Light" pitchFamily="34" charset="-122"/>
                <a:cs typeface="Overpass Light" pitchFamily="34" charset="-120"/>
              </a:rPr>
              <a:t>Messages</a:t>
            </a:r>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 Real-time chat between users and support staff</a:t>
            </a:r>
            <a:endParaRPr lang="en-US" sz="1750" dirty="0"/>
          </a:p>
          <a:p>
            <a:pPr algn="l" marL="342900" indent="-342900">
              <a:lnSpc>
                <a:spcPts val="2850"/>
              </a:lnSpc>
              <a:buSzPct val="100000"/>
              <a:buChar char="•"/>
            </a:pPr>
            <a:r>
              <a:rPr lang="en-US" sz="1750" b="1" dirty="0">
                <a:solidFill>
                  <a:srgbClr val="3B4E4E"/>
                </a:solidFill>
                <a:latin typeface="Overpass Light" pitchFamily="34" charset="0"/>
                <a:ea typeface="Overpass Light" pitchFamily="34" charset="-122"/>
                <a:cs typeface="Overpass Light" pitchFamily="34" charset="-120"/>
              </a:rPr>
              <a:t>Feedback</a:t>
            </a:r>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 Post-resolution ratings and comments</a:t>
            </a:r>
            <a:endParaRPr lang="en-US" sz="1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039535"/>
            <a:ext cx="9877306" cy="708779"/>
          </a:xfrm>
          <a:prstGeom prst="rect">
            <a:avLst/>
          </a:prstGeom>
          <a:noFill/>
          <a:ln/>
        </p:spPr>
        <p:txBody>
          <a:bodyPr wrap="none" lIns="0" tIns="0" rIns="0" bIns="0" rtlCol="0" anchor="t"/>
          <a:lstStyle/>
          <a:p>
            <a:pPr algn="l" indent="0" marL="0">
              <a:lnSpc>
                <a:spcPts val="5550"/>
              </a:lnSpc>
              <a:buNone/>
            </a:pPr>
            <a:r>
              <a:rPr lang="en-US" sz="4450" b="1" dirty="0">
                <a:solidFill>
                  <a:srgbClr val="233939"/>
                </a:solidFill>
                <a:latin typeface="Syne Bold" pitchFamily="34" charset="0"/>
                <a:ea typeface="Syne Bold" pitchFamily="34" charset="-122"/>
                <a:cs typeface="Syne Bold" pitchFamily="34" charset="-120"/>
              </a:rPr>
              <a:t>Enterprise Security Architecture</a:t>
            </a:r>
            <a:endParaRPr lang="en-US" sz="4450" dirty="0"/>
          </a:p>
        </p:txBody>
      </p:sp>
      <p:sp>
        <p:nvSpPr>
          <p:cNvPr id="3" name="Shape 1"/>
          <p:cNvSpPr/>
          <p:nvPr/>
        </p:nvSpPr>
        <p:spPr>
          <a:xfrm>
            <a:off x="793790" y="2542103"/>
            <a:ext cx="6407944" cy="2040493"/>
          </a:xfrm>
          <a:prstGeom prst="roundRect">
            <a:avLst>
              <a:gd name="adj" fmla="val 7170"/>
            </a:avLst>
          </a:prstGeom>
          <a:solidFill>
            <a:srgbClr val="FFFDE6"/>
          </a:solidFill>
          <a:ln/>
        </p:spPr>
      </p:sp>
      <p:sp>
        <p:nvSpPr>
          <p:cNvPr id="4" name="Shape 2"/>
          <p:cNvSpPr/>
          <p:nvPr/>
        </p:nvSpPr>
        <p:spPr>
          <a:xfrm>
            <a:off x="793790" y="2511623"/>
            <a:ext cx="6407944" cy="121920"/>
          </a:xfrm>
          <a:prstGeom prst="roundRect">
            <a:avLst>
              <a:gd name="adj" fmla="val 78139"/>
            </a:avLst>
          </a:prstGeom>
          <a:solidFill>
            <a:srgbClr val="224435"/>
          </a:solidFill>
          <a:ln/>
        </p:spPr>
      </p:sp>
      <p:sp>
        <p:nvSpPr>
          <p:cNvPr id="5" name="Shape 3"/>
          <p:cNvSpPr/>
          <p:nvPr/>
        </p:nvSpPr>
        <p:spPr>
          <a:xfrm>
            <a:off x="3657540" y="2201942"/>
            <a:ext cx="680442" cy="680442"/>
          </a:xfrm>
          <a:prstGeom prst="roundRect">
            <a:avLst>
              <a:gd name="adj" fmla="val 134383"/>
            </a:avLst>
          </a:prstGeom>
          <a:solidFill>
            <a:srgbClr val="224435"/>
          </a:solidFill>
          <a:ln/>
        </p:spPr>
      </p:sp>
      <p:sp>
        <p:nvSpPr>
          <p:cNvPr id="6" name="Text 4"/>
          <p:cNvSpPr/>
          <p:nvPr/>
        </p:nvSpPr>
        <p:spPr>
          <a:xfrm>
            <a:off x="3861614" y="2372082"/>
            <a:ext cx="272177" cy="340162"/>
          </a:xfrm>
          <a:prstGeom prst="rect">
            <a:avLst/>
          </a:prstGeom>
          <a:noFill/>
          <a:ln/>
        </p:spPr>
        <p:txBody>
          <a:bodyPr wrap="none" lIns="0" tIns="0" rIns="0" bIns="0" rtlCol="0" anchor="ctr"/>
          <a:lstStyle/>
          <a:p>
            <a:pPr algn="ctr" indent="0" marL="0">
              <a:lnSpc>
                <a:spcPts val="3400"/>
              </a:lnSpc>
              <a:buNone/>
            </a:pPr>
            <a:r>
              <a:rPr lang="en-US" sz="2100" b="1" dirty="0">
                <a:solidFill>
                  <a:srgbClr val="FFFFFF"/>
                </a:solidFill>
                <a:latin typeface="Syne Bold" pitchFamily="34" charset="0"/>
                <a:ea typeface="Syne Bold" pitchFamily="34" charset="-122"/>
                <a:cs typeface="Syne Bold" pitchFamily="34" charset="-120"/>
              </a:rPr>
              <a:t>1</a:t>
            </a:r>
            <a:endParaRPr lang="en-US" sz="2100" dirty="0"/>
          </a:p>
        </p:txBody>
      </p:sp>
      <p:sp>
        <p:nvSpPr>
          <p:cNvPr id="7" name="Text 5"/>
          <p:cNvSpPr/>
          <p:nvPr/>
        </p:nvSpPr>
        <p:spPr>
          <a:xfrm>
            <a:off x="1051084" y="3109079"/>
            <a:ext cx="3158252" cy="354330"/>
          </a:xfrm>
          <a:prstGeom prst="rect">
            <a:avLst/>
          </a:prstGeom>
          <a:noFill/>
          <a:ln/>
        </p:spPr>
        <p:txBody>
          <a:bodyPr wrap="none" lIns="0" tIns="0" rIns="0" bIns="0" rtlCol="0" anchor="t"/>
          <a:lstStyle/>
          <a:p>
            <a:pPr algn="l" indent="0" marL="0">
              <a:lnSpc>
                <a:spcPts val="2750"/>
              </a:lnSpc>
              <a:buNone/>
            </a:pPr>
            <a:r>
              <a:rPr lang="en-US" sz="2200" b="1" dirty="0">
                <a:solidFill>
                  <a:srgbClr val="3B4E4E"/>
                </a:solidFill>
                <a:latin typeface="Syne Bold" pitchFamily="34" charset="0"/>
                <a:ea typeface="Syne Bold" pitchFamily="34" charset="-122"/>
                <a:cs typeface="Syne Bold" pitchFamily="34" charset="-120"/>
              </a:rPr>
              <a:t>JWT Authentication</a:t>
            </a:r>
            <a:endParaRPr lang="en-US" sz="2200" dirty="0"/>
          </a:p>
        </p:txBody>
      </p:sp>
      <p:sp>
        <p:nvSpPr>
          <p:cNvPr id="8" name="Text 6"/>
          <p:cNvSpPr/>
          <p:nvPr/>
        </p:nvSpPr>
        <p:spPr>
          <a:xfrm>
            <a:off x="1051084" y="3599497"/>
            <a:ext cx="5893356" cy="725805"/>
          </a:xfrm>
          <a:prstGeom prst="rect">
            <a:avLst/>
          </a:prstGeom>
          <a:noFill/>
          <a:ln/>
        </p:spPr>
        <p:txBody>
          <a:bodyPr wrap="squar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Stateless tokens with encrypted payloads, automatic token refresh, and session management</a:t>
            </a:r>
            <a:endParaRPr lang="en-US" sz="1750" dirty="0"/>
          </a:p>
        </p:txBody>
      </p:sp>
      <p:sp>
        <p:nvSpPr>
          <p:cNvPr id="9" name="Shape 7"/>
          <p:cNvSpPr/>
          <p:nvPr/>
        </p:nvSpPr>
        <p:spPr>
          <a:xfrm>
            <a:off x="7428548" y="2542103"/>
            <a:ext cx="6408063" cy="2040493"/>
          </a:xfrm>
          <a:prstGeom prst="roundRect">
            <a:avLst>
              <a:gd name="adj" fmla="val 7170"/>
            </a:avLst>
          </a:prstGeom>
          <a:solidFill>
            <a:srgbClr val="FFFDE6"/>
          </a:solidFill>
          <a:ln/>
        </p:spPr>
      </p:sp>
      <p:sp>
        <p:nvSpPr>
          <p:cNvPr id="10" name="Shape 8"/>
          <p:cNvSpPr/>
          <p:nvPr/>
        </p:nvSpPr>
        <p:spPr>
          <a:xfrm>
            <a:off x="7428548" y="2511623"/>
            <a:ext cx="6408063" cy="121920"/>
          </a:xfrm>
          <a:prstGeom prst="roundRect">
            <a:avLst>
              <a:gd name="adj" fmla="val 78139"/>
            </a:avLst>
          </a:prstGeom>
          <a:solidFill>
            <a:srgbClr val="224435"/>
          </a:solidFill>
          <a:ln/>
        </p:spPr>
      </p:sp>
      <p:sp>
        <p:nvSpPr>
          <p:cNvPr id="11" name="Shape 9"/>
          <p:cNvSpPr/>
          <p:nvPr/>
        </p:nvSpPr>
        <p:spPr>
          <a:xfrm>
            <a:off x="10292298" y="2201942"/>
            <a:ext cx="680442" cy="680442"/>
          </a:xfrm>
          <a:prstGeom prst="roundRect">
            <a:avLst>
              <a:gd name="adj" fmla="val 134383"/>
            </a:avLst>
          </a:prstGeom>
          <a:solidFill>
            <a:srgbClr val="224435"/>
          </a:solidFill>
          <a:ln/>
        </p:spPr>
      </p:sp>
      <p:sp>
        <p:nvSpPr>
          <p:cNvPr id="12" name="Text 10"/>
          <p:cNvSpPr/>
          <p:nvPr/>
        </p:nvSpPr>
        <p:spPr>
          <a:xfrm>
            <a:off x="10496371" y="2372082"/>
            <a:ext cx="272177" cy="340162"/>
          </a:xfrm>
          <a:prstGeom prst="rect">
            <a:avLst/>
          </a:prstGeom>
          <a:noFill/>
          <a:ln/>
        </p:spPr>
        <p:txBody>
          <a:bodyPr wrap="none" lIns="0" tIns="0" rIns="0" bIns="0" rtlCol="0" anchor="ctr"/>
          <a:lstStyle/>
          <a:p>
            <a:pPr algn="ctr" indent="0" marL="0">
              <a:lnSpc>
                <a:spcPts val="3400"/>
              </a:lnSpc>
              <a:buNone/>
            </a:pPr>
            <a:r>
              <a:rPr lang="en-US" sz="2100" b="1" dirty="0">
                <a:solidFill>
                  <a:srgbClr val="FFFFFF"/>
                </a:solidFill>
                <a:latin typeface="Syne Bold" pitchFamily="34" charset="0"/>
                <a:ea typeface="Syne Bold" pitchFamily="34" charset="-122"/>
                <a:cs typeface="Syne Bold" pitchFamily="34" charset="-120"/>
              </a:rPr>
              <a:t>2</a:t>
            </a:r>
            <a:endParaRPr lang="en-US" sz="2100" dirty="0"/>
          </a:p>
        </p:txBody>
      </p:sp>
      <p:sp>
        <p:nvSpPr>
          <p:cNvPr id="13" name="Text 11"/>
          <p:cNvSpPr/>
          <p:nvPr/>
        </p:nvSpPr>
        <p:spPr>
          <a:xfrm>
            <a:off x="7685842" y="3109079"/>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3B4E4E"/>
                </a:solidFill>
                <a:latin typeface="Syne Bold" pitchFamily="34" charset="0"/>
                <a:ea typeface="Syne Bold" pitchFamily="34" charset="-122"/>
                <a:cs typeface="Syne Bold" pitchFamily="34" charset="-120"/>
              </a:rPr>
              <a:t>Redis Blacklisting</a:t>
            </a:r>
            <a:endParaRPr lang="en-US" sz="2200" dirty="0"/>
          </a:p>
        </p:txBody>
      </p:sp>
      <p:sp>
        <p:nvSpPr>
          <p:cNvPr id="14" name="Text 12"/>
          <p:cNvSpPr/>
          <p:nvPr/>
        </p:nvSpPr>
        <p:spPr>
          <a:xfrm>
            <a:off x="7685842" y="3599497"/>
            <a:ext cx="5893475" cy="725805"/>
          </a:xfrm>
          <a:prstGeom prst="rect">
            <a:avLst/>
          </a:prstGeom>
          <a:noFill/>
          <a:ln/>
        </p:spPr>
        <p:txBody>
          <a:bodyPr wrap="squar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Revoked token tracking for immediate session invalidation and security enforcement</a:t>
            </a:r>
            <a:endParaRPr lang="en-US" sz="1750" dirty="0"/>
          </a:p>
        </p:txBody>
      </p:sp>
      <p:sp>
        <p:nvSpPr>
          <p:cNvPr id="15" name="Shape 13"/>
          <p:cNvSpPr/>
          <p:nvPr/>
        </p:nvSpPr>
        <p:spPr>
          <a:xfrm>
            <a:off x="793790" y="5149572"/>
            <a:ext cx="6407944" cy="2040493"/>
          </a:xfrm>
          <a:prstGeom prst="roundRect">
            <a:avLst>
              <a:gd name="adj" fmla="val 7170"/>
            </a:avLst>
          </a:prstGeom>
          <a:solidFill>
            <a:srgbClr val="FFFDE6"/>
          </a:solidFill>
          <a:ln/>
        </p:spPr>
      </p:sp>
      <p:sp>
        <p:nvSpPr>
          <p:cNvPr id="16" name="Shape 14"/>
          <p:cNvSpPr/>
          <p:nvPr/>
        </p:nvSpPr>
        <p:spPr>
          <a:xfrm>
            <a:off x="793790" y="5119092"/>
            <a:ext cx="6407944" cy="121920"/>
          </a:xfrm>
          <a:prstGeom prst="roundRect">
            <a:avLst>
              <a:gd name="adj" fmla="val 78139"/>
            </a:avLst>
          </a:prstGeom>
          <a:solidFill>
            <a:srgbClr val="224435"/>
          </a:solidFill>
          <a:ln/>
        </p:spPr>
      </p:sp>
      <p:sp>
        <p:nvSpPr>
          <p:cNvPr id="17" name="Shape 15"/>
          <p:cNvSpPr/>
          <p:nvPr/>
        </p:nvSpPr>
        <p:spPr>
          <a:xfrm>
            <a:off x="3657540" y="4809411"/>
            <a:ext cx="680442" cy="680442"/>
          </a:xfrm>
          <a:prstGeom prst="roundRect">
            <a:avLst>
              <a:gd name="adj" fmla="val 134383"/>
            </a:avLst>
          </a:prstGeom>
          <a:solidFill>
            <a:srgbClr val="224435"/>
          </a:solidFill>
          <a:ln/>
        </p:spPr>
      </p:sp>
      <p:sp>
        <p:nvSpPr>
          <p:cNvPr id="18" name="Text 16"/>
          <p:cNvSpPr/>
          <p:nvPr/>
        </p:nvSpPr>
        <p:spPr>
          <a:xfrm>
            <a:off x="3861614" y="4979551"/>
            <a:ext cx="272177" cy="340162"/>
          </a:xfrm>
          <a:prstGeom prst="rect">
            <a:avLst/>
          </a:prstGeom>
          <a:noFill/>
          <a:ln/>
        </p:spPr>
        <p:txBody>
          <a:bodyPr wrap="none" lIns="0" tIns="0" rIns="0" bIns="0" rtlCol="0" anchor="ctr"/>
          <a:lstStyle/>
          <a:p>
            <a:pPr algn="ctr" indent="0" marL="0">
              <a:lnSpc>
                <a:spcPts val="3400"/>
              </a:lnSpc>
              <a:buNone/>
            </a:pPr>
            <a:r>
              <a:rPr lang="en-US" sz="2100" b="1" dirty="0">
                <a:solidFill>
                  <a:srgbClr val="FFFFFF"/>
                </a:solidFill>
                <a:latin typeface="Syne Bold" pitchFamily="34" charset="0"/>
                <a:ea typeface="Syne Bold" pitchFamily="34" charset="-122"/>
                <a:cs typeface="Syne Bold" pitchFamily="34" charset="-120"/>
              </a:rPr>
              <a:t>3</a:t>
            </a:r>
            <a:endParaRPr lang="en-US" sz="2100" dirty="0"/>
          </a:p>
        </p:txBody>
      </p:sp>
      <p:sp>
        <p:nvSpPr>
          <p:cNvPr id="19" name="Text 17"/>
          <p:cNvSpPr/>
          <p:nvPr/>
        </p:nvSpPr>
        <p:spPr>
          <a:xfrm>
            <a:off x="1051084" y="5716548"/>
            <a:ext cx="4249222" cy="354330"/>
          </a:xfrm>
          <a:prstGeom prst="rect">
            <a:avLst/>
          </a:prstGeom>
          <a:noFill/>
          <a:ln/>
        </p:spPr>
        <p:txBody>
          <a:bodyPr wrap="none" lIns="0" tIns="0" rIns="0" bIns="0" rtlCol="0" anchor="t"/>
          <a:lstStyle/>
          <a:p>
            <a:pPr algn="l" indent="0" marL="0">
              <a:lnSpc>
                <a:spcPts val="2750"/>
              </a:lnSpc>
              <a:buNone/>
            </a:pPr>
            <a:r>
              <a:rPr lang="en-US" sz="2200" b="1" dirty="0">
                <a:solidFill>
                  <a:srgbClr val="3B4E4E"/>
                </a:solidFill>
                <a:latin typeface="Syne Bold" pitchFamily="34" charset="0"/>
                <a:ea typeface="Syne Bold" pitchFamily="34" charset="-122"/>
                <a:cs typeface="Syne Bold" pitchFamily="34" charset="-120"/>
              </a:rPr>
              <a:t>Role-Based Access Control</a:t>
            </a:r>
            <a:endParaRPr lang="en-US" sz="2200" dirty="0"/>
          </a:p>
        </p:txBody>
      </p:sp>
      <p:sp>
        <p:nvSpPr>
          <p:cNvPr id="20" name="Text 18"/>
          <p:cNvSpPr/>
          <p:nvPr/>
        </p:nvSpPr>
        <p:spPr>
          <a:xfrm>
            <a:off x="1051084" y="6206966"/>
            <a:ext cx="5893356" cy="725805"/>
          </a:xfrm>
          <a:prstGeom prst="rect">
            <a:avLst/>
          </a:prstGeom>
          <a:noFill/>
          <a:ln/>
        </p:spPr>
        <p:txBody>
          <a:bodyPr wrap="squar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Granular permissions ensuring students, staff, and admins see only relevant data and actions</a:t>
            </a:r>
            <a:endParaRPr lang="en-US" sz="1750" dirty="0"/>
          </a:p>
        </p:txBody>
      </p:sp>
      <p:sp>
        <p:nvSpPr>
          <p:cNvPr id="21" name="Shape 19"/>
          <p:cNvSpPr/>
          <p:nvPr/>
        </p:nvSpPr>
        <p:spPr>
          <a:xfrm>
            <a:off x="7428548" y="5149572"/>
            <a:ext cx="6408063" cy="2040493"/>
          </a:xfrm>
          <a:prstGeom prst="roundRect">
            <a:avLst>
              <a:gd name="adj" fmla="val 7170"/>
            </a:avLst>
          </a:prstGeom>
          <a:solidFill>
            <a:srgbClr val="FFFDE6"/>
          </a:solidFill>
          <a:ln/>
        </p:spPr>
      </p:sp>
      <p:sp>
        <p:nvSpPr>
          <p:cNvPr id="22" name="Shape 20"/>
          <p:cNvSpPr/>
          <p:nvPr/>
        </p:nvSpPr>
        <p:spPr>
          <a:xfrm>
            <a:off x="7428548" y="5119092"/>
            <a:ext cx="6408063" cy="121920"/>
          </a:xfrm>
          <a:prstGeom prst="roundRect">
            <a:avLst>
              <a:gd name="adj" fmla="val 78139"/>
            </a:avLst>
          </a:prstGeom>
          <a:solidFill>
            <a:srgbClr val="224435"/>
          </a:solidFill>
          <a:ln/>
        </p:spPr>
      </p:sp>
      <p:sp>
        <p:nvSpPr>
          <p:cNvPr id="23" name="Shape 21"/>
          <p:cNvSpPr/>
          <p:nvPr/>
        </p:nvSpPr>
        <p:spPr>
          <a:xfrm>
            <a:off x="10292298" y="4809411"/>
            <a:ext cx="680442" cy="680442"/>
          </a:xfrm>
          <a:prstGeom prst="roundRect">
            <a:avLst>
              <a:gd name="adj" fmla="val 134383"/>
            </a:avLst>
          </a:prstGeom>
          <a:solidFill>
            <a:srgbClr val="224435"/>
          </a:solidFill>
          <a:ln/>
        </p:spPr>
      </p:sp>
      <p:sp>
        <p:nvSpPr>
          <p:cNvPr id="24" name="Text 22"/>
          <p:cNvSpPr/>
          <p:nvPr/>
        </p:nvSpPr>
        <p:spPr>
          <a:xfrm>
            <a:off x="10496371" y="4979551"/>
            <a:ext cx="272177" cy="340162"/>
          </a:xfrm>
          <a:prstGeom prst="rect">
            <a:avLst/>
          </a:prstGeom>
          <a:noFill/>
          <a:ln/>
        </p:spPr>
        <p:txBody>
          <a:bodyPr wrap="none" lIns="0" tIns="0" rIns="0" bIns="0" rtlCol="0" anchor="ctr"/>
          <a:lstStyle/>
          <a:p>
            <a:pPr algn="ctr" indent="0" marL="0">
              <a:lnSpc>
                <a:spcPts val="3400"/>
              </a:lnSpc>
              <a:buNone/>
            </a:pPr>
            <a:r>
              <a:rPr lang="en-US" sz="2100" b="1" dirty="0">
                <a:solidFill>
                  <a:srgbClr val="FFFFFF"/>
                </a:solidFill>
                <a:latin typeface="Syne Bold" pitchFamily="34" charset="0"/>
                <a:ea typeface="Syne Bold" pitchFamily="34" charset="-122"/>
                <a:cs typeface="Syne Bold" pitchFamily="34" charset="-120"/>
              </a:rPr>
              <a:t>4</a:t>
            </a:r>
            <a:endParaRPr lang="en-US" sz="2100" dirty="0"/>
          </a:p>
        </p:txBody>
      </p:sp>
      <p:sp>
        <p:nvSpPr>
          <p:cNvPr id="25" name="Text 23"/>
          <p:cNvSpPr/>
          <p:nvPr/>
        </p:nvSpPr>
        <p:spPr>
          <a:xfrm>
            <a:off x="7685842" y="5716548"/>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3B4E4E"/>
                </a:solidFill>
                <a:latin typeface="Syne Bold" pitchFamily="34" charset="0"/>
                <a:ea typeface="Syne Bold" pitchFamily="34" charset="-122"/>
                <a:cs typeface="Syne Bold" pitchFamily="34" charset="-120"/>
              </a:rPr>
              <a:t>Rate Limiting</a:t>
            </a:r>
            <a:endParaRPr lang="en-US" sz="2200" dirty="0"/>
          </a:p>
        </p:txBody>
      </p:sp>
      <p:sp>
        <p:nvSpPr>
          <p:cNvPr id="26" name="Text 24"/>
          <p:cNvSpPr/>
          <p:nvPr/>
        </p:nvSpPr>
        <p:spPr>
          <a:xfrm>
            <a:off x="7685842" y="6206966"/>
            <a:ext cx="5893475" cy="725805"/>
          </a:xfrm>
          <a:prstGeom prst="rect">
            <a:avLst/>
          </a:prstGeom>
          <a:noFill/>
          <a:ln/>
        </p:spPr>
        <p:txBody>
          <a:bodyPr wrap="squar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API protection preventing abuse, DDoS mitigation, and automated throttling by IP address</a:t>
            </a:r>
            <a:endParaRPr lang="en-US" sz="1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007250fb2f794e40"/>
          <a:stretch>
            <a:fillRect/>
          </a:stretch>
        </p:blipFill>
        <p:spPr>
          <a:xfrm>
            <a:off x="0" y="0"/>
            <a:ext cx="5486400" cy="8229600"/>
          </a:xfrm>
          <a:prstGeom prst="rect">
            <a:avLst/>
          </a:prstGeom>
        </p:spPr>
      </p:pic>
      <p:sp>
        <p:nvSpPr>
          <p:cNvPr id="3" name="Text 0"/>
          <p:cNvSpPr/>
          <p:nvPr/>
        </p:nvSpPr>
        <p:spPr>
          <a:xfrm>
            <a:off x="6280190" y="756761"/>
            <a:ext cx="7556421" cy="1417558"/>
          </a:xfrm>
          <a:prstGeom prst="rect">
            <a:avLst/>
          </a:prstGeom>
          <a:noFill/>
          <a:ln/>
        </p:spPr>
        <p:txBody>
          <a:bodyPr wrap="square" lIns="0" tIns="0" rIns="0" bIns="0" rtlCol="0" anchor="t"/>
          <a:lstStyle/>
          <a:p>
            <a:pPr algn="l" indent="0" marL="0">
              <a:lnSpc>
                <a:spcPts val="5550"/>
              </a:lnSpc>
              <a:buNone/>
            </a:pPr>
            <a:r>
              <a:rPr lang="en-US" sz="4450" b="1" dirty="0">
                <a:solidFill>
                  <a:srgbClr val="233939"/>
                </a:solidFill>
                <a:latin typeface="Syne Bold" pitchFamily="34" charset="0"/>
                <a:ea typeface="Syne Bold" pitchFamily="34" charset="-122"/>
                <a:cs typeface="Syne Bold" pitchFamily="34" charset="-120"/>
              </a:rPr>
              <a:t>Development Process &amp; AI Integration</a:t>
            </a:r>
            <a:endParaRPr lang="en-US" sz="4450" dirty="0"/>
          </a:p>
        </p:txBody>
      </p:sp>
      <p:sp>
        <p:nvSpPr>
          <p:cNvPr id="4" name="Text 1"/>
          <p:cNvSpPr/>
          <p:nvPr/>
        </p:nvSpPr>
        <p:spPr>
          <a:xfrm>
            <a:off x="6280190" y="2741295"/>
            <a:ext cx="2906316" cy="354330"/>
          </a:xfrm>
          <a:prstGeom prst="rect">
            <a:avLst/>
          </a:prstGeom>
          <a:noFill/>
          <a:ln/>
        </p:spPr>
        <p:txBody>
          <a:bodyPr wrap="none" lIns="0" tIns="0" rIns="0" bIns="0" rtlCol="0" anchor="t"/>
          <a:lstStyle/>
          <a:p>
            <a:pPr algn="l" indent="0" marL="0">
              <a:lnSpc>
                <a:spcPts val="2750"/>
              </a:lnSpc>
              <a:buNone/>
            </a:pPr>
            <a:r>
              <a:rPr lang="en-US" sz="2200" b="1" dirty="0">
                <a:solidFill>
                  <a:srgbClr val="233939"/>
                </a:solidFill>
                <a:latin typeface="Syne Bold" pitchFamily="34" charset="0"/>
                <a:ea typeface="Syne Bold" pitchFamily="34" charset="-122"/>
                <a:cs typeface="Syne Bold" pitchFamily="34" charset="-120"/>
              </a:rPr>
              <a:t>Agile Methodology</a:t>
            </a:r>
            <a:endParaRPr lang="en-US" sz="2200" dirty="0"/>
          </a:p>
        </p:txBody>
      </p:sp>
      <p:sp>
        <p:nvSpPr>
          <p:cNvPr id="5" name="Text 2"/>
          <p:cNvSpPr/>
          <p:nvPr/>
        </p:nvSpPr>
        <p:spPr>
          <a:xfrm>
            <a:off x="6280190" y="3322439"/>
            <a:ext cx="3501509" cy="725805"/>
          </a:xfrm>
          <a:prstGeom prst="rect">
            <a:avLst/>
          </a:prstGeom>
          <a:noFill/>
          <a:ln/>
        </p:spPr>
        <p:txBody>
          <a:bodyPr wrap="squar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Four iterative sprints delivering working features:</a:t>
            </a:r>
            <a:endParaRPr lang="en-US" sz="1750" dirty="0"/>
          </a:p>
        </p:txBody>
      </p:sp>
      <p:sp>
        <p:nvSpPr>
          <p:cNvPr id="6" name="Text 3"/>
          <p:cNvSpPr/>
          <p:nvPr/>
        </p:nvSpPr>
        <p:spPr>
          <a:xfrm>
            <a:off x="6280190" y="4252317"/>
            <a:ext cx="3501509" cy="3141107"/>
          </a:xfrm>
          <a:prstGeom prst="rect">
            <a:avLst/>
          </a:prstGeom>
          <a:noFill/>
          <a:ln/>
        </p:spPr>
        <p:txBody>
          <a:bodyPr wrap="square" lIns="0" tIns="0" rIns="0" bIns="0" rtlCol="0" anchor="t"/>
          <a:lstStyle/>
          <a:p>
            <a:pPr algn="l" marL="342900" indent="-342900">
              <a:lnSpc>
                <a:spcPts val="2850"/>
              </a:lnSpc>
              <a:buSzPct val="100000"/>
              <a:buFont typeface="+mj-lt"/>
              <a:buAutoNum type="arabicPeriod" startAt="1"/>
            </a:pPr>
            <a:r>
              <a:rPr lang="en-US" sz="1750" dirty="0">
                <a:solidFill>
                  <a:srgbClr val="3B4E4E"/>
                </a:solidFill>
                <a:latin typeface="Overpass Light" pitchFamily="34" charset="0"/>
                <a:ea typeface="Overpass Light" pitchFamily="34" charset="-122"/>
                <a:cs typeface="Overpass Light" pitchFamily="34" charset="-120"/>
              </a:rPr>
              <a:t>Core complaint system &amp; user authentication</a:t>
            </a:r>
            <a:endParaRPr lang="en-US" sz="1750" dirty="0"/>
          </a:p>
          <a:p>
            <a:pPr algn="l" marL="342900" indent="-342900">
              <a:lnSpc>
                <a:spcPts val="2850"/>
              </a:lnSpc>
              <a:buSzPct val="100000"/>
              <a:buFont typeface="+mj-lt"/>
              <a:buAutoNum type="arabicPeriod" startAt="2"/>
            </a:pPr>
            <a:r>
              <a:rPr lang="en-US" sz="1750" dirty="0">
                <a:solidFill>
                  <a:srgbClr val="3B4E4E"/>
                </a:solidFill>
                <a:latin typeface="Overpass Light" pitchFamily="34" charset="0"/>
                <a:ea typeface="Overpass Light" pitchFamily="34" charset="-122"/>
                <a:cs typeface="Overpass Light" pitchFamily="34" charset="-120"/>
              </a:rPr>
              <a:t>Real-time messaging &amp; notifications</a:t>
            </a:r>
            <a:endParaRPr lang="en-US" sz="1750" dirty="0"/>
          </a:p>
          <a:p>
            <a:pPr algn="l" marL="342900" indent="-342900">
              <a:lnSpc>
                <a:spcPts val="2850"/>
              </a:lnSpc>
              <a:buSzPct val="100000"/>
              <a:buFont typeface="+mj-lt"/>
              <a:buAutoNum type="arabicPeriod" startAt="3"/>
            </a:pPr>
            <a:r>
              <a:rPr lang="en-US" sz="1750" dirty="0">
                <a:solidFill>
                  <a:srgbClr val="3B4E4E"/>
                </a:solidFill>
                <a:latin typeface="Overpass Light" pitchFamily="34" charset="0"/>
                <a:ea typeface="Overpass Light" pitchFamily="34" charset="-122"/>
                <a:cs typeface="Overpass Light" pitchFamily="34" charset="-120"/>
              </a:rPr>
              <a:t>SLA tracking &amp; automated alerts</a:t>
            </a:r>
            <a:endParaRPr lang="en-US" sz="1750" dirty="0"/>
          </a:p>
          <a:p>
            <a:pPr algn="l" marL="342900" indent="-342900">
              <a:lnSpc>
                <a:spcPts val="2850"/>
              </a:lnSpc>
              <a:buSzPct val="100000"/>
              <a:buFont typeface="+mj-lt"/>
              <a:buAutoNum type="arabicPeriod" startAt="4"/>
            </a:pPr>
            <a:r>
              <a:rPr lang="en-US" sz="1750" dirty="0">
                <a:solidFill>
                  <a:srgbClr val="3B4E4E"/>
                </a:solidFill>
                <a:latin typeface="Overpass Light" pitchFamily="34" charset="0"/>
                <a:ea typeface="Overpass Light" pitchFamily="34" charset="-122"/>
                <a:cs typeface="Overpass Light" pitchFamily="34" charset="-120"/>
              </a:rPr>
              <a:t>AI categorization &amp; reporting dashboards</a:t>
            </a:r>
            <a:endParaRPr lang="en-US" sz="1750" dirty="0"/>
          </a:p>
        </p:txBody>
      </p:sp>
      <p:sp>
        <p:nvSpPr>
          <p:cNvPr id="7" name="Text 4"/>
          <p:cNvSpPr/>
          <p:nvPr/>
        </p:nvSpPr>
        <p:spPr>
          <a:xfrm>
            <a:off x="10342721" y="2741295"/>
            <a:ext cx="3501509" cy="708660"/>
          </a:xfrm>
          <a:prstGeom prst="rect">
            <a:avLst/>
          </a:prstGeom>
          <a:noFill/>
          <a:ln/>
        </p:spPr>
        <p:txBody>
          <a:bodyPr wrap="square" lIns="0" tIns="0" rIns="0" bIns="0" rtlCol="0" anchor="t"/>
          <a:lstStyle/>
          <a:p>
            <a:pPr algn="l" indent="0" marL="0">
              <a:lnSpc>
                <a:spcPts val="2750"/>
              </a:lnSpc>
              <a:buNone/>
            </a:pPr>
            <a:r>
              <a:rPr lang="en-US" sz="2200" b="1" dirty="0">
                <a:solidFill>
                  <a:srgbClr val="233939"/>
                </a:solidFill>
                <a:latin typeface="Syne Bold" pitchFamily="34" charset="0"/>
                <a:ea typeface="Syne Bold" pitchFamily="34" charset="-122"/>
                <a:cs typeface="Syne Bold" pitchFamily="34" charset="-120"/>
              </a:rPr>
              <a:t>AI-Powered Intelligence</a:t>
            </a:r>
            <a:endParaRPr lang="en-US" sz="2200" dirty="0"/>
          </a:p>
        </p:txBody>
      </p:sp>
      <p:sp>
        <p:nvSpPr>
          <p:cNvPr id="8" name="Text 5"/>
          <p:cNvSpPr/>
          <p:nvPr/>
        </p:nvSpPr>
        <p:spPr>
          <a:xfrm>
            <a:off x="10342721" y="3676769"/>
            <a:ext cx="3501509" cy="1088708"/>
          </a:xfrm>
          <a:prstGeom prst="rect">
            <a:avLst/>
          </a:prstGeom>
          <a:noFill/>
          <a:ln/>
        </p:spPr>
        <p:txBody>
          <a:bodyPr wrap="squar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Keyword-based categorization engine with real-time suggestions and high accuracy at low latency.</a:t>
            </a:r>
            <a:endParaRPr lang="en-US" sz="1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832015"/>
            <a:ext cx="12640747" cy="708779"/>
          </a:xfrm>
          <a:prstGeom prst="rect">
            <a:avLst/>
          </a:prstGeom>
          <a:noFill/>
          <a:ln/>
        </p:spPr>
        <p:txBody>
          <a:bodyPr wrap="none" lIns="0" tIns="0" rIns="0" bIns="0" rtlCol="0" anchor="t"/>
          <a:lstStyle/>
          <a:p>
            <a:pPr algn="l" indent="0" marL="0">
              <a:lnSpc>
                <a:spcPts val="5550"/>
              </a:lnSpc>
              <a:buNone/>
            </a:pPr>
            <a:r>
              <a:rPr lang="en-US" sz="4450" b="1" dirty="0">
                <a:solidFill>
                  <a:srgbClr val="233939"/>
                </a:solidFill>
                <a:latin typeface="Syne Bold" pitchFamily="34" charset="0"/>
                <a:ea typeface="Syne Bold" pitchFamily="34" charset="-122"/>
                <a:cs typeface="Syne Bold" pitchFamily="34" charset="-120"/>
              </a:rPr>
              <a:t>SLA Management &amp; Self-Healing System</a:t>
            </a:r>
            <a:endParaRPr lang="en-US" sz="4450" dirty="0"/>
          </a:p>
        </p:txBody>
      </p:sp>
      <p:sp>
        <p:nvSpPr>
          <p:cNvPr id="3" name="Shape 1"/>
          <p:cNvSpPr/>
          <p:nvPr/>
        </p:nvSpPr>
        <p:spPr>
          <a:xfrm>
            <a:off x="793790" y="2994422"/>
            <a:ext cx="4196358" cy="2184083"/>
          </a:xfrm>
          <a:prstGeom prst="roundRect">
            <a:avLst>
              <a:gd name="adj" fmla="val 4362"/>
            </a:avLst>
          </a:prstGeom>
          <a:solidFill>
            <a:srgbClr val="224435"/>
          </a:solidFill>
          <a:ln w="7620">
            <a:solidFill>
              <a:srgbClr val="3B5D4E"/>
            </a:solidFill>
            <a:prstDash val="solid"/>
          </a:ln>
        </p:spPr>
      </p:sp>
      <p:sp>
        <p:nvSpPr>
          <p:cNvPr id="4" name="Text 2"/>
          <p:cNvSpPr/>
          <p:nvPr/>
        </p:nvSpPr>
        <p:spPr>
          <a:xfrm>
            <a:off x="1028224" y="3228856"/>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FFFFFF"/>
                </a:solidFill>
                <a:latin typeface="Syne Bold" pitchFamily="34" charset="0"/>
                <a:ea typeface="Syne Bold" pitchFamily="34" charset="-122"/>
                <a:cs typeface="Syne Bold" pitchFamily="34" charset="-120"/>
              </a:rPr>
              <a:t>High Priority</a:t>
            </a:r>
            <a:endParaRPr lang="en-US" sz="2200" dirty="0"/>
          </a:p>
        </p:txBody>
      </p:sp>
      <p:sp>
        <p:nvSpPr>
          <p:cNvPr id="5" name="Text 3"/>
          <p:cNvSpPr/>
          <p:nvPr/>
        </p:nvSpPr>
        <p:spPr>
          <a:xfrm>
            <a:off x="1028224" y="3719274"/>
            <a:ext cx="3727490" cy="362903"/>
          </a:xfrm>
          <a:prstGeom prst="rect">
            <a:avLst/>
          </a:prstGeom>
          <a:noFill/>
          <a:ln/>
        </p:spPr>
        <p:txBody>
          <a:bodyPr wrap="none" lIns="0" tIns="0" rIns="0" bIns="0" rtlCol="0" anchor="t"/>
          <a:lstStyle/>
          <a:p>
            <a:pPr algn="l" indent="0" marL="0">
              <a:lnSpc>
                <a:spcPts val="2850"/>
              </a:lnSpc>
              <a:buNone/>
            </a:pPr>
            <a:r>
              <a:rPr lang="en-US" sz="1750" b="1" dirty="0">
                <a:solidFill>
                  <a:srgbClr val="FFFFFF"/>
                </a:solidFill>
                <a:latin typeface="Overpass Light" pitchFamily="34" charset="0"/>
                <a:ea typeface="Overpass Light" pitchFamily="34" charset="-122"/>
                <a:cs typeface="Overpass Light" pitchFamily="34" charset="-120"/>
              </a:rPr>
              <a:t>24 hours</a:t>
            </a:r>
            <a:endParaRPr lang="en-US" sz="1750" dirty="0"/>
          </a:p>
        </p:txBody>
      </p:sp>
      <p:sp>
        <p:nvSpPr>
          <p:cNvPr id="6" name="Text 4"/>
          <p:cNvSpPr/>
          <p:nvPr/>
        </p:nvSpPr>
        <p:spPr>
          <a:xfrm>
            <a:off x="1028224" y="4218265"/>
            <a:ext cx="3727490" cy="725805"/>
          </a:xfrm>
          <a:prstGeom prst="rect">
            <a:avLst/>
          </a:prstGeom>
          <a:noFill/>
          <a:ln/>
        </p:spPr>
        <p:txBody>
          <a:bodyPr wrap="square" lIns="0" tIns="0" rIns="0" bIns="0" rtlCol="0" anchor="t"/>
          <a:lstStyle/>
          <a:p>
            <a:pPr algn="l" indent="0" marL="0">
              <a:lnSpc>
                <a:spcPts val="2850"/>
              </a:lnSpc>
              <a:buNone/>
            </a:pPr>
            <a:r>
              <a:rPr lang="en-US" sz="1750" dirty="0">
                <a:solidFill>
                  <a:srgbClr val="FFFFFF"/>
                </a:solidFill>
                <a:latin typeface="Overpass Light" pitchFamily="34" charset="0"/>
                <a:ea typeface="Overpass Light" pitchFamily="34" charset="-122"/>
                <a:cs typeface="Overpass Light" pitchFamily="34" charset="-120"/>
              </a:rPr>
              <a:t>Critical issues requiring immediate attention</a:t>
            </a:r>
            <a:endParaRPr lang="en-US" sz="1750" dirty="0"/>
          </a:p>
        </p:txBody>
      </p:sp>
      <p:sp>
        <p:nvSpPr>
          <p:cNvPr id="7" name="Shape 5"/>
          <p:cNvSpPr/>
          <p:nvPr/>
        </p:nvSpPr>
        <p:spPr>
          <a:xfrm>
            <a:off x="5216962" y="2994422"/>
            <a:ext cx="4196358" cy="2184083"/>
          </a:xfrm>
          <a:prstGeom prst="roundRect">
            <a:avLst>
              <a:gd name="adj" fmla="val 4362"/>
            </a:avLst>
          </a:prstGeom>
          <a:solidFill>
            <a:srgbClr val="233939"/>
          </a:solidFill>
          <a:ln w="7620">
            <a:solidFill>
              <a:srgbClr val="3C5252"/>
            </a:solidFill>
            <a:prstDash val="solid"/>
          </a:ln>
        </p:spPr>
      </p:sp>
      <p:sp>
        <p:nvSpPr>
          <p:cNvPr id="8" name="Text 6"/>
          <p:cNvSpPr/>
          <p:nvPr/>
        </p:nvSpPr>
        <p:spPr>
          <a:xfrm>
            <a:off x="5451396" y="3228856"/>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FFFFFF"/>
                </a:solidFill>
                <a:latin typeface="Syne Bold" pitchFamily="34" charset="0"/>
                <a:ea typeface="Syne Bold" pitchFamily="34" charset="-122"/>
                <a:cs typeface="Syne Bold" pitchFamily="34" charset="-120"/>
              </a:rPr>
              <a:t>Medium Priority</a:t>
            </a:r>
            <a:endParaRPr lang="en-US" sz="2200" dirty="0"/>
          </a:p>
        </p:txBody>
      </p:sp>
      <p:sp>
        <p:nvSpPr>
          <p:cNvPr id="9" name="Text 7"/>
          <p:cNvSpPr/>
          <p:nvPr/>
        </p:nvSpPr>
        <p:spPr>
          <a:xfrm>
            <a:off x="5451396" y="3719274"/>
            <a:ext cx="3727490" cy="362903"/>
          </a:xfrm>
          <a:prstGeom prst="rect">
            <a:avLst/>
          </a:prstGeom>
          <a:noFill/>
          <a:ln/>
        </p:spPr>
        <p:txBody>
          <a:bodyPr wrap="none" lIns="0" tIns="0" rIns="0" bIns="0" rtlCol="0" anchor="t"/>
          <a:lstStyle/>
          <a:p>
            <a:pPr algn="l" indent="0" marL="0">
              <a:lnSpc>
                <a:spcPts val="2850"/>
              </a:lnSpc>
              <a:buNone/>
            </a:pPr>
            <a:r>
              <a:rPr lang="en-US" sz="1750" b="1" dirty="0">
                <a:solidFill>
                  <a:srgbClr val="FFFFFF"/>
                </a:solidFill>
                <a:latin typeface="Overpass Light" pitchFamily="34" charset="0"/>
                <a:ea typeface="Overpass Light" pitchFamily="34" charset="-122"/>
                <a:cs typeface="Overpass Light" pitchFamily="34" charset="-120"/>
              </a:rPr>
              <a:t>48 hours</a:t>
            </a:r>
            <a:endParaRPr lang="en-US" sz="1750" dirty="0"/>
          </a:p>
        </p:txBody>
      </p:sp>
      <p:sp>
        <p:nvSpPr>
          <p:cNvPr id="10" name="Text 8"/>
          <p:cNvSpPr/>
          <p:nvPr/>
        </p:nvSpPr>
        <p:spPr>
          <a:xfrm>
            <a:off x="5451396" y="4218265"/>
            <a:ext cx="3727490" cy="725805"/>
          </a:xfrm>
          <a:prstGeom prst="rect">
            <a:avLst/>
          </a:prstGeom>
          <a:noFill/>
          <a:ln/>
        </p:spPr>
        <p:txBody>
          <a:bodyPr wrap="square" lIns="0" tIns="0" rIns="0" bIns="0" rtlCol="0" anchor="t"/>
          <a:lstStyle/>
          <a:p>
            <a:pPr algn="l" indent="0" marL="0">
              <a:lnSpc>
                <a:spcPts val="2850"/>
              </a:lnSpc>
              <a:buNone/>
            </a:pPr>
            <a:r>
              <a:rPr lang="en-US" sz="1750" dirty="0">
                <a:solidFill>
                  <a:srgbClr val="FFFFFF"/>
                </a:solidFill>
                <a:latin typeface="Overpass Light" pitchFamily="34" charset="0"/>
                <a:ea typeface="Overpass Light" pitchFamily="34" charset="-122"/>
                <a:cs typeface="Overpass Light" pitchFamily="34" charset="-120"/>
              </a:rPr>
              <a:t>Standard resolution timeframe for most complaints</a:t>
            </a:r>
            <a:endParaRPr lang="en-US" sz="1750" dirty="0"/>
          </a:p>
        </p:txBody>
      </p:sp>
      <p:sp>
        <p:nvSpPr>
          <p:cNvPr id="11" name="Shape 9"/>
          <p:cNvSpPr/>
          <p:nvPr/>
        </p:nvSpPr>
        <p:spPr>
          <a:xfrm>
            <a:off x="9640133" y="2994422"/>
            <a:ext cx="4196358" cy="2184083"/>
          </a:xfrm>
          <a:prstGeom prst="roundRect">
            <a:avLst>
              <a:gd name="adj" fmla="val 4362"/>
            </a:avLst>
          </a:prstGeom>
          <a:solidFill>
            <a:srgbClr val="DDEEE6"/>
          </a:solidFill>
          <a:ln w="7620">
            <a:solidFill>
              <a:srgbClr val="C3D4CC"/>
            </a:solidFill>
            <a:prstDash val="solid"/>
          </a:ln>
        </p:spPr>
      </p:sp>
      <p:sp>
        <p:nvSpPr>
          <p:cNvPr id="12" name="Text 10"/>
          <p:cNvSpPr/>
          <p:nvPr/>
        </p:nvSpPr>
        <p:spPr>
          <a:xfrm>
            <a:off x="9874568" y="3228856"/>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Syne Bold" pitchFamily="34" charset="0"/>
                <a:ea typeface="Syne Bold" pitchFamily="34" charset="-122"/>
                <a:cs typeface="Syne Bold" pitchFamily="34" charset="-120"/>
              </a:rPr>
              <a:t>Low Priority</a:t>
            </a:r>
            <a:endParaRPr lang="en-US" sz="2200" dirty="0"/>
          </a:p>
        </p:txBody>
      </p:sp>
      <p:sp>
        <p:nvSpPr>
          <p:cNvPr id="13" name="Text 11"/>
          <p:cNvSpPr/>
          <p:nvPr/>
        </p:nvSpPr>
        <p:spPr>
          <a:xfrm>
            <a:off x="9874568" y="3719274"/>
            <a:ext cx="3727490" cy="362903"/>
          </a:xfrm>
          <a:prstGeom prst="rect">
            <a:avLst/>
          </a:prstGeom>
          <a:noFill/>
          <a:ln/>
        </p:spPr>
        <p:txBody>
          <a:bodyPr wrap="none" lIns="0" tIns="0" rIns="0" bIns="0" rtlCol="0" anchor="t"/>
          <a:lstStyle/>
          <a:p>
            <a:pPr algn="l" indent="0" marL="0">
              <a:lnSpc>
                <a:spcPts val="2850"/>
              </a:lnSpc>
              <a:buNone/>
            </a:pPr>
            <a:r>
              <a:rPr lang="en-US" sz="1750" b="1" dirty="0">
                <a:solidFill>
                  <a:srgbClr val="000000"/>
                </a:solidFill>
                <a:latin typeface="Overpass Light" pitchFamily="34" charset="0"/>
                <a:ea typeface="Overpass Light" pitchFamily="34" charset="-122"/>
                <a:cs typeface="Overpass Light" pitchFamily="34" charset="-120"/>
              </a:rPr>
              <a:t>72 hours</a:t>
            </a:r>
            <a:endParaRPr lang="en-US" sz="1750" dirty="0"/>
          </a:p>
        </p:txBody>
      </p:sp>
      <p:sp>
        <p:nvSpPr>
          <p:cNvPr id="14" name="Text 12"/>
          <p:cNvSpPr/>
          <p:nvPr/>
        </p:nvSpPr>
        <p:spPr>
          <a:xfrm>
            <a:off x="9874568" y="4218265"/>
            <a:ext cx="3727490"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Overpass Light" pitchFamily="34" charset="0"/>
                <a:ea typeface="Overpass Light" pitchFamily="34" charset="-122"/>
                <a:cs typeface="Overpass Light" pitchFamily="34" charset="-120"/>
              </a:rPr>
              <a:t>Non-urgent matters with extended resolution window</a:t>
            </a:r>
            <a:endParaRPr lang="en-US" sz="1750" dirty="0"/>
          </a:p>
        </p:txBody>
      </p:sp>
      <p:sp>
        <p:nvSpPr>
          <p:cNvPr id="15" name="Shape 13"/>
          <p:cNvSpPr/>
          <p:nvPr/>
        </p:nvSpPr>
        <p:spPr>
          <a:xfrm>
            <a:off x="793790" y="5433655"/>
            <a:ext cx="13042821" cy="963811"/>
          </a:xfrm>
          <a:prstGeom prst="roundRect">
            <a:avLst>
              <a:gd name="adj" fmla="val 9884"/>
            </a:avLst>
          </a:prstGeom>
          <a:solidFill>
            <a:srgbClr val="B6FCB8"/>
          </a:solidFill>
          <a:ln/>
        </p:spPr>
      </p:sp>
      <p:pic>
        <p:nvPicPr>
          <p:cNvPr id="16" name="Image 0" descr="preencoded.png">    </p:cNvPr>
          <p:cNvPicPr>
            <a:picLocks noChangeAspect="1"/>
          </p:cNvPicPr>
          <p:nvPr/>
        </p:nvPicPr>
        <p:blipFill>
          <a:blip r:embed="R4c4e29db89cd4a46"/>
          <a:stretch>
            <a:fillRect/>
          </a:stretch>
        </p:blipFill>
        <p:spPr>
          <a:xfrm>
            <a:off x="1020604" y="5754886"/>
            <a:ext cx="283488" cy="226814"/>
          </a:xfrm>
          <a:prstGeom prst="rect">
            <a:avLst/>
          </a:prstGeom>
        </p:spPr>
      </p:pic>
      <p:sp>
        <p:nvSpPr>
          <p:cNvPr id="17" name="Text 14"/>
          <p:cNvSpPr/>
          <p:nvPr/>
        </p:nvSpPr>
        <p:spPr>
          <a:xfrm>
            <a:off x="1530906" y="5717143"/>
            <a:ext cx="12078891" cy="362903"/>
          </a:xfrm>
          <a:prstGeom prst="rect">
            <a:avLst/>
          </a:prstGeom>
          <a:noFill/>
          <a:ln/>
        </p:spPr>
        <p:txBody>
          <a:bodyPr wrap="none" lIns="0" tIns="0" rIns="0" bIns="0" rtlCol="0" anchor="t"/>
          <a:lstStyle/>
          <a:p>
            <a:pPr algn="l" indent="0" marL="0">
              <a:lnSpc>
                <a:spcPts val="2850"/>
              </a:lnSpc>
              <a:buNone/>
            </a:pPr>
            <a:r>
              <a:rPr lang="en-US" sz="1750" b="1" dirty="0">
                <a:solidFill>
                  <a:srgbClr val="000000"/>
                </a:solidFill>
                <a:latin typeface="Overpass Light" pitchFamily="34" charset="0"/>
                <a:ea typeface="Overpass Light" pitchFamily="34" charset="-122"/>
                <a:cs typeface="Overpass Light" pitchFamily="34" charset="-120"/>
              </a:rPr>
              <a:t>Self-Healing Watchdog:</a:t>
            </a:r>
            <a:pPr algn="l" indent="0" marL="0">
              <a:lnSpc>
                <a:spcPts val="2850"/>
              </a:lnSpc>
              <a:buNone/>
            </a:pPr>
            <a:r>
              <a:rPr lang="en-US" sz="1750" dirty="0">
                <a:solidFill>
                  <a:srgbClr val="000000"/>
                </a:solidFill>
                <a:latin typeface="Overpass Light" pitchFamily="34" charset="0"/>
                <a:ea typeface="Overpass Light" pitchFamily="34" charset="-122"/>
                <a:cs typeface="Overpass Light" pitchFamily="34" charset="-120"/>
              </a:rPr>
              <a:t> Automatic database and Redis reconnection with 99.9% uptime guarantee</a:t>
            </a:r>
            <a:endParaRPr lang="en-US" sz="1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6951a04334be43e6"/>
          <a:stretch>
            <a:fillRect/>
          </a:stretch>
        </p:blipFill>
        <p:spPr>
          <a:xfrm>
            <a:off x="0" y="0"/>
            <a:ext cx="5486400" cy="8229600"/>
          </a:xfrm>
          <a:prstGeom prst="rect">
            <a:avLst/>
          </a:prstGeom>
        </p:spPr>
      </p:pic>
      <p:sp>
        <p:nvSpPr>
          <p:cNvPr id="3" name="Text 0"/>
          <p:cNvSpPr/>
          <p:nvPr/>
        </p:nvSpPr>
        <p:spPr>
          <a:xfrm>
            <a:off x="6267807" y="679847"/>
            <a:ext cx="7581186" cy="2093119"/>
          </a:xfrm>
          <a:prstGeom prst="rect">
            <a:avLst/>
          </a:prstGeom>
          <a:noFill/>
          <a:ln/>
        </p:spPr>
        <p:txBody>
          <a:bodyPr wrap="square" lIns="0" tIns="0" rIns="0" bIns="0" rtlCol="0" anchor="t"/>
          <a:lstStyle/>
          <a:p>
            <a:pPr algn="l" indent="0" marL="0">
              <a:lnSpc>
                <a:spcPts val="5450"/>
              </a:lnSpc>
              <a:buNone/>
            </a:pPr>
            <a:r>
              <a:rPr lang="en-US" sz="4350" b="1" dirty="0">
                <a:solidFill>
                  <a:srgbClr val="233939"/>
                </a:solidFill>
                <a:latin typeface="Syne Bold" pitchFamily="34" charset="0"/>
                <a:ea typeface="Syne Bold" pitchFamily="34" charset="-122"/>
                <a:cs typeface="Syne Bold" pitchFamily="34" charset="-120"/>
              </a:rPr>
              <a:t>Real-Time Communication Systems</a:t>
            </a:r>
            <a:endParaRPr lang="en-US" sz="4350" dirty="0"/>
          </a:p>
        </p:txBody>
      </p:sp>
      <p:pic>
        <p:nvPicPr>
          <p:cNvPr id="4" name="Image 1" descr="preencoded.png">    </p:cNvPr>
          <p:cNvPicPr>
            <a:picLocks noChangeAspect="1"/>
          </p:cNvPicPr>
          <p:nvPr/>
        </p:nvPicPr>
        <p:blipFill>
          <a:blip r:embed="R4717964a7ab84465">
            <a:extLst>
              <a:ext uri="{96DAC541-7B7A-43D3-8B79-37D633B846F1}">
                <asvg:svgBlip xmlns:asvg="http://schemas.microsoft.com/office/drawing/2016/SVG/main" r:embed="R156d00bf9c4c44b4"/>
              </a:ext>
            </a:extLst>
          </a:blip>
          <a:stretch>
            <a:fillRect/>
          </a:stretch>
        </p:blipFill>
        <p:spPr>
          <a:xfrm>
            <a:off x="6267807" y="3102650"/>
            <a:ext cx="558165" cy="558165"/>
          </a:xfrm>
          <a:prstGeom prst="rect">
            <a:avLst/>
          </a:prstGeom>
        </p:spPr>
      </p:pic>
      <p:sp>
        <p:nvSpPr>
          <p:cNvPr id="5" name="Text 1"/>
          <p:cNvSpPr/>
          <p:nvPr/>
        </p:nvSpPr>
        <p:spPr>
          <a:xfrm>
            <a:off x="7100649" y="3102650"/>
            <a:ext cx="3120271" cy="348853"/>
          </a:xfrm>
          <a:prstGeom prst="rect">
            <a:avLst/>
          </a:prstGeom>
          <a:noFill/>
          <a:ln/>
        </p:spPr>
        <p:txBody>
          <a:bodyPr wrap="none" lIns="0" tIns="0" rIns="0" bIns="0" rtlCol="0" anchor="t"/>
          <a:lstStyle/>
          <a:p>
            <a:pPr algn="l" indent="0" marL="0">
              <a:lnSpc>
                <a:spcPts val="2700"/>
              </a:lnSpc>
              <a:buNone/>
            </a:pPr>
            <a:r>
              <a:rPr lang="en-US" sz="2150" b="1" dirty="0">
                <a:solidFill>
                  <a:srgbClr val="3B4E4E"/>
                </a:solidFill>
                <a:latin typeface="Syne Bold" pitchFamily="34" charset="0"/>
                <a:ea typeface="Syne Bold" pitchFamily="34" charset="-122"/>
                <a:cs typeface="Syne Bold" pitchFamily="34" charset="-120"/>
              </a:rPr>
              <a:t>Instant Notifications</a:t>
            </a:r>
            <a:endParaRPr lang="en-US" sz="2150" dirty="0"/>
          </a:p>
        </p:txBody>
      </p:sp>
      <p:sp>
        <p:nvSpPr>
          <p:cNvPr id="6" name="Text 2"/>
          <p:cNvSpPr/>
          <p:nvPr/>
        </p:nvSpPr>
        <p:spPr>
          <a:xfrm>
            <a:off x="7100649" y="3583305"/>
            <a:ext cx="6748343" cy="708660"/>
          </a:xfrm>
          <a:prstGeom prst="rect">
            <a:avLst/>
          </a:prstGeom>
          <a:noFill/>
          <a:ln/>
        </p:spPr>
        <p:txBody>
          <a:bodyPr wrap="square" lIns="0" tIns="0" rIns="0" bIns="0" rtlCol="0" anchor="t"/>
          <a:lstStyle/>
          <a:p>
            <a:pPr algn="l" indent="0" marL="0">
              <a:lnSpc>
                <a:spcPts val="2750"/>
              </a:lnSpc>
              <a:buNone/>
            </a:pPr>
            <a:r>
              <a:rPr lang="en-US" sz="1750" dirty="0">
                <a:solidFill>
                  <a:srgbClr val="3B4E4E"/>
                </a:solidFill>
                <a:latin typeface="Overpass Light" pitchFamily="34" charset="0"/>
                <a:ea typeface="Overpass Light" pitchFamily="34" charset="-122"/>
                <a:cs typeface="Overpass Light" pitchFamily="34" charset="-120"/>
              </a:rPr>
              <a:t>Socket.io delivers real-time updates to dashboards, ensuring immediate awareness of new complaints and status changes</a:t>
            </a:r>
            <a:endParaRPr lang="en-US" sz="1750" dirty="0"/>
          </a:p>
        </p:txBody>
      </p:sp>
      <p:pic>
        <p:nvPicPr>
          <p:cNvPr id="7" name="Image 2" descr="preencoded.png">    </p:cNvPr>
          <p:cNvPicPr>
            <a:picLocks noChangeAspect="1"/>
          </p:cNvPicPr>
          <p:nvPr/>
        </p:nvPicPr>
        <p:blipFill>
          <a:blip r:embed="R4717964a7ab84465">
            <a:extLst>
              <a:ext uri="{96DAC541-7B7A-43D3-8B79-37D633B846F1}">
                <asvg:svgBlip xmlns:asvg="http://schemas.microsoft.com/office/drawing/2016/SVG/main" r:embed="Ree6c88542cca4d46"/>
              </a:ext>
            </a:extLst>
          </a:blip>
          <a:stretch>
            <a:fillRect/>
          </a:stretch>
        </p:blipFill>
        <p:spPr>
          <a:xfrm>
            <a:off x="6267807" y="4731544"/>
            <a:ext cx="558165" cy="558165"/>
          </a:xfrm>
          <a:prstGeom prst="rect">
            <a:avLst/>
          </a:prstGeom>
        </p:spPr>
      </p:pic>
      <p:sp>
        <p:nvSpPr>
          <p:cNvPr id="8" name="Text 3"/>
          <p:cNvSpPr/>
          <p:nvPr/>
        </p:nvSpPr>
        <p:spPr>
          <a:xfrm>
            <a:off x="7100649" y="4731544"/>
            <a:ext cx="3620214" cy="348853"/>
          </a:xfrm>
          <a:prstGeom prst="rect">
            <a:avLst/>
          </a:prstGeom>
          <a:noFill/>
          <a:ln/>
        </p:spPr>
        <p:txBody>
          <a:bodyPr wrap="none" lIns="0" tIns="0" rIns="0" bIns="0" rtlCol="0" anchor="t"/>
          <a:lstStyle/>
          <a:p>
            <a:pPr algn="l" indent="0" marL="0">
              <a:lnSpc>
                <a:spcPts val="2700"/>
              </a:lnSpc>
              <a:buNone/>
            </a:pPr>
            <a:r>
              <a:rPr lang="en-US" sz="2150" b="1" dirty="0">
                <a:solidFill>
                  <a:srgbClr val="3B4E4E"/>
                </a:solidFill>
                <a:latin typeface="Syne Bold" pitchFamily="34" charset="0"/>
                <a:ea typeface="Syne Bold" pitchFamily="34" charset="-122"/>
                <a:cs typeface="Syne Bold" pitchFamily="34" charset="-120"/>
              </a:rPr>
              <a:t>Complaint Chat Rooms</a:t>
            </a:r>
            <a:endParaRPr lang="en-US" sz="2150" dirty="0"/>
          </a:p>
        </p:txBody>
      </p:sp>
      <p:sp>
        <p:nvSpPr>
          <p:cNvPr id="9" name="Text 4"/>
          <p:cNvSpPr/>
          <p:nvPr/>
        </p:nvSpPr>
        <p:spPr>
          <a:xfrm>
            <a:off x="7100649" y="5212199"/>
            <a:ext cx="6748343" cy="708660"/>
          </a:xfrm>
          <a:prstGeom prst="rect">
            <a:avLst/>
          </a:prstGeom>
          <a:noFill/>
          <a:ln/>
        </p:spPr>
        <p:txBody>
          <a:bodyPr wrap="square" lIns="0" tIns="0" rIns="0" bIns="0" rtlCol="0" anchor="t"/>
          <a:lstStyle/>
          <a:p>
            <a:pPr algn="l" indent="0" marL="0">
              <a:lnSpc>
                <a:spcPts val="2750"/>
              </a:lnSpc>
              <a:buNone/>
            </a:pPr>
            <a:r>
              <a:rPr lang="en-US" sz="1750" dirty="0">
                <a:solidFill>
                  <a:srgbClr val="3B4E4E"/>
                </a:solidFill>
                <a:latin typeface="Overpass Light" pitchFamily="34" charset="0"/>
                <a:ea typeface="Overpass Light" pitchFamily="34" charset="-122"/>
                <a:cs typeface="Overpass Light" pitchFamily="34" charset="-120"/>
              </a:rPr>
              <a:t>Dedicated messaging channels for each complaint, enabling direct communication between students and support staff</a:t>
            </a:r>
            <a:endParaRPr lang="en-US" sz="1750" dirty="0"/>
          </a:p>
        </p:txBody>
      </p:sp>
      <p:pic>
        <p:nvPicPr>
          <p:cNvPr id="10" name="Image 3" descr="preencoded.png">    </p:cNvPr>
          <p:cNvPicPr>
            <a:picLocks noChangeAspect="1"/>
          </p:cNvPicPr>
          <p:nvPr/>
        </p:nvPicPr>
        <p:blipFill>
          <a:blip r:embed="R4717964a7ab84465">
            <a:extLst>
              <a:ext uri="{96DAC541-7B7A-43D3-8B79-37D633B846F1}">
                <asvg:svgBlip xmlns:asvg="http://schemas.microsoft.com/office/drawing/2016/SVG/main" r:embed="Rcc41e5db91154338"/>
              </a:ext>
            </a:extLst>
          </a:blip>
          <a:stretch>
            <a:fillRect/>
          </a:stretch>
        </p:blipFill>
        <p:spPr>
          <a:xfrm>
            <a:off x="6267807" y="6360438"/>
            <a:ext cx="558165" cy="558165"/>
          </a:xfrm>
          <a:prstGeom prst="rect">
            <a:avLst/>
          </a:prstGeom>
        </p:spPr>
      </p:pic>
      <p:sp>
        <p:nvSpPr>
          <p:cNvPr id="11" name="Text 5"/>
          <p:cNvSpPr/>
          <p:nvPr/>
        </p:nvSpPr>
        <p:spPr>
          <a:xfrm>
            <a:off x="7100649" y="6360438"/>
            <a:ext cx="3923109" cy="348853"/>
          </a:xfrm>
          <a:prstGeom prst="rect">
            <a:avLst/>
          </a:prstGeom>
          <a:noFill/>
          <a:ln/>
        </p:spPr>
        <p:txBody>
          <a:bodyPr wrap="none" lIns="0" tIns="0" rIns="0" bIns="0" rtlCol="0" anchor="t"/>
          <a:lstStyle/>
          <a:p>
            <a:pPr algn="l" indent="0" marL="0">
              <a:lnSpc>
                <a:spcPts val="2700"/>
              </a:lnSpc>
              <a:buNone/>
            </a:pPr>
            <a:r>
              <a:rPr lang="en-US" sz="2150" b="1" dirty="0">
                <a:solidFill>
                  <a:srgbClr val="3B4E4E"/>
                </a:solidFill>
                <a:latin typeface="Syne Bold" pitchFamily="34" charset="0"/>
                <a:ea typeface="Syne Bold" pitchFamily="34" charset="-122"/>
                <a:cs typeface="Syne Bold" pitchFamily="34" charset="-120"/>
              </a:rPr>
              <a:t>Automated Email System</a:t>
            </a:r>
            <a:endParaRPr lang="en-US" sz="2150" dirty="0"/>
          </a:p>
        </p:txBody>
      </p:sp>
      <p:sp>
        <p:nvSpPr>
          <p:cNvPr id="12" name="Text 6"/>
          <p:cNvSpPr/>
          <p:nvPr/>
        </p:nvSpPr>
        <p:spPr>
          <a:xfrm>
            <a:off x="7100649" y="6841093"/>
            <a:ext cx="6748343" cy="708660"/>
          </a:xfrm>
          <a:prstGeom prst="rect">
            <a:avLst/>
          </a:prstGeom>
          <a:noFill/>
          <a:ln/>
        </p:spPr>
        <p:txBody>
          <a:bodyPr wrap="square" lIns="0" tIns="0" rIns="0" bIns="0" rtlCol="0" anchor="t"/>
          <a:lstStyle/>
          <a:p>
            <a:pPr algn="l" indent="0" marL="0">
              <a:lnSpc>
                <a:spcPts val="2750"/>
              </a:lnSpc>
              <a:buNone/>
            </a:pPr>
            <a:r>
              <a:rPr lang="en-US" sz="1750" dirty="0">
                <a:solidFill>
                  <a:srgbClr val="3B4E4E"/>
                </a:solidFill>
                <a:latin typeface="Overpass Light" pitchFamily="34" charset="0"/>
                <a:ea typeface="Overpass Light" pitchFamily="34" charset="-122"/>
                <a:cs typeface="Overpass Light" pitchFamily="34" charset="-120"/>
              </a:rPr>
              <a:t>Triggered emails for account activation, complaint acknowledgment, and resolution confirmation with professional templates</a:t>
            </a:r>
            <a:endParaRPr lang="en-US" sz="1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2301954"/>
            <a:ext cx="12071509" cy="708779"/>
          </a:xfrm>
          <a:prstGeom prst="rect">
            <a:avLst/>
          </a:prstGeom>
          <a:noFill/>
          <a:ln/>
        </p:spPr>
        <p:txBody>
          <a:bodyPr wrap="none" lIns="0" tIns="0" rIns="0" bIns="0" rtlCol="0" anchor="t"/>
          <a:lstStyle/>
          <a:p>
            <a:pPr algn="l" indent="0" marL="0">
              <a:lnSpc>
                <a:spcPts val="5550"/>
              </a:lnSpc>
              <a:buNone/>
            </a:pPr>
            <a:r>
              <a:rPr lang="en-US" sz="4450" b="1" dirty="0">
                <a:solidFill>
                  <a:srgbClr val="233939"/>
                </a:solidFill>
                <a:latin typeface="Syne Bold" pitchFamily="34" charset="0"/>
                <a:ea typeface="Syne Bold" pitchFamily="34" charset="-122"/>
                <a:cs typeface="Syne Bold" pitchFamily="34" charset="-120"/>
              </a:rPr>
              <a:t>Performance Metrics &amp; User Feedback</a:t>
            </a:r>
            <a:endParaRPr lang="en-US" sz="4450" dirty="0"/>
          </a:p>
        </p:txBody>
      </p:sp>
      <p:sp>
        <p:nvSpPr>
          <p:cNvPr id="3" name="Text 1"/>
          <p:cNvSpPr/>
          <p:nvPr/>
        </p:nvSpPr>
        <p:spPr>
          <a:xfrm>
            <a:off x="793790" y="3577709"/>
            <a:ext cx="3301603" cy="354330"/>
          </a:xfrm>
          <a:prstGeom prst="rect">
            <a:avLst/>
          </a:prstGeom>
          <a:noFill/>
          <a:ln/>
        </p:spPr>
        <p:txBody>
          <a:bodyPr wrap="none" lIns="0" tIns="0" rIns="0" bIns="0" rtlCol="0" anchor="t"/>
          <a:lstStyle/>
          <a:p>
            <a:pPr algn="l" indent="0" marL="0">
              <a:lnSpc>
                <a:spcPts val="2750"/>
              </a:lnSpc>
              <a:buNone/>
            </a:pPr>
            <a:r>
              <a:rPr lang="en-US" sz="2200" b="1" dirty="0">
                <a:solidFill>
                  <a:srgbClr val="233939"/>
                </a:solidFill>
                <a:latin typeface="Syne Bold" pitchFamily="34" charset="0"/>
                <a:ea typeface="Syne Bold" pitchFamily="34" charset="-122"/>
                <a:cs typeface="Syne Bold" pitchFamily="34" charset="-120"/>
              </a:rPr>
              <a:t>System Performance</a:t>
            </a:r>
            <a:endParaRPr lang="en-US" sz="2200" dirty="0"/>
          </a:p>
        </p:txBody>
      </p:sp>
      <p:sp>
        <p:nvSpPr>
          <p:cNvPr id="4" name="Text 2"/>
          <p:cNvSpPr/>
          <p:nvPr/>
        </p:nvSpPr>
        <p:spPr>
          <a:xfrm>
            <a:off x="793790" y="4158853"/>
            <a:ext cx="3978116" cy="1247299"/>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B4E4E"/>
                </a:solidFill>
                <a:latin typeface="Overpass Light" pitchFamily="34" charset="0"/>
                <a:ea typeface="Overpass Light" pitchFamily="34" charset="-122"/>
                <a:cs typeface="Overpass Light" pitchFamily="34" charset="-120"/>
              </a:rPr>
              <a:t>Dashboard analytics: </a:t>
            </a:r>
            <a:pPr algn="l" indent="0" marL="0">
              <a:lnSpc>
                <a:spcPts val="2850"/>
              </a:lnSpc>
              <a:buNone/>
            </a:pPr>
            <a:r>
              <a:rPr lang="en-US" sz="1750" b="1" dirty="0">
                <a:solidFill>
                  <a:srgbClr val="3B4E4E"/>
                </a:solidFill>
                <a:latin typeface="Overpass Light" pitchFamily="34" charset="0"/>
                <a:ea typeface="Overpass Light" pitchFamily="34" charset="-122"/>
                <a:cs typeface="Overpass Light" pitchFamily="34" charset="-120"/>
              </a:rPr>
              <a:t>&lt;100ms</a:t>
            </a:r>
            <a:endParaRPr lang="en-US" sz="1750" dirty="0"/>
          </a:p>
          <a:p>
            <a:pPr algn="l" marL="342900" indent="-342900">
              <a:lnSpc>
                <a:spcPts val="2850"/>
              </a:lnSpc>
              <a:buSzPct val="100000"/>
              <a:buChar char="•"/>
            </a:pPr>
            <a:r>
              <a:rPr lang="en-US" sz="1750" dirty="0">
                <a:solidFill>
                  <a:srgbClr val="3B4E4E"/>
                </a:solidFill>
                <a:latin typeface="Overpass Light" pitchFamily="34" charset="0"/>
                <a:ea typeface="Overpass Light" pitchFamily="34" charset="-122"/>
                <a:cs typeface="Overpass Light" pitchFamily="34" charset="-120"/>
              </a:rPr>
              <a:t>Complaint loading: </a:t>
            </a:r>
            <a:pPr algn="l" indent="0" marL="0">
              <a:lnSpc>
                <a:spcPts val="2850"/>
              </a:lnSpc>
              <a:buNone/>
            </a:pPr>
            <a:r>
              <a:rPr lang="en-US" sz="1750" b="1" dirty="0">
                <a:solidFill>
                  <a:srgbClr val="3B4E4E"/>
                </a:solidFill>
                <a:latin typeface="Overpass Light" pitchFamily="34" charset="0"/>
                <a:ea typeface="Overpass Light" pitchFamily="34" charset="-122"/>
                <a:cs typeface="Overpass Light" pitchFamily="34" charset="-120"/>
              </a:rPr>
              <a:t>&lt;500ms</a:t>
            </a:r>
            <a:endParaRPr lang="en-US" sz="1750" dirty="0"/>
          </a:p>
          <a:p>
            <a:pPr algn="l" marL="342900" indent="-342900">
              <a:lnSpc>
                <a:spcPts val="2850"/>
              </a:lnSpc>
              <a:buSzPct val="100000"/>
              <a:buChar char="•"/>
            </a:pPr>
            <a:r>
              <a:rPr lang="en-US" sz="1750" dirty="0">
                <a:solidFill>
                  <a:srgbClr val="3B4E4E"/>
                </a:solidFill>
                <a:latin typeface="Overpass Light" pitchFamily="34" charset="0"/>
                <a:ea typeface="Overpass Light" pitchFamily="34" charset="-122"/>
                <a:cs typeface="Overpass Light" pitchFamily="34" charset="-120"/>
              </a:rPr>
              <a:t>Real-time notifications: </a:t>
            </a:r>
            <a:pPr algn="l" indent="0" marL="0">
              <a:lnSpc>
                <a:spcPts val="2850"/>
              </a:lnSpc>
              <a:buNone/>
            </a:pPr>
            <a:r>
              <a:rPr lang="en-US" sz="1750" b="1" dirty="0">
                <a:solidFill>
                  <a:srgbClr val="3B4E4E"/>
                </a:solidFill>
                <a:latin typeface="Overpass Light" pitchFamily="34" charset="0"/>
                <a:ea typeface="Overpass Light" pitchFamily="34" charset="-122"/>
                <a:cs typeface="Overpass Light" pitchFamily="34" charset="-120"/>
              </a:rPr>
              <a:t>&lt;200ms</a:t>
            </a:r>
            <a:endParaRPr lang="en-US" sz="1750" dirty="0"/>
          </a:p>
        </p:txBody>
      </p:sp>
      <p:sp>
        <p:nvSpPr>
          <p:cNvPr id="5" name="Text 3"/>
          <p:cNvSpPr/>
          <p:nvPr/>
        </p:nvSpPr>
        <p:spPr>
          <a:xfrm>
            <a:off x="5332928" y="3577709"/>
            <a:ext cx="2857500" cy="354330"/>
          </a:xfrm>
          <a:prstGeom prst="rect">
            <a:avLst/>
          </a:prstGeom>
          <a:noFill/>
          <a:ln/>
        </p:spPr>
        <p:txBody>
          <a:bodyPr wrap="none" lIns="0" tIns="0" rIns="0" bIns="0" rtlCol="0" anchor="t"/>
          <a:lstStyle/>
          <a:p>
            <a:pPr algn="l" indent="0" marL="0">
              <a:lnSpc>
                <a:spcPts val="2750"/>
              </a:lnSpc>
              <a:buNone/>
            </a:pPr>
            <a:r>
              <a:rPr lang="en-US" sz="2200" b="1" dirty="0">
                <a:solidFill>
                  <a:srgbClr val="233939"/>
                </a:solidFill>
                <a:latin typeface="Syne Bold" pitchFamily="34" charset="0"/>
                <a:ea typeface="Syne Bold" pitchFamily="34" charset="-122"/>
                <a:cs typeface="Syne Bold" pitchFamily="34" charset="-120"/>
              </a:rPr>
              <a:t>Feature Validation</a:t>
            </a:r>
            <a:endParaRPr lang="en-US" sz="2200" dirty="0"/>
          </a:p>
        </p:txBody>
      </p:sp>
      <p:sp>
        <p:nvSpPr>
          <p:cNvPr id="6" name="Text 4"/>
          <p:cNvSpPr/>
          <p:nvPr/>
        </p:nvSpPr>
        <p:spPr>
          <a:xfrm>
            <a:off x="5332928" y="4158853"/>
            <a:ext cx="3978116" cy="1689497"/>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B4E4E"/>
                </a:solidFill>
                <a:latin typeface="Overpass Light" pitchFamily="34" charset="0"/>
                <a:ea typeface="Overpass Light" pitchFamily="34" charset="-122"/>
                <a:cs typeface="Overpass Light" pitchFamily="34" charset="-120"/>
              </a:rPr>
              <a:t>RBAC permissions verified</a:t>
            </a:r>
            <a:endParaRPr lang="en-US" sz="1750" dirty="0"/>
          </a:p>
          <a:p>
            <a:pPr algn="l" marL="342900" indent="-342900">
              <a:lnSpc>
                <a:spcPts val="2850"/>
              </a:lnSpc>
              <a:buSzPct val="100000"/>
              <a:buChar char="•"/>
            </a:pPr>
            <a:r>
              <a:rPr lang="en-US" sz="1750" dirty="0">
                <a:solidFill>
                  <a:srgbClr val="3B4E4E"/>
                </a:solidFill>
                <a:latin typeface="Overpass Light" pitchFamily="34" charset="0"/>
                <a:ea typeface="Overpass Light" pitchFamily="34" charset="-122"/>
                <a:cs typeface="Overpass Light" pitchFamily="34" charset="-120"/>
              </a:rPr>
              <a:t>JWT blacklist functioning</a:t>
            </a:r>
            <a:endParaRPr lang="en-US" sz="1750" dirty="0"/>
          </a:p>
          <a:p>
            <a:pPr algn="l" marL="342900" indent="-342900">
              <a:lnSpc>
                <a:spcPts val="2850"/>
              </a:lnSpc>
              <a:buSzPct val="100000"/>
              <a:buChar char="•"/>
            </a:pPr>
            <a:r>
              <a:rPr lang="en-US" sz="1750" dirty="0">
                <a:solidFill>
                  <a:srgbClr val="3B4E4E"/>
                </a:solidFill>
                <a:latin typeface="Overpass Light" pitchFamily="34" charset="0"/>
                <a:ea typeface="Overpass Light" pitchFamily="34" charset="-122"/>
                <a:cs typeface="Overpass Light" pitchFamily="34" charset="-120"/>
              </a:rPr>
              <a:t>SLA detection active</a:t>
            </a:r>
            <a:endParaRPr lang="en-US" sz="1750" dirty="0"/>
          </a:p>
          <a:p>
            <a:pPr algn="l" marL="342900" indent="-342900">
              <a:lnSpc>
                <a:spcPts val="2850"/>
              </a:lnSpc>
              <a:buSzPct val="100000"/>
              <a:buChar char="•"/>
            </a:pPr>
            <a:r>
              <a:rPr lang="en-US" sz="1750" dirty="0">
                <a:solidFill>
                  <a:srgbClr val="3B4E4E"/>
                </a:solidFill>
                <a:latin typeface="Overpass Light" pitchFamily="34" charset="0"/>
                <a:ea typeface="Overpass Light" pitchFamily="34" charset="-122"/>
                <a:cs typeface="Overpass Light" pitchFamily="34" charset="-120"/>
              </a:rPr>
              <a:t>Media uploads successful</a:t>
            </a:r>
            <a:endParaRPr lang="en-US" sz="1750" dirty="0"/>
          </a:p>
        </p:txBody>
      </p:sp>
      <p:sp>
        <p:nvSpPr>
          <p:cNvPr id="7" name="Text 5"/>
          <p:cNvSpPr/>
          <p:nvPr/>
        </p:nvSpPr>
        <p:spPr>
          <a:xfrm>
            <a:off x="9872067" y="3577709"/>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233939"/>
                </a:solidFill>
                <a:latin typeface="Syne Bold" pitchFamily="34" charset="0"/>
                <a:ea typeface="Syne Bold" pitchFamily="34" charset="-122"/>
                <a:cs typeface="Syne Bold" pitchFamily="34" charset="-120"/>
              </a:rPr>
              <a:t>User Satisfaction</a:t>
            </a:r>
            <a:endParaRPr lang="en-US" sz="2200" dirty="0"/>
          </a:p>
        </p:txBody>
      </p:sp>
      <p:sp>
        <p:nvSpPr>
          <p:cNvPr id="8" name="Text 6"/>
          <p:cNvSpPr/>
          <p:nvPr/>
        </p:nvSpPr>
        <p:spPr>
          <a:xfrm>
            <a:off x="9872067" y="4158853"/>
            <a:ext cx="3978116" cy="1247299"/>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3B4E4E"/>
                </a:solidFill>
                <a:latin typeface="Overpass Light" pitchFamily="34" charset="0"/>
                <a:ea typeface="Overpass Light" pitchFamily="34" charset="-122"/>
                <a:cs typeface="Overpass Light" pitchFamily="34" charset="-120"/>
              </a:rPr>
              <a:t>92%</a:t>
            </a:r>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 found system easy to use</a:t>
            </a:r>
            <a:endParaRPr lang="en-US" sz="1750" dirty="0"/>
          </a:p>
          <a:p>
            <a:pPr algn="l" marL="342900" indent="-342900">
              <a:lnSpc>
                <a:spcPts val="2850"/>
              </a:lnSpc>
              <a:buSzPct val="100000"/>
              <a:buChar char="•"/>
            </a:pPr>
            <a:r>
              <a:rPr lang="en-US" sz="1750" b="1" dirty="0">
                <a:solidFill>
                  <a:srgbClr val="3B4E4E"/>
                </a:solidFill>
                <a:latin typeface="Overpass Light" pitchFamily="34" charset="0"/>
                <a:ea typeface="Overpass Light" pitchFamily="34" charset="-122"/>
                <a:cs typeface="Overpass Light" pitchFamily="34" charset="-120"/>
              </a:rPr>
              <a:t>90%</a:t>
            </a:r>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 liked real-time updates</a:t>
            </a:r>
            <a:endParaRPr lang="en-US" sz="1750" dirty="0"/>
          </a:p>
          <a:p>
            <a:pPr algn="l" marL="342900" indent="-342900">
              <a:lnSpc>
                <a:spcPts val="2850"/>
              </a:lnSpc>
              <a:buSzPct val="100000"/>
              <a:buChar char="•"/>
            </a:pPr>
            <a:r>
              <a:rPr lang="en-US" sz="1750" b="1" dirty="0">
                <a:solidFill>
                  <a:srgbClr val="3B4E4E"/>
                </a:solidFill>
                <a:latin typeface="Overpass Light" pitchFamily="34" charset="0"/>
                <a:ea typeface="Overpass Light" pitchFamily="34" charset="-122"/>
                <a:cs typeface="Overpass Light" pitchFamily="34" charset="-120"/>
              </a:rPr>
              <a:t>85%</a:t>
            </a:r>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 satisfied with UI design</a:t>
            </a:r>
            <a:endParaRPr lang="en-US" sz="1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a5f4feee814542b0"/>
          <a:stretch>
            <a:fillRect/>
          </a:stretch>
        </p:blipFill>
        <p:spPr>
          <a:xfrm>
            <a:off x="0" y="0"/>
            <a:ext cx="5486400" cy="8229600"/>
          </a:xfrm>
          <a:prstGeom prst="rect">
            <a:avLst/>
          </a:prstGeom>
        </p:spPr>
      </p:pic>
      <p:sp>
        <p:nvSpPr>
          <p:cNvPr id="3" name="Text 0"/>
          <p:cNvSpPr/>
          <p:nvPr/>
        </p:nvSpPr>
        <p:spPr>
          <a:xfrm>
            <a:off x="6143744" y="828556"/>
            <a:ext cx="7674293" cy="586978"/>
          </a:xfrm>
          <a:prstGeom prst="rect">
            <a:avLst/>
          </a:prstGeom>
          <a:noFill/>
          <a:ln/>
        </p:spPr>
        <p:txBody>
          <a:bodyPr wrap="none" lIns="0" tIns="0" rIns="0" bIns="0" rtlCol="0" anchor="t"/>
          <a:lstStyle/>
          <a:p>
            <a:pPr algn="l" indent="0" marL="0">
              <a:lnSpc>
                <a:spcPts val="4600"/>
              </a:lnSpc>
              <a:buNone/>
            </a:pPr>
            <a:r>
              <a:rPr lang="en-US" sz="3650" b="1" dirty="0">
                <a:solidFill>
                  <a:srgbClr val="233939"/>
                </a:solidFill>
                <a:latin typeface="Syne Bold" pitchFamily="34" charset="0"/>
                <a:ea typeface="Syne Bold" pitchFamily="34" charset="-122"/>
                <a:cs typeface="Syne Bold" pitchFamily="34" charset="-120"/>
              </a:rPr>
              <a:t>Future Roadmap &amp; Thank You</a:t>
            </a:r>
            <a:endParaRPr lang="en-US" sz="3650" dirty="0"/>
          </a:p>
        </p:txBody>
      </p:sp>
      <p:sp>
        <p:nvSpPr>
          <p:cNvPr id="4" name="Shape 1"/>
          <p:cNvSpPr/>
          <p:nvPr/>
        </p:nvSpPr>
        <p:spPr>
          <a:xfrm>
            <a:off x="6354961" y="1648777"/>
            <a:ext cx="22860" cy="3837027"/>
          </a:xfrm>
          <a:prstGeom prst="roundRect">
            <a:avLst>
              <a:gd name="adj" fmla="val 345116"/>
            </a:avLst>
          </a:prstGeom>
          <a:solidFill>
            <a:srgbClr val="C3D4CC"/>
          </a:solidFill>
          <a:ln/>
        </p:spPr>
      </p:sp>
      <p:sp>
        <p:nvSpPr>
          <p:cNvPr id="5" name="Shape 2"/>
          <p:cNvSpPr/>
          <p:nvPr/>
        </p:nvSpPr>
        <p:spPr>
          <a:xfrm>
            <a:off x="6543377" y="1848564"/>
            <a:ext cx="563523" cy="22860"/>
          </a:xfrm>
          <a:prstGeom prst="roundRect">
            <a:avLst>
              <a:gd name="adj" fmla="val 345116"/>
            </a:avLst>
          </a:prstGeom>
          <a:solidFill>
            <a:srgbClr val="C3D4CC"/>
          </a:solidFill>
          <a:ln/>
        </p:spPr>
      </p:sp>
      <p:sp>
        <p:nvSpPr>
          <p:cNvPr id="6" name="Shape 3"/>
          <p:cNvSpPr/>
          <p:nvPr/>
        </p:nvSpPr>
        <p:spPr>
          <a:xfrm>
            <a:off x="6143685" y="1648777"/>
            <a:ext cx="422553" cy="422553"/>
          </a:xfrm>
          <a:prstGeom prst="roundRect">
            <a:avLst>
              <a:gd name="adj" fmla="val 18671"/>
            </a:avLst>
          </a:prstGeom>
          <a:solidFill>
            <a:srgbClr val="DDEEE6"/>
          </a:solidFill>
          <a:ln w="7620">
            <a:solidFill>
              <a:srgbClr val="C3D4CC"/>
            </a:solidFill>
            <a:prstDash val="solid"/>
          </a:ln>
        </p:spPr>
      </p:sp>
      <p:sp>
        <p:nvSpPr>
          <p:cNvPr id="7" name="Text 4"/>
          <p:cNvSpPr/>
          <p:nvPr/>
        </p:nvSpPr>
        <p:spPr>
          <a:xfrm>
            <a:off x="6214050" y="1683901"/>
            <a:ext cx="281702" cy="352187"/>
          </a:xfrm>
          <a:prstGeom prst="rect">
            <a:avLst/>
          </a:prstGeom>
          <a:noFill/>
          <a:ln/>
        </p:spPr>
        <p:txBody>
          <a:bodyPr wrap="none" lIns="0" tIns="0" rIns="0" bIns="0" rtlCol="0" anchor="ctr"/>
          <a:lstStyle/>
          <a:p>
            <a:pPr algn="ctr" indent="0" marL="0">
              <a:lnSpc>
                <a:spcPts val="2200"/>
              </a:lnSpc>
              <a:buNone/>
            </a:pPr>
            <a:r>
              <a:rPr lang="en-US" sz="2200" b="1" dirty="0">
                <a:solidFill>
                  <a:srgbClr val="3B4E4E"/>
                </a:solidFill>
                <a:latin typeface="Syne Bold" pitchFamily="34" charset="0"/>
                <a:ea typeface="Syne Bold" pitchFamily="34" charset="-122"/>
                <a:cs typeface="Syne Bold" pitchFamily="34" charset="-120"/>
              </a:rPr>
              <a:t>1</a:t>
            </a:r>
            <a:endParaRPr lang="en-US" sz="2200" dirty="0"/>
          </a:p>
        </p:txBody>
      </p:sp>
      <p:sp>
        <p:nvSpPr>
          <p:cNvPr id="8" name="Text 5"/>
          <p:cNvSpPr/>
          <p:nvPr/>
        </p:nvSpPr>
        <p:spPr>
          <a:xfrm>
            <a:off x="7294245" y="1713309"/>
            <a:ext cx="3481149" cy="293489"/>
          </a:xfrm>
          <a:prstGeom prst="rect">
            <a:avLst/>
          </a:prstGeom>
          <a:noFill/>
          <a:ln/>
        </p:spPr>
        <p:txBody>
          <a:bodyPr wrap="none" lIns="0" tIns="0" rIns="0" bIns="0" rtlCol="0" anchor="t"/>
          <a:lstStyle/>
          <a:p>
            <a:pPr algn="l" indent="0" marL="0">
              <a:lnSpc>
                <a:spcPts val="2300"/>
              </a:lnSpc>
              <a:buNone/>
            </a:pPr>
            <a:r>
              <a:rPr lang="en-US" sz="1800" b="1" dirty="0">
                <a:solidFill>
                  <a:srgbClr val="3B4E4E"/>
                </a:solidFill>
                <a:latin typeface="Syne Bold" pitchFamily="34" charset="0"/>
                <a:ea typeface="Syne Bold" pitchFamily="34" charset="-122"/>
                <a:cs typeface="Syne Bold" pitchFamily="34" charset="-120"/>
              </a:rPr>
              <a:t>Phase 1: ML Categorization</a:t>
            </a:r>
            <a:endParaRPr lang="en-US" sz="1800" dirty="0"/>
          </a:p>
        </p:txBody>
      </p:sp>
      <p:sp>
        <p:nvSpPr>
          <p:cNvPr id="9" name="Text 6"/>
          <p:cNvSpPr/>
          <p:nvPr/>
        </p:nvSpPr>
        <p:spPr>
          <a:xfrm>
            <a:off x="7294245" y="2100024"/>
            <a:ext cx="6678811" cy="274677"/>
          </a:xfrm>
          <a:prstGeom prst="rect">
            <a:avLst/>
          </a:prstGeom>
          <a:noFill/>
          <a:ln/>
        </p:spPr>
        <p:txBody>
          <a:bodyPr wrap="none" lIns="0" tIns="0" rIns="0" bIns="0" rtlCol="0" anchor="t"/>
          <a:lstStyle/>
          <a:p>
            <a:pPr algn="l" indent="0" marL="0">
              <a:lnSpc>
                <a:spcPts val="2150"/>
              </a:lnSpc>
              <a:buNone/>
            </a:pPr>
            <a:r>
              <a:rPr lang="en-US" sz="1450" dirty="0">
                <a:solidFill>
                  <a:srgbClr val="3B4E4E"/>
                </a:solidFill>
                <a:latin typeface="Overpass Light" pitchFamily="34" charset="0"/>
                <a:ea typeface="Overpass Light" pitchFamily="34" charset="-122"/>
                <a:cs typeface="Overpass Light" pitchFamily="34" charset="-120"/>
              </a:rPr>
              <a:t>Machine learning models for intelligent complaint classification and routing</a:t>
            </a:r>
            <a:endParaRPr lang="en-US" sz="1450" dirty="0"/>
          </a:p>
        </p:txBody>
      </p:sp>
      <p:sp>
        <p:nvSpPr>
          <p:cNvPr id="10" name="Shape 7"/>
          <p:cNvSpPr/>
          <p:nvPr/>
        </p:nvSpPr>
        <p:spPr>
          <a:xfrm>
            <a:off x="6543377" y="2885599"/>
            <a:ext cx="563523" cy="22860"/>
          </a:xfrm>
          <a:prstGeom prst="roundRect">
            <a:avLst>
              <a:gd name="adj" fmla="val 345116"/>
            </a:avLst>
          </a:prstGeom>
          <a:solidFill>
            <a:srgbClr val="C3D4CC"/>
          </a:solidFill>
          <a:ln/>
        </p:spPr>
      </p:sp>
      <p:sp>
        <p:nvSpPr>
          <p:cNvPr id="11" name="Shape 8"/>
          <p:cNvSpPr/>
          <p:nvPr/>
        </p:nvSpPr>
        <p:spPr>
          <a:xfrm>
            <a:off x="6143685" y="2685812"/>
            <a:ext cx="422553" cy="422553"/>
          </a:xfrm>
          <a:prstGeom prst="roundRect">
            <a:avLst>
              <a:gd name="adj" fmla="val 18671"/>
            </a:avLst>
          </a:prstGeom>
          <a:solidFill>
            <a:srgbClr val="DDEEE6"/>
          </a:solidFill>
          <a:ln w="7620">
            <a:solidFill>
              <a:srgbClr val="C3D4CC"/>
            </a:solidFill>
            <a:prstDash val="solid"/>
          </a:ln>
        </p:spPr>
      </p:sp>
      <p:sp>
        <p:nvSpPr>
          <p:cNvPr id="12" name="Text 9"/>
          <p:cNvSpPr/>
          <p:nvPr/>
        </p:nvSpPr>
        <p:spPr>
          <a:xfrm>
            <a:off x="6214050" y="2720935"/>
            <a:ext cx="281702" cy="352187"/>
          </a:xfrm>
          <a:prstGeom prst="rect">
            <a:avLst/>
          </a:prstGeom>
          <a:noFill/>
          <a:ln/>
        </p:spPr>
        <p:txBody>
          <a:bodyPr wrap="none" lIns="0" tIns="0" rIns="0" bIns="0" rtlCol="0" anchor="ctr"/>
          <a:lstStyle/>
          <a:p>
            <a:pPr algn="ctr" indent="0" marL="0">
              <a:lnSpc>
                <a:spcPts val="2200"/>
              </a:lnSpc>
              <a:buNone/>
            </a:pPr>
            <a:r>
              <a:rPr lang="en-US" sz="2200" b="1" dirty="0">
                <a:solidFill>
                  <a:srgbClr val="3B4E4E"/>
                </a:solidFill>
                <a:latin typeface="Syne Bold" pitchFamily="34" charset="0"/>
                <a:ea typeface="Syne Bold" pitchFamily="34" charset="-122"/>
                <a:cs typeface="Syne Bold" pitchFamily="34" charset="-120"/>
              </a:rPr>
              <a:t>2</a:t>
            </a:r>
            <a:endParaRPr lang="en-US" sz="2200" dirty="0"/>
          </a:p>
        </p:txBody>
      </p:sp>
      <p:sp>
        <p:nvSpPr>
          <p:cNvPr id="13" name="Text 10"/>
          <p:cNvSpPr/>
          <p:nvPr/>
        </p:nvSpPr>
        <p:spPr>
          <a:xfrm>
            <a:off x="7294245" y="2750344"/>
            <a:ext cx="2604492" cy="293489"/>
          </a:xfrm>
          <a:prstGeom prst="rect">
            <a:avLst/>
          </a:prstGeom>
          <a:noFill/>
          <a:ln/>
        </p:spPr>
        <p:txBody>
          <a:bodyPr wrap="none" lIns="0" tIns="0" rIns="0" bIns="0" rtlCol="0" anchor="t"/>
          <a:lstStyle/>
          <a:p>
            <a:pPr algn="l" indent="0" marL="0">
              <a:lnSpc>
                <a:spcPts val="2300"/>
              </a:lnSpc>
              <a:buNone/>
            </a:pPr>
            <a:r>
              <a:rPr lang="en-US" sz="1800" b="1" dirty="0">
                <a:solidFill>
                  <a:srgbClr val="3B4E4E"/>
                </a:solidFill>
                <a:latin typeface="Syne Bold" pitchFamily="34" charset="0"/>
                <a:ea typeface="Syne Bold" pitchFamily="34" charset="-122"/>
                <a:cs typeface="Syne Bold" pitchFamily="34" charset="-120"/>
              </a:rPr>
              <a:t>Phase 2: Mobile App</a:t>
            </a:r>
            <a:endParaRPr lang="en-US" sz="1800" dirty="0"/>
          </a:p>
        </p:txBody>
      </p:sp>
      <p:sp>
        <p:nvSpPr>
          <p:cNvPr id="14" name="Text 11"/>
          <p:cNvSpPr/>
          <p:nvPr/>
        </p:nvSpPr>
        <p:spPr>
          <a:xfrm>
            <a:off x="7294245" y="3137059"/>
            <a:ext cx="6678811" cy="274677"/>
          </a:xfrm>
          <a:prstGeom prst="rect">
            <a:avLst/>
          </a:prstGeom>
          <a:noFill/>
          <a:ln/>
        </p:spPr>
        <p:txBody>
          <a:bodyPr wrap="none" lIns="0" tIns="0" rIns="0" bIns="0" rtlCol="0" anchor="t"/>
          <a:lstStyle/>
          <a:p>
            <a:pPr algn="l" indent="0" marL="0">
              <a:lnSpc>
                <a:spcPts val="2150"/>
              </a:lnSpc>
              <a:buNone/>
            </a:pPr>
            <a:r>
              <a:rPr lang="en-US" sz="1450" dirty="0">
                <a:solidFill>
                  <a:srgbClr val="3B4E4E"/>
                </a:solidFill>
                <a:latin typeface="Overpass Light" pitchFamily="34" charset="0"/>
                <a:ea typeface="Overpass Light" pitchFamily="34" charset="-122"/>
                <a:cs typeface="Overpass Light" pitchFamily="34" charset="-120"/>
              </a:rPr>
              <a:t>React Native application for iOS and Android platforms</a:t>
            </a:r>
            <a:endParaRPr lang="en-US" sz="1450" dirty="0"/>
          </a:p>
        </p:txBody>
      </p:sp>
      <p:sp>
        <p:nvSpPr>
          <p:cNvPr id="15" name="Shape 12"/>
          <p:cNvSpPr/>
          <p:nvPr/>
        </p:nvSpPr>
        <p:spPr>
          <a:xfrm>
            <a:off x="6543377" y="3922633"/>
            <a:ext cx="563523" cy="22860"/>
          </a:xfrm>
          <a:prstGeom prst="roundRect">
            <a:avLst>
              <a:gd name="adj" fmla="val 345116"/>
            </a:avLst>
          </a:prstGeom>
          <a:solidFill>
            <a:srgbClr val="C3D4CC"/>
          </a:solidFill>
          <a:ln/>
        </p:spPr>
      </p:sp>
      <p:sp>
        <p:nvSpPr>
          <p:cNvPr id="16" name="Shape 13"/>
          <p:cNvSpPr/>
          <p:nvPr/>
        </p:nvSpPr>
        <p:spPr>
          <a:xfrm>
            <a:off x="6143685" y="3722846"/>
            <a:ext cx="422553" cy="422553"/>
          </a:xfrm>
          <a:prstGeom prst="roundRect">
            <a:avLst>
              <a:gd name="adj" fmla="val 18671"/>
            </a:avLst>
          </a:prstGeom>
          <a:solidFill>
            <a:srgbClr val="DDEEE6"/>
          </a:solidFill>
          <a:ln w="7620">
            <a:solidFill>
              <a:srgbClr val="C3D4CC"/>
            </a:solidFill>
            <a:prstDash val="solid"/>
          </a:ln>
        </p:spPr>
      </p:sp>
      <p:sp>
        <p:nvSpPr>
          <p:cNvPr id="17" name="Text 14"/>
          <p:cNvSpPr/>
          <p:nvPr/>
        </p:nvSpPr>
        <p:spPr>
          <a:xfrm>
            <a:off x="6214050" y="3757970"/>
            <a:ext cx="281702" cy="352187"/>
          </a:xfrm>
          <a:prstGeom prst="rect">
            <a:avLst/>
          </a:prstGeom>
          <a:noFill/>
          <a:ln/>
        </p:spPr>
        <p:txBody>
          <a:bodyPr wrap="none" lIns="0" tIns="0" rIns="0" bIns="0" rtlCol="0" anchor="ctr"/>
          <a:lstStyle/>
          <a:p>
            <a:pPr algn="ctr" indent="0" marL="0">
              <a:lnSpc>
                <a:spcPts val="2200"/>
              </a:lnSpc>
              <a:buNone/>
            </a:pPr>
            <a:r>
              <a:rPr lang="en-US" sz="2200" b="1" dirty="0">
                <a:solidFill>
                  <a:srgbClr val="3B4E4E"/>
                </a:solidFill>
                <a:latin typeface="Syne Bold" pitchFamily="34" charset="0"/>
                <a:ea typeface="Syne Bold" pitchFamily="34" charset="-122"/>
                <a:cs typeface="Syne Bold" pitchFamily="34" charset="-120"/>
              </a:rPr>
              <a:t>3</a:t>
            </a:r>
            <a:endParaRPr lang="en-US" sz="2200" dirty="0"/>
          </a:p>
        </p:txBody>
      </p:sp>
      <p:sp>
        <p:nvSpPr>
          <p:cNvPr id="18" name="Text 15"/>
          <p:cNvSpPr/>
          <p:nvPr/>
        </p:nvSpPr>
        <p:spPr>
          <a:xfrm>
            <a:off x="7294245" y="3787378"/>
            <a:ext cx="3193971" cy="293489"/>
          </a:xfrm>
          <a:prstGeom prst="rect">
            <a:avLst/>
          </a:prstGeom>
          <a:noFill/>
          <a:ln/>
        </p:spPr>
        <p:txBody>
          <a:bodyPr wrap="none" lIns="0" tIns="0" rIns="0" bIns="0" rtlCol="0" anchor="t"/>
          <a:lstStyle/>
          <a:p>
            <a:pPr algn="l" indent="0" marL="0">
              <a:lnSpc>
                <a:spcPts val="2300"/>
              </a:lnSpc>
              <a:buNone/>
            </a:pPr>
            <a:r>
              <a:rPr lang="en-US" sz="1800" b="1" dirty="0">
                <a:solidFill>
                  <a:srgbClr val="3B4E4E"/>
                </a:solidFill>
                <a:latin typeface="Syne Bold" pitchFamily="34" charset="0"/>
                <a:ea typeface="Syne Bold" pitchFamily="34" charset="-122"/>
                <a:cs typeface="Syne Bold" pitchFamily="34" charset="-120"/>
              </a:rPr>
              <a:t>Phase 3: LMS Integration</a:t>
            </a:r>
            <a:endParaRPr lang="en-US" sz="1800" dirty="0"/>
          </a:p>
        </p:txBody>
      </p:sp>
      <p:sp>
        <p:nvSpPr>
          <p:cNvPr id="19" name="Text 16"/>
          <p:cNvSpPr/>
          <p:nvPr/>
        </p:nvSpPr>
        <p:spPr>
          <a:xfrm>
            <a:off x="7294245" y="4174093"/>
            <a:ext cx="6678811" cy="274677"/>
          </a:xfrm>
          <a:prstGeom prst="rect">
            <a:avLst/>
          </a:prstGeom>
          <a:noFill/>
          <a:ln/>
        </p:spPr>
        <p:txBody>
          <a:bodyPr wrap="none" lIns="0" tIns="0" rIns="0" bIns="0" rtlCol="0" anchor="t"/>
          <a:lstStyle/>
          <a:p>
            <a:pPr algn="l" indent="0" marL="0">
              <a:lnSpc>
                <a:spcPts val="2150"/>
              </a:lnSpc>
              <a:buNone/>
            </a:pPr>
            <a:r>
              <a:rPr lang="en-US" sz="1450" dirty="0">
                <a:solidFill>
                  <a:srgbClr val="3B4E4E"/>
                </a:solidFill>
                <a:latin typeface="Overpass Light" pitchFamily="34" charset="0"/>
                <a:ea typeface="Overpass Light" pitchFamily="34" charset="-122"/>
                <a:cs typeface="Overpass Light" pitchFamily="34" charset="-120"/>
              </a:rPr>
              <a:t>Direct connection with Canvas, Blackboard, and Moodle systems</a:t>
            </a:r>
            <a:endParaRPr lang="en-US" sz="1450" dirty="0"/>
          </a:p>
        </p:txBody>
      </p:sp>
      <p:sp>
        <p:nvSpPr>
          <p:cNvPr id="20" name="Shape 17"/>
          <p:cNvSpPr/>
          <p:nvPr/>
        </p:nvSpPr>
        <p:spPr>
          <a:xfrm>
            <a:off x="6543377" y="4959668"/>
            <a:ext cx="563523" cy="22860"/>
          </a:xfrm>
          <a:prstGeom prst="roundRect">
            <a:avLst>
              <a:gd name="adj" fmla="val 345116"/>
            </a:avLst>
          </a:prstGeom>
          <a:solidFill>
            <a:srgbClr val="C3D4CC"/>
          </a:solidFill>
          <a:ln/>
        </p:spPr>
      </p:sp>
      <p:sp>
        <p:nvSpPr>
          <p:cNvPr id="21" name="Shape 18"/>
          <p:cNvSpPr/>
          <p:nvPr/>
        </p:nvSpPr>
        <p:spPr>
          <a:xfrm>
            <a:off x="6143685" y="4759881"/>
            <a:ext cx="422553" cy="422553"/>
          </a:xfrm>
          <a:prstGeom prst="roundRect">
            <a:avLst>
              <a:gd name="adj" fmla="val 18671"/>
            </a:avLst>
          </a:prstGeom>
          <a:solidFill>
            <a:srgbClr val="DDEEE6"/>
          </a:solidFill>
          <a:ln w="7620">
            <a:solidFill>
              <a:srgbClr val="C3D4CC"/>
            </a:solidFill>
            <a:prstDash val="solid"/>
          </a:ln>
        </p:spPr>
      </p:sp>
      <p:sp>
        <p:nvSpPr>
          <p:cNvPr id="22" name="Text 19"/>
          <p:cNvSpPr/>
          <p:nvPr/>
        </p:nvSpPr>
        <p:spPr>
          <a:xfrm>
            <a:off x="6214050" y="4795004"/>
            <a:ext cx="281702" cy="352187"/>
          </a:xfrm>
          <a:prstGeom prst="rect">
            <a:avLst/>
          </a:prstGeom>
          <a:noFill/>
          <a:ln/>
        </p:spPr>
        <p:txBody>
          <a:bodyPr wrap="none" lIns="0" tIns="0" rIns="0" bIns="0" rtlCol="0" anchor="ctr"/>
          <a:lstStyle/>
          <a:p>
            <a:pPr algn="ctr" indent="0" marL="0">
              <a:lnSpc>
                <a:spcPts val="2200"/>
              </a:lnSpc>
              <a:buNone/>
            </a:pPr>
            <a:r>
              <a:rPr lang="en-US" sz="2200" b="1" dirty="0">
                <a:solidFill>
                  <a:srgbClr val="3B4E4E"/>
                </a:solidFill>
                <a:latin typeface="Syne Bold" pitchFamily="34" charset="0"/>
                <a:ea typeface="Syne Bold" pitchFamily="34" charset="-122"/>
                <a:cs typeface="Syne Bold" pitchFamily="34" charset="-120"/>
              </a:rPr>
              <a:t>4</a:t>
            </a:r>
            <a:endParaRPr lang="en-US" sz="2200" dirty="0"/>
          </a:p>
        </p:txBody>
      </p:sp>
      <p:sp>
        <p:nvSpPr>
          <p:cNvPr id="23" name="Text 20"/>
          <p:cNvSpPr/>
          <p:nvPr/>
        </p:nvSpPr>
        <p:spPr>
          <a:xfrm>
            <a:off x="7294245" y="4824413"/>
            <a:ext cx="3026807" cy="293489"/>
          </a:xfrm>
          <a:prstGeom prst="rect">
            <a:avLst/>
          </a:prstGeom>
          <a:noFill/>
          <a:ln/>
        </p:spPr>
        <p:txBody>
          <a:bodyPr wrap="none" lIns="0" tIns="0" rIns="0" bIns="0" rtlCol="0" anchor="t"/>
          <a:lstStyle/>
          <a:p>
            <a:pPr algn="l" indent="0" marL="0">
              <a:lnSpc>
                <a:spcPts val="2300"/>
              </a:lnSpc>
              <a:buNone/>
            </a:pPr>
            <a:r>
              <a:rPr lang="en-US" sz="1800" b="1" dirty="0">
                <a:solidFill>
                  <a:srgbClr val="3B4E4E"/>
                </a:solidFill>
                <a:latin typeface="Syne Bold" pitchFamily="34" charset="0"/>
                <a:ea typeface="Syne Bold" pitchFamily="34" charset="-122"/>
                <a:cs typeface="Syne Bold" pitchFamily="34" charset="-120"/>
              </a:rPr>
              <a:t>Phase 4: Multi-Campus</a:t>
            </a:r>
            <a:endParaRPr lang="en-US" sz="1800" dirty="0"/>
          </a:p>
        </p:txBody>
      </p:sp>
      <p:sp>
        <p:nvSpPr>
          <p:cNvPr id="24" name="Text 21"/>
          <p:cNvSpPr/>
          <p:nvPr/>
        </p:nvSpPr>
        <p:spPr>
          <a:xfrm>
            <a:off x="7294245" y="5211128"/>
            <a:ext cx="6678811" cy="274677"/>
          </a:xfrm>
          <a:prstGeom prst="rect">
            <a:avLst/>
          </a:prstGeom>
          <a:noFill/>
          <a:ln/>
        </p:spPr>
        <p:txBody>
          <a:bodyPr wrap="none" lIns="0" tIns="0" rIns="0" bIns="0" rtlCol="0" anchor="t"/>
          <a:lstStyle/>
          <a:p>
            <a:pPr algn="l" indent="0" marL="0">
              <a:lnSpc>
                <a:spcPts val="2150"/>
              </a:lnSpc>
              <a:buNone/>
            </a:pPr>
            <a:r>
              <a:rPr lang="en-US" sz="1450" dirty="0">
                <a:solidFill>
                  <a:srgbClr val="3B4E4E"/>
                </a:solidFill>
                <a:latin typeface="Overpass Light" pitchFamily="34" charset="0"/>
                <a:ea typeface="Overpass Light" pitchFamily="34" charset="-122"/>
                <a:cs typeface="Overpass Light" pitchFamily="34" charset="-120"/>
              </a:rPr>
              <a:t>Support for university systems with multiple geographic locations</a:t>
            </a:r>
            <a:endParaRPr lang="en-US" sz="1450" dirty="0"/>
          </a:p>
        </p:txBody>
      </p:sp>
      <p:sp>
        <p:nvSpPr>
          <p:cNvPr id="25" name="Text 22"/>
          <p:cNvSpPr/>
          <p:nvPr/>
        </p:nvSpPr>
        <p:spPr>
          <a:xfrm>
            <a:off x="6143744" y="5719048"/>
            <a:ext cx="7829312" cy="1173956"/>
          </a:xfrm>
          <a:prstGeom prst="rect">
            <a:avLst/>
          </a:prstGeom>
          <a:noFill/>
          <a:ln/>
        </p:spPr>
        <p:txBody>
          <a:bodyPr wrap="none" lIns="0" tIns="0" rIns="0" bIns="0" rtlCol="0" anchor="t"/>
          <a:lstStyle/>
          <a:p>
            <a:pPr algn="l" indent="0" marL="0">
              <a:lnSpc>
                <a:spcPts val="9200"/>
              </a:lnSpc>
              <a:buNone/>
            </a:pPr>
            <a:r>
              <a:rPr lang="en-US" sz="7350" b="1" dirty="0">
                <a:solidFill>
                  <a:srgbClr val="233939"/>
                </a:solidFill>
                <a:latin typeface="Syne Bold" pitchFamily="34" charset="0"/>
                <a:ea typeface="Syne Bold" pitchFamily="34" charset="-122"/>
                <a:cs typeface="Syne Bold" pitchFamily="34" charset="-120"/>
              </a:rPr>
              <a:t>Thank You</a:t>
            </a:r>
            <a:endParaRPr lang="en-US" sz="7350" dirty="0"/>
          </a:p>
        </p:txBody>
      </p:sp>
      <p:sp>
        <p:nvSpPr>
          <p:cNvPr id="26" name="Text 23"/>
          <p:cNvSpPr/>
          <p:nvPr/>
        </p:nvSpPr>
        <p:spPr>
          <a:xfrm>
            <a:off x="6143744" y="7126248"/>
            <a:ext cx="7829312" cy="274677"/>
          </a:xfrm>
          <a:prstGeom prst="rect">
            <a:avLst/>
          </a:prstGeom>
          <a:noFill/>
          <a:ln/>
        </p:spPr>
        <p:txBody>
          <a:bodyPr wrap="none" lIns="0" tIns="0" rIns="0" bIns="0" rtlCol="0" anchor="t"/>
          <a:lstStyle/>
          <a:p>
            <a:pPr algn="l" indent="0" marL="0">
              <a:lnSpc>
                <a:spcPts val="2150"/>
              </a:lnSpc>
              <a:buNone/>
            </a:pPr>
            <a:r>
              <a:rPr lang="en-US" sz="1450" dirty="0">
                <a:solidFill>
                  <a:srgbClr val="3B4E4E"/>
                </a:solidFill>
                <a:latin typeface="Overpass Light" pitchFamily="34" charset="0"/>
                <a:ea typeface="Overpass Light" pitchFamily="34" charset="-122"/>
                <a:cs typeface="Overpass Light" pitchFamily="34" charset="-120"/>
              </a:rPr>
              <a:t>Questions?</a:t>
            </a:r>
            <a:endParaRPr lang="en-US" sz="1450" dirty="0"/>
          </a:p>
        </p:txBody>
      </p:sp>
    </p:spTree>
  </p:cSld>
  <p:clrMapOvr>
    <a:masterClrMapping/>
  </p:clrMapOvr>
</p:sld>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oreProperties xmlns:dc="http://purl.org/dc/elements/1.1/" xmlns:dcterms="http://purl.org/dc/terms/" xmlns:xsi="http://www.w3.org/2001/XMLSchema-instance" xmlns="http://schemas.openxmlformats.org/package/2006/metadata/core-properties">
  <dc:title/>
  <dc:subject/>
  <dc:creator/>
  <lastModifiedBy/>
  <revision>1</revision>
  <dcterms:created xsi:type="dcterms:W3CDTF">2026-05-04T05:11:07.0000000Z</dcterms:created>
  <dcterms:modified xsi:type="dcterms:W3CDTF">2026-05-04T05:19:37.5680000Z</dcterms:modified>
</coreProperties>
</file>